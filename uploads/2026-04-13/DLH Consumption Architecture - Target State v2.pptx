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8"/>
  </p:notesMasterIdLst>
  <p:sldIdLst>
    <p:sldId id="2147481728" r:id="rId5"/>
    <p:sldId id="307" r:id="rId6"/>
    <p:sldId id="309" r:id="rId7"/>
    <p:sldId id="312" r:id="rId8"/>
    <p:sldId id="313" r:id="rId9"/>
    <p:sldId id="2147481736" r:id="rId10"/>
    <p:sldId id="256" r:id="rId11"/>
    <p:sldId id="292" r:id="rId12"/>
    <p:sldId id="293" r:id="rId13"/>
    <p:sldId id="2147483647" r:id="rId14"/>
    <p:sldId id="2147483646" r:id="rId15"/>
    <p:sldId id="281" r:id="rId16"/>
    <p:sldId id="269" r:id="rId17"/>
    <p:sldId id="291" r:id="rId18"/>
    <p:sldId id="297" r:id="rId19"/>
    <p:sldId id="310" r:id="rId20"/>
    <p:sldId id="290" r:id="rId21"/>
    <p:sldId id="303" r:id="rId22"/>
    <p:sldId id="257" r:id="rId23"/>
    <p:sldId id="2147478409" r:id="rId24"/>
    <p:sldId id="2147478425" r:id="rId25"/>
    <p:sldId id="2147478426" r:id="rId26"/>
    <p:sldId id="317" r:id="rId27"/>
    <p:sldId id="280" r:id="rId28"/>
    <p:sldId id="282" r:id="rId29"/>
    <p:sldId id="274" r:id="rId30"/>
    <p:sldId id="258" r:id="rId31"/>
    <p:sldId id="311" r:id="rId32"/>
    <p:sldId id="319" r:id="rId33"/>
    <p:sldId id="271" r:id="rId34"/>
    <p:sldId id="262" r:id="rId35"/>
    <p:sldId id="259" r:id="rId36"/>
    <p:sldId id="272" r:id="rId37"/>
    <p:sldId id="260" r:id="rId38"/>
    <p:sldId id="300" r:id="rId39"/>
    <p:sldId id="261" r:id="rId40"/>
    <p:sldId id="266" r:id="rId41"/>
    <p:sldId id="320" r:id="rId42"/>
    <p:sldId id="301" r:id="rId43"/>
    <p:sldId id="302" r:id="rId44"/>
    <p:sldId id="275" r:id="rId45"/>
    <p:sldId id="2147483636" r:id="rId46"/>
    <p:sldId id="30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5F49E3-CA49-4986-9157-AF8DB1C1412D}">
          <p14:sldIdLst>
            <p14:sldId id="2147481728"/>
            <p14:sldId id="307"/>
            <p14:sldId id="309"/>
            <p14:sldId id="312"/>
            <p14:sldId id="313"/>
            <p14:sldId id="2147481736"/>
            <p14:sldId id="256"/>
            <p14:sldId id="292"/>
            <p14:sldId id="293"/>
            <p14:sldId id="2147483647"/>
            <p14:sldId id="2147483646"/>
            <p14:sldId id="281"/>
            <p14:sldId id="269"/>
            <p14:sldId id="291"/>
            <p14:sldId id="297"/>
            <p14:sldId id="310"/>
            <p14:sldId id="290"/>
            <p14:sldId id="303"/>
          </p14:sldIdLst>
        </p14:section>
        <p14:section name="Appendix" id="{65F76B02-8A86-46CA-A7AF-BC538AB64810}">
          <p14:sldIdLst>
            <p14:sldId id="257"/>
            <p14:sldId id="2147478409"/>
            <p14:sldId id="2147478425"/>
            <p14:sldId id="2147478426"/>
            <p14:sldId id="317"/>
            <p14:sldId id="280"/>
            <p14:sldId id="282"/>
            <p14:sldId id="274"/>
            <p14:sldId id="258"/>
            <p14:sldId id="311"/>
            <p14:sldId id="319"/>
            <p14:sldId id="271"/>
            <p14:sldId id="262"/>
            <p14:sldId id="259"/>
            <p14:sldId id="272"/>
            <p14:sldId id="260"/>
            <p14:sldId id="300"/>
            <p14:sldId id="261"/>
            <p14:sldId id="266"/>
            <p14:sldId id="320"/>
            <p14:sldId id="301"/>
            <p14:sldId id="302"/>
            <p14:sldId id="275"/>
          </p14:sldIdLst>
        </p14:section>
        <p14:section name="Full Size Slide" id="{229E9313-91E4-41CA-8B21-E82591355C14}">
          <p14:sldIdLst>
            <p14:sldId id="2147483636"/>
          </p14:sldIdLst>
        </p14:section>
        <p14:section name="Temp Holding" id="{9CE8DA3E-3BBE-42E3-968E-39354A9CD111}">
          <p14:sldIdLst>
            <p14:sldId id="30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0F7"/>
    <a:srgbClr val="E8F3F8"/>
    <a:srgbClr val="E9F4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949A0B-6851-46B3-9FC3-4940F25002E3}" v="14" dt="2026-02-16T14:26:56.749"/>
    <p1510:client id="{7C048C67-C395-4436-B99E-B05675A5FB56}" v="3938" dt="2026-02-16T04:38:40.152"/>
    <p1510:client id="{B262D0A4-C0ED-74E1-C3A4-64921A75A7EC}" v="400" dt="2026-02-16T13:56:04.558"/>
    <p1510:client id="{E35A78BF-9A4B-427D-9800-3143AEA1378A}" v="891" dt="2026-02-16T08:50:00.869"/>
    <p1510:client id="{F181CD79-80EC-4883-9212-B74D32ECFD7F}" v="3145" dt="2026-02-16T04:37:11.908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6E_C5CB0679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6E_C5CB0679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6E_C5CB0679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74_ECC90F3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74_ECC90F32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80000074_ECC90F32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99-4E1E-A30B-C5F5D491B6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99-4E1E-A30B-C5F5D491B6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99-4E1E-A30B-C5F5D491B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9691583"/>
        <c:axId val="2009712383"/>
      </c:barChart>
      <c:catAx>
        <c:axId val="2009691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712383"/>
        <c:crosses val="autoZero"/>
        <c:auto val="1"/>
        <c:lblAlgn val="ctr"/>
        <c:lblOffset val="100"/>
        <c:noMultiLvlLbl val="0"/>
      </c:catAx>
      <c:valAx>
        <c:axId val="2009712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691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76-4F24-A855-57D27B9B37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76-4F24-A855-57D27B9B37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76-4F24-A855-57D27B9B37A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76-4F24-A855-57D27B9B37AC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8-4895-BD67-743C61BDB4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4-443A-B792-20F584390B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44-443A-B792-20F584390B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44-443A-B792-20F584390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5734159"/>
        <c:axId val="125734575"/>
      </c:barChart>
      <c:catAx>
        <c:axId val="125734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4575"/>
        <c:crosses val="autoZero"/>
        <c:auto val="1"/>
        <c:lblAlgn val="ctr"/>
        <c:lblOffset val="100"/>
        <c:noMultiLvlLbl val="0"/>
      </c:catAx>
      <c:valAx>
        <c:axId val="1257345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4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99-4E1E-A30B-C5F5D491B6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99-4E1E-A30B-C5F5D491B6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99-4E1E-A30B-C5F5D491B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9691583"/>
        <c:axId val="2009712383"/>
      </c:barChart>
      <c:catAx>
        <c:axId val="2009691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712383"/>
        <c:crosses val="autoZero"/>
        <c:auto val="1"/>
        <c:lblAlgn val="ctr"/>
        <c:lblOffset val="100"/>
        <c:noMultiLvlLbl val="0"/>
      </c:catAx>
      <c:valAx>
        <c:axId val="2009712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691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76-4F24-A855-57D27B9B37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76-4F24-A855-57D27B9B37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76-4F24-A855-57D27B9B37A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76-4F24-A855-57D27B9B37AC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68-4895-BD67-743C61BDB4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4-443A-B792-20F584390B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44-443A-B792-20F584390B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44-443A-B792-20F584390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5734159"/>
        <c:axId val="125734575"/>
      </c:barChart>
      <c:catAx>
        <c:axId val="1257341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4575"/>
        <c:crosses val="autoZero"/>
        <c:auto val="1"/>
        <c:lblAlgn val="ctr"/>
        <c:lblOffset val="100"/>
        <c:noMultiLvlLbl val="0"/>
      </c:catAx>
      <c:valAx>
        <c:axId val="1257345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34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AADD-3E3C-4903-814F-4EDFBE0725F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53461-6C34-4551-8370-690DA9A14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78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accent6">
                    <a:lumMod val="10000"/>
                  </a:schemeClr>
                </a:solidFill>
              </a:rPr>
              <a:t>where previous Lakehouse and EDW architectures focused on Ingress of data through the medallion stores to the single gold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53461-6C34-4551-8370-690DA9A144F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6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53461-6C34-4551-8370-690DA9A144F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67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 b="0" kern="1200"/>
              <a:t>Ray D’Onofrio</a:t>
            </a:r>
          </a:p>
          <a:p>
            <a:pPr>
              <a:spcBef>
                <a:spcPts val="1000"/>
              </a:spcBef>
            </a:pPr>
            <a:r>
              <a:rPr lang="en-US" b="1" kern="1200"/>
              <a:t>Can we use Agentic AI to address problems that organizations are facing?</a:t>
            </a:r>
          </a:p>
          <a:p>
            <a:pPr marL="685800" lvl="2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kern="1200"/>
              <a:t>Increased demand for data labeling, cataloging and lineage</a:t>
            </a:r>
          </a:p>
          <a:p>
            <a:pPr marL="685800" lvl="2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kern="1200"/>
              <a:t>Faster data integration (Time to market)</a:t>
            </a:r>
          </a:p>
          <a:p>
            <a:pPr marL="685800" lvl="2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kern="1200"/>
              <a:t>Reducing human error in cataloging and data stewardship</a:t>
            </a:r>
          </a:p>
          <a:p>
            <a:pPr marL="685800" lvl="2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b="0" kern="1200"/>
          </a:p>
          <a:p>
            <a:pPr>
              <a:spcBef>
                <a:spcPts val="1000"/>
              </a:spcBef>
            </a:pPr>
            <a:r>
              <a:rPr lang="en-US" b="1"/>
              <a:t>Can we manage risks associated with AI in this process?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kern="1200"/>
              <a:t>Hallucination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0" kern="1200"/>
              <a:t>Oversight 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/>
              <a:t>By designing a data platform that leverages Agentic workflows we have done that and more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76DF4-2F42-42FD-BE8A-AE993D7D07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857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302F-3A2D-BEB6-2408-1C7B3529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B9201-8AE1-6B5F-9170-5EBDBC7F9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FAA57-D62F-498D-4207-9A5FA21FF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553BE-DE07-3433-A172-29D7D4427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C5ACB-86E1-4097-891E-79AE694635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635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5B3A6-4202-E2E2-395C-A1319965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D8B61-7ADC-FAA6-8040-504A4B363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B9DA0-B7FB-260D-09AC-4187AFC11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CD878-C9AB-3F11-4452-4B1442E3E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BDE362-4167-48D5-8D80-864E0D4309C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145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C8FA-0AA8-57BC-8133-E6DF7C96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2013C-9530-4AF8-2983-2DE3BCC00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CB24F-092C-85D2-CDFE-0D1F9C845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6F3F-9DCA-A2CA-49B8-A22235A6E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76DF4-2F42-42FD-BE8A-AE993D7D07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063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19FB-5FD7-F640-2D52-A7A670A4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4822F-5D6F-3233-6A1A-6BA2CF694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97F61-0840-DC79-B61D-94B467B9D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350CA-8928-EF36-BFAD-EEFCD54AA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76DF4-2F42-42FD-BE8A-AE993D7D07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090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4A0A-A38A-C02B-09B4-1F6AE258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54BEA-FCCF-32FF-433E-9BFFE1375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D8F99-10B8-6E75-5C1D-72D1AF3C6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2186E-5435-BB54-EFE8-75C2D69EE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76DF4-2F42-42FD-BE8A-AE993D7D07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54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2C67-18E4-A923-77D3-EE1631C4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C2350-1BDA-041D-74D6-83593DEBD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683F5-E725-4EDC-29D1-7BA499C63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556D9-D29D-E080-D8EA-7B8969421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B76DF4-2F42-42FD-BE8A-AE993D7D07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482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Titles:</a:t>
            </a:r>
          </a:p>
          <a:p>
            <a:r>
              <a:rPr lang="en-US"/>
              <a:t>Why the bus enables the platform</a:t>
            </a:r>
          </a:p>
          <a:p>
            <a:r>
              <a:rPr lang="en-US" b="0"/>
              <a:t>Why the Event Bus Makes It a Platform</a:t>
            </a:r>
          </a:p>
          <a:p>
            <a:r>
              <a:rPr lang="en-US" b="0"/>
              <a:t>The Event Bus: From Pipeline to Platform</a:t>
            </a:r>
          </a:p>
          <a:p>
            <a:r>
              <a:rPr lang="en-US" b="0"/>
              <a:t>Decoupled by Design: The Power of the Bus</a:t>
            </a:r>
          </a:p>
          <a:p>
            <a:r>
              <a:rPr lang="en-US" b="0"/>
              <a:t>Event-Driven Enablement: Scaling Beyond Pipelines</a:t>
            </a:r>
          </a:p>
          <a:p>
            <a:r>
              <a:rPr lang="en-US" b="0"/>
              <a:t>From Execution Engine to Intelligent Platform</a:t>
            </a:r>
          </a:p>
          <a:p>
            <a:r>
              <a:rPr lang="en-US" b="0"/>
              <a:t>The Bus as the Platform Control Plane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53461-6C34-4551-8370-690DA9A144F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59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Alternative titles:</a:t>
            </a:r>
          </a:p>
          <a:p>
            <a:r>
              <a:rPr lang="en-US" b="0"/>
              <a:t>The Functional Execution Model Behind the DLH</a:t>
            </a:r>
          </a:p>
          <a:p>
            <a:r>
              <a:rPr lang="en-US" b="0"/>
              <a:t>Engine-Agnostic Execution: One Pattern, Any Runtime</a:t>
            </a:r>
          </a:p>
          <a:p>
            <a:r>
              <a:rPr lang="en-US" b="0"/>
              <a:t>Composable Data Products: How the Runtime Works</a:t>
            </a:r>
          </a:p>
          <a:p>
            <a:r>
              <a:rPr lang="en-US" b="0"/>
              <a:t>Bring Functions to the Data: The Execution Architecture</a:t>
            </a:r>
          </a:p>
          <a:p>
            <a:r>
              <a:rPr lang="en-US" b="0"/>
              <a:t>Virtualized CDMs Through Functional Composition</a:t>
            </a:r>
          </a:p>
          <a:p>
            <a:r>
              <a:rPr lang="en-US" b="0"/>
              <a:t>A Unified Execution Model for Light &amp; Heavy Workloads</a:t>
            </a:r>
          </a:p>
          <a:p>
            <a:r>
              <a:rPr lang="en-US" b="0"/>
              <a:t>One Pipeline. Any Engine. Any Shape.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53461-6C34-4551-8370-690DA9A144F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6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6C04-B2CC-C525-4970-7BD505FB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5D26D-9807-3283-792F-5783976CB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22E78-69F2-4B05-A5E2-4F28B3FF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Alternative titles:</a:t>
            </a:r>
          </a:p>
          <a:p>
            <a:r>
              <a:rPr lang="en-US" b="0"/>
              <a:t>The Functional Execution Model Behind the DLH</a:t>
            </a:r>
          </a:p>
          <a:p>
            <a:r>
              <a:rPr lang="en-US" b="0"/>
              <a:t>Engine-Agnostic Execution: One Pattern, Any Runtime</a:t>
            </a:r>
          </a:p>
          <a:p>
            <a:r>
              <a:rPr lang="en-US" b="0"/>
              <a:t>Composable Data Products: How the Runtime Works</a:t>
            </a:r>
          </a:p>
          <a:p>
            <a:r>
              <a:rPr lang="en-US" b="0"/>
              <a:t>Bring Functions to the Data: The Execution Architecture</a:t>
            </a:r>
          </a:p>
          <a:p>
            <a:r>
              <a:rPr lang="en-US" b="0"/>
              <a:t>Virtualized CDMs Through Functional Composition</a:t>
            </a:r>
          </a:p>
          <a:p>
            <a:r>
              <a:rPr lang="en-US" b="0"/>
              <a:t>A Unified Execution Model for Light &amp; Heavy Workloads</a:t>
            </a:r>
          </a:p>
          <a:p>
            <a:r>
              <a:rPr lang="en-US" b="0"/>
              <a:t>One Pipeline. Any Engine. Any Shape.</a:t>
            </a:r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21285-A2CF-73BC-411A-91C993389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53461-6C34-4551-8370-690DA9A144F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4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9.emf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AD53A-B589-B87C-4236-AA63E356A7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5078" y="934751"/>
            <a:ext cx="11207750" cy="509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E855E3-42DC-A505-3AB1-94933D796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54489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990F464-6B6C-BA2F-39E5-4DAE4100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83129"/>
            <a:ext cx="9761220" cy="461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F9555C-172E-8F5E-88A9-C2B2AC01E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078" y="6593464"/>
            <a:ext cx="10515600" cy="18140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9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DE855E3-42DC-A505-3AB1-94933D796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54489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990F464-6B6C-BA2F-39E5-4DAE4100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83129"/>
            <a:ext cx="9761220" cy="461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1F9555C-172E-8F5E-88A9-C2B2AC01E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078" y="6593464"/>
            <a:ext cx="10515600" cy="18140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6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AD53A-B589-B87C-4236-AA63E356A7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5078" y="1396516"/>
            <a:ext cx="5191022" cy="45315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E855E3-42DC-A505-3AB1-94933D796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54489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990F464-6B6C-BA2F-39E5-4DAE4100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68580"/>
            <a:ext cx="10515600" cy="4763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6A11DF4-BC9E-47A6-2769-E10A5799F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0" y="1396516"/>
            <a:ext cx="5007078" cy="45315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3DA9FD8-929A-496A-13BE-3DDC1ED1A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078" y="6593464"/>
            <a:ext cx="10515600" cy="181407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6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19B1826-2771-70EB-DC79-81148128FE9A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813914-11C5-29CF-02F1-751FF0D5F586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143718D-7602-AEE3-F6BE-BF0BB5135835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ABA56-A90C-4A2C-FC15-FB59DDB9CB93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397CD5-F05F-9DE6-3EF6-2A5D7654F9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3F8ED74-D34B-AEFB-D503-A705A29BFF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6CF3F2-13FE-4045-BB26-A86D15415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pic>
        <p:nvPicPr>
          <p:cNvPr id="17" name="Picture 16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1031DF68-ED19-A76D-05C9-87613651AC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3113" y="3086379"/>
            <a:ext cx="3432908" cy="378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2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97529E-7247-58E0-3698-499BBD3DF8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85527C9-5A99-AAB6-1EBF-F226F136DC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4C4541-4E39-5A05-A27D-54ADDB4521C5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BB9B7-F6D9-0306-0296-7C94EA66035D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47F10E2-B3B6-6585-3995-B0A1D566A7F2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FF4E872-CF5E-A4BD-D101-E36BED3BE811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BCC18F-689F-5DD6-473D-442FE54D6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person with his hand on his chin&#10;&#10;Description automatically generated with medium confidence">
            <a:extLst>
              <a:ext uri="{FF2B5EF4-FFF2-40B4-BE49-F238E27FC236}">
                <a16:creationId xmlns:a16="http://schemas.microsoft.com/office/drawing/2014/main" id="{CBEB047F-7697-75B1-6610-AF06B701C2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7674" y="3133205"/>
            <a:ext cx="3410426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7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F8ED74-D34B-AEFB-D503-A705A29BFF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6CF3F2-13FE-4045-BB26-A86D15415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772FCF-6316-FC01-F562-312BFEE7CA31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D2F7F2-C9B5-67C4-F812-249E37AF6E7A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719524-1CC4-FD71-C08E-03B29F5D768D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287C9BC-363F-59EA-6553-9F5506624250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6D2DC45-86AA-6935-0CE8-E907DB5B4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BE17EBA5-55F4-310A-5388-01D388744B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7705" y="3127533"/>
            <a:ext cx="3439005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62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3D81B2-D9FB-69C4-8A01-1D286B0645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799306-699A-F483-11C2-E64DB350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943D6E-0BB3-9F50-C721-C61AEBD0B13A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DDE886-A8E7-0962-DA06-8E57D8B38FCE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1951353-7DB9-0847-4246-4EA9EE2D5555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4D00E92-F5C9-9C4F-EB8D-6C63FA4D3CFD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CC9FA0-D25B-CA7E-0A75-D99432F0EC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picture containing person, wall, indoor&#10;&#10;Description automatically generated">
            <a:extLst>
              <a:ext uri="{FF2B5EF4-FFF2-40B4-BE49-F238E27FC236}">
                <a16:creationId xmlns:a16="http://schemas.microsoft.com/office/drawing/2014/main" id="{0B6AF7D1-7A1E-4C77-E51F-2FCDCF8A8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6164" y="3032269"/>
            <a:ext cx="341995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9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E497FC-1B3C-E461-280F-C164CC85E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5A4104D-E187-1EE8-6BEE-77F67D6679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8A89A-4ECA-8E97-B531-648ADE4B3AF0}"/>
              </a:ext>
            </a:extLst>
          </p:cNvPr>
          <p:cNvSpPr/>
          <p:nvPr userDrawn="1"/>
        </p:nvSpPr>
        <p:spPr>
          <a:xfrm>
            <a:off x="0" y="3316270"/>
            <a:ext cx="12192000" cy="2378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DF57B6-EBE4-589F-0D3E-42EDE78D2456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0F63B97-FE7E-00DC-DA2F-9F9AA4F7E6A3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AE0623-8610-14DB-3DB2-F88054D0A48C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90194B-A5E2-963C-927A-C8B69367C6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group of people smiling&#10;&#10;Description automatically generated with medium confidence">
            <a:extLst>
              <a:ext uri="{FF2B5EF4-FFF2-40B4-BE49-F238E27FC236}">
                <a16:creationId xmlns:a16="http://schemas.microsoft.com/office/drawing/2014/main" id="{BEEEB5AF-3881-F0CB-499D-F8E553BC50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7090" y="2963291"/>
            <a:ext cx="5344271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CE4B9A4-5290-C2A1-0F47-B0083C7F4F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DA2E23F-B343-6A80-9A64-95AC7BFFA7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CEDB7-DD11-988F-9FE9-F46939FCD6BF}"/>
              </a:ext>
            </a:extLst>
          </p:cNvPr>
          <p:cNvSpPr/>
          <p:nvPr userDrawn="1"/>
        </p:nvSpPr>
        <p:spPr>
          <a:xfrm>
            <a:off x="0" y="3316270"/>
            <a:ext cx="12192000" cy="23788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8DFFC0-4415-7388-BAF4-BCDA65D65E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8258" y="5650667"/>
            <a:ext cx="2503682" cy="7430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16E145-19EC-04C8-8AB1-4B3720759CD4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3F50F33-3660-C9C7-0E4B-D89E6AFBCA5C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CC8CC9-086D-6DD1-95B1-9240CA32780A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EB3370-05C4-80BF-038F-6E4613F1E4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5" name="Picture 14" descr="A picture containing person&#10;&#10;Description automatically generated">
            <a:extLst>
              <a:ext uri="{FF2B5EF4-FFF2-40B4-BE49-F238E27FC236}">
                <a16:creationId xmlns:a16="http://schemas.microsoft.com/office/drawing/2014/main" id="{1ACCF19A-6DAC-85D9-7596-65D7BB5D4B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0707" y="3025515"/>
            <a:ext cx="513469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7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49C05A-1B2E-E677-D0DE-C0F16DE70B89}"/>
              </a:ext>
            </a:extLst>
          </p:cNvPr>
          <p:cNvSpPr/>
          <p:nvPr userDrawn="1"/>
        </p:nvSpPr>
        <p:spPr>
          <a:xfrm>
            <a:off x="1007166" y="783962"/>
            <a:ext cx="4426226" cy="3906015"/>
          </a:xfrm>
          <a:prstGeom prst="roundRect">
            <a:avLst>
              <a:gd name="adj" fmla="val 10560"/>
            </a:avLst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86B495-D9C2-CB98-51AF-4BE7C15CF5CB}"/>
              </a:ext>
            </a:extLst>
          </p:cNvPr>
          <p:cNvSpPr/>
          <p:nvPr userDrawn="1"/>
        </p:nvSpPr>
        <p:spPr>
          <a:xfrm>
            <a:off x="1451113" y="1229076"/>
            <a:ext cx="10740886" cy="4211660"/>
          </a:xfrm>
          <a:custGeom>
            <a:avLst/>
            <a:gdLst>
              <a:gd name="connsiteX0" fmla="*/ 372606 w 10740886"/>
              <a:gd name="connsiteY0" fmla="*/ 0 h 4211660"/>
              <a:gd name="connsiteX1" fmla="*/ 10732716 w 10740886"/>
              <a:gd name="connsiteY1" fmla="*/ 0 h 4211660"/>
              <a:gd name="connsiteX2" fmla="*/ 10740886 w 10740886"/>
              <a:gd name="connsiteY2" fmla="*/ 824 h 4211660"/>
              <a:gd name="connsiteX3" fmla="*/ 10740886 w 10740886"/>
              <a:gd name="connsiteY3" fmla="*/ 4210837 h 4211660"/>
              <a:gd name="connsiteX4" fmla="*/ 10732716 w 10740886"/>
              <a:gd name="connsiteY4" fmla="*/ 4211660 h 4211660"/>
              <a:gd name="connsiteX5" fmla="*/ 372606 w 10740886"/>
              <a:gd name="connsiteY5" fmla="*/ 4211660 h 4211660"/>
              <a:gd name="connsiteX6" fmla="*/ 0 w 10740886"/>
              <a:gd name="connsiteY6" fmla="*/ 3839054 h 4211660"/>
              <a:gd name="connsiteX7" fmla="*/ 0 w 10740886"/>
              <a:gd name="connsiteY7" fmla="*/ 372606 h 4211660"/>
              <a:gd name="connsiteX8" fmla="*/ 372606 w 10740886"/>
              <a:gd name="connsiteY8" fmla="*/ 0 h 42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6" h="4211660">
                <a:moveTo>
                  <a:pt x="372606" y="0"/>
                </a:moveTo>
                <a:lnTo>
                  <a:pt x="10732716" y="0"/>
                </a:lnTo>
                <a:lnTo>
                  <a:pt x="10740886" y="824"/>
                </a:lnTo>
                <a:lnTo>
                  <a:pt x="10740886" y="4210837"/>
                </a:lnTo>
                <a:lnTo>
                  <a:pt x="10732716" y="4211660"/>
                </a:lnTo>
                <a:lnTo>
                  <a:pt x="372606" y="4211660"/>
                </a:lnTo>
                <a:cubicBezTo>
                  <a:pt x="166821" y="4211660"/>
                  <a:pt x="0" y="4044839"/>
                  <a:pt x="0" y="3839054"/>
                </a:cubicBezTo>
                <a:lnTo>
                  <a:pt x="0" y="372606"/>
                </a:lnTo>
                <a:cubicBezTo>
                  <a:pt x="0" y="166821"/>
                  <a:pt x="166821" y="0"/>
                  <a:pt x="37260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ADB60-7EE6-7A88-D33D-70A1AA1A4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756" y="2196295"/>
            <a:ext cx="9144000" cy="1232705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91A3-DBF4-1C8A-480B-7CC24E04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1756" y="3429000"/>
            <a:ext cx="9144000" cy="131398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</a:t>
            </a:r>
            <a:br>
              <a:rPr lang="en-US"/>
            </a:br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407C8D-2FC2-CAE0-842D-0FC407BC818E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6D119F-CF53-77B6-651E-EA7E4A5965CB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8F886BE-F77F-10DF-D9CC-C7E1A6460E6C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A397A9-48B1-4CF5-FB9A-882EA4E2BC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697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84B8A4-0FCE-945F-E4F9-5AE1E3D87679}"/>
              </a:ext>
            </a:extLst>
          </p:cNvPr>
          <p:cNvSpPr/>
          <p:nvPr userDrawn="1"/>
        </p:nvSpPr>
        <p:spPr>
          <a:xfrm>
            <a:off x="1007166" y="783962"/>
            <a:ext cx="4426226" cy="3906015"/>
          </a:xfrm>
          <a:prstGeom prst="roundRect">
            <a:avLst>
              <a:gd name="adj" fmla="val 12935"/>
            </a:avLst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97F541C-30FA-C1D5-E589-4BA6BDAE5E21}"/>
              </a:ext>
            </a:extLst>
          </p:cNvPr>
          <p:cNvSpPr/>
          <p:nvPr userDrawn="1"/>
        </p:nvSpPr>
        <p:spPr>
          <a:xfrm>
            <a:off x="1451113" y="1229076"/>
            <a:ext cx="10740886" cy="4211660"/>
          </a:xfrm>
          <a:custGeom>
            <a:avLst/>
            <a:gdLst>
              <a:gd name="connsiteX0" fmla="*/ 372606 w 10740886"/>
              <a:gd name="connsiteY0" fmla="*/ 0 h 4211660"/>
              <a:gd name="connsiteX1" fmla="*/ 10732716 w 10740886"/>
              <a:gd name="connsiteY1" fmla="*/ 0 h 4211660"/>
              <a:gd name="connsiteX2" fmla="*/ 10740886 w 10740886"/>
              <a:gd name="connsiteY2" fmla="*/ 824 h 4211660"/>
              <a:gd name="connsiteX3" fmla="*/ 10740886 w 10740886"/>
              <a:gd name="connsiteY3" fmla="*/ 4210837 h 4211660"/>
              <a:gd name="connsiteX4" fmla="*/ 10732716 w 10740886"/>
              <a:gd name="connsiteY4" fmla="*/ 4211660 h 4211660"/>
              <a:gd name="connsiteX5" fmla="*/ 372606 w 10740886"/>
              <a:gd name="connsiteY5" fmla="*/ 4211660 h 4211660"/>
              <a:gd name="connsiteX6" fmla="*/ 0 w 10740886"/>
              <a:gd name="connsiteY6" fmla="*/ 3839054 h 4211660"/>
              <a:gd name="connsiteX7" fmla="*/ 0 w 10740886"/>
              <a:gd name="connsiteY7" fmla="*/ 372606 h 4211660"/>
              <a:gd name="connsiteX8" fmla="*/ 372606 w 10740886"/>
              <a:gd name="connsiteY8" fmla="*/ 0 h 42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6" h="4211660">
                <a:moveTo>
                  <a:pt x="372606" y="0"/>
                </a:moveTo>
                <a:lnTo>
                  <a:pt x="10732716" y="0"/>
                </a:lnTo>
                <a:lnTo>
                  <a:pt x="10740886" y="824"/>
                </a:lnTo>
                <a:lnTo>
                  <a:pt x="10740886" y="4210837"/>
                </a:lnTo>
                <a:lnTo>
                  <a:pt x="10732716" y="4211660"/>
                </a:lnTo>
                <a:lnTo>
                  <a:pt x="372606" y="4211660"/>
                </a:lnTo>
                <a:cubicBezTo>
                  <a:pt x="166821" y="4211660"/>
                  <a:pt x="0" y="4044839"/>
                  <a:pt x="0" y="3839054"/>
                </a:cubicBezTo>
                <a:lnTo>
                  <a:pt x="0" y="372606"/>
                </a:lnTo>
                <a:cubicBezTo>
                  <a:pt x="0" y="166821"/>
                  <a:pt x="166821" y="0"/>
                  <a:pt x="37260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02185E-4303-A0D1-369F-00F5E0CB5414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B3DBA4-AC84-FAA2-718E-E5632C4D8B1E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B85847F-F744-71E3-D878-480DAC234A4B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1C42862-47C6-EC51-ACCA-E413557BEB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EADB60-7EE6-7A88-D33D-70A1AA1A4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756" y="2196295"/>
            <a:ext cx="9144000" cy="1232705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91A3-DBF4-1C8A-480B-7CC24E04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1756" y="3429000"/>
            <a:ext cx="9144000" cy="131398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</a:t>
            </a:r>
            <a:br>
              <a:rPr lang="en-US"/>
            </a:br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99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B236E-5B80-3503-4130-8A952814023D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888EB0-1352-3497-4D32-B220EE516FE9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10972B-F751-5365-3D75-FF88EADD8A39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10515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F8953-CDBE-764E-597E-1E09DBDD8D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41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796DA1A-F34D-87D8-9F62-766AFCCC512D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8D9F2C-9FDD-9CC0-146B-929EC2B2A083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933B28-E891-E21B-90A9-D0EABEE23AC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10515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FD9A13-9002-0B21-A06B-0CE4A37B6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82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715" y="3203708"/>
            <a:ext cx="2486372" cy="3667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68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715" y="3356129"/>
            <a:ext cx="2486372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850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2715" y="3208471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12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07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412" y="3205774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791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759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AAA0967-C582-39FD-2B35-4CDBCD182DF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DC2855-1C52-FF06-0269-2604F04DFDF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EC0829-22AD-0B7F-6B8F-3D93DD2BBFE2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7FECA7-9F3F-5C21-9059-89B2BCFD2C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56EDAA-C43E-05B8-8A39-B818E769A9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938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2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68E590C-3457-63DA-80B7-E10E36F88042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0B8E80-C819-BF54-832E-94CEE0FCCB61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2CA76E-3B72-42DF-6E7D-5D2EB323A5C9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12287E-C286-5349-B32B-90A5F5AE9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F3D431-8660-1CB7-30E3-93BDB49E6C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D4FD6-0C17-B1B4-029F-1BC59B841E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8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3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715" y="3203708"/>
            <a:ext cx="2486372" cy="3667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86731-E5E3-3634-A512-601F8309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877C85-E365-FB66-74AC-CAA86752834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40695050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4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715" y="3356129"/>
            <a:ext cx="2486372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835BC-E9F9-6C4D-D4E5-458B14F36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D1DA73-672D-B041-9848-1C31F366CA7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4649840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5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2715" y="3208471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0A4F18-6744-9371-8E2C-A47714196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279D21-F651-53BE-38AD-6D6AC817904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8232407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6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1C598-54DC-4DBC-709A-A9A983F1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A8B46E-03BB-E1EA-8E4A-9339A344F66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848354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7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15412" y="3205774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3EBF81-8879-903D-6237-73E54003F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615DD3-1944-C12D-957C-0878A8A4D4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1036439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8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F0C1E-DAE4-6728-2B86-6CA179E8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11F2FF4-3072-0C5E-ACDC-5CB871B548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554322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5746A4-5C49-05E1-1E4D-DFE4F6513A75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0C6FB2-FA5D-0EC5-9C48-8256BBBE64E6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5D309D-3E1B-DC49-F8F6-2FE2AEF82B4A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1A7BCA7-1740-0F9C-700D-7AED4F757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77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08D3E1-ED65-DE03-7FE8-9721482A79FF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5FB37B-98D9-5239-D919-3F9305FCEEF0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362ECAA-13A1-BABC-6B70-391011418B2E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284C56-2265-4061-FD34-5A87E61E8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2078A40-A17E-AA39-26DF-018CBD43B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7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885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-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291EDF-69A7-1423-8288-6A6D69ED5DE9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6F69B8-9B4C-9C72-4F23-3043287037E4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333ABC9-803A-713C-D4EC-8FBE67B962C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1A7BCA7-1740-0F9C-700D-7AED4F757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715BD1-C384-F94C-85BA-234EAAC3FB3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442205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-2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EB1D01D-EC86-76A5-E65F-F11A3001FF8B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0BC113-081C-8898-6E2F-67BE59218F93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572F406-3034-8137-4EA5-B6457C88AAF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AC25F2-3A33-E6BC-9EC6-1065649F3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AB168D-D5BE-9DAF-03FC-666EA6148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A88F71-6DC2-B675-BC43-BEDCA7492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251E7E-1A2A-0FC1-2FDB-106049DA6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44072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7399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791048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7399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EC94E3-13D4-2AF4-1304-343097772CF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0114406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+ 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6458177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 + 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BBA6D3-FC78-8D8E-CAE1-C543A02BCDC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6869884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F7183B2-7593-738C-3438-2BF4F73085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1F7ADF-63B9-5643-1384-CD97954E79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B57ACF-A519-4719-5D89-E86C59ED7AC6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92A7F-9FF8-C5BA-2512-A03FAAE2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6FCEFD2A-E091-4932-63E7-F9B04A257C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588012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+ Imag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F7183B2-7593-738C-3438-2BF4F73085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1F7ADF-63B9-5643-1384-CD97954E79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B57ACF-A519-4719-5D89-E86C59ED7AC6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92A7F-9FF8-C5BA-2512-A03FAAE2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6FCEFD2A-E091-4932-63E7-F9B04A257C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938CCC-2F97-80D9-FA99-52DEEDDACD5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227943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2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34F7D75-ADC5-C596-0762-E0DAE28C62FE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2E153-4FB0-42F6-3983-0536F79E9D6F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3B760A5-7950-827A-803C-24633DB84920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C5BF01C-A17E-9EC4-162D-9ED87E6B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24BB08E-5179-5885-FEF6-2D3ABF136E3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678941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2 + Imag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34F7D75-ADC5-C596-0762-E0DAE28C62FE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2E153-4FB0-42F6-3983-0536F79E9D6F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3B760A5-7950-827A-803C-24633DB84920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C5BF01C-A17E-9EC4-162D-9ED87E6B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24BB08E-5179-5885-FEF6-2D3ABF136E3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2F2835-53F9-A5E0-8551-7BE78FBAC2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988306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2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AF3593-B50A-54B9-C168-22A943A653AD}"/>
              </a:ext>
            </a:extLst>
          </p:cNvPr>
          <p:cNvCxnSpPr>
            <a:cxnSpLocks/>
          </p:cNvCxnSpPr>
          <p:nvPr userDrawn="1"/>
        </p:nvCxnSpPr>
        <p:spPr>
          <a:xfrm>
            <a:off x="3529119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7970F4-D6BB-E0B4-C818-C1D624CB35AB}"/>
              </a:ext>
            </a:extLst>
          </p:cNvPr>
          <p:cNvCxnSpPr>
            <a:cxnSpLocks/>
          </p:cNvCxnSpPr>
          <p:nvPr userDrawn="1"/>
        </p:nvCxnSpPr>
        <p:spPr>
          <a:xfrm>
            <a:off x="6128097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F2976A-6342-6256-11C7-4493A9C632AF}"/>
              </a:ext>
            </a:extLst>
          </p:cNvPr>
          <p:cNvCxnSpPr>
            <a:cxnSpLocks/>
          </p:cNvCxnSpPr>
          <p:nvPr userDrawn="1"/>
        </p:nvCxnSpPr>
        <p:spPr>
          <a:xfrm>
            <a:off x="8661654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0268443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2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336F4-6DF5-B48A-F79A-945C9A7DC7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B0C2B2-6FA4-A264-B37D-E0994A47E67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D02F281-951B-9336-DB34-CCBA2CD020D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E100DC3E-D9EA-7C63-6759-3E6B35BCCB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4AA872DC-7AE5-6CF5-B3F1-93F93A009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1806699D-833C-4E0C-7D41-114D67B6D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6292195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2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AF3593-B50A-54B9-C168-22A943A653AD}"/>
              </a:ext>
            </a:extLst>
          </p:cNvPr>
          <p:cNvCxnSpPr>
            <a:cxnSpLocks/>
          </p:cNvCxnSpPr>
          <p:nvPr userDrawn="1"/>
        </p:nvCxnSpPr>
        <p:spPr>
          <a:xfrm>
            <a:off x="3529119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7970F4-D6BB-E0B4-C818-C1D624CB35AB}"/>
              </a:ext>
            </a:extLst>
          </p:cNvPr>
          <p:cNvCxnSpPr>
            <a:cxnSpLocks/>
          </p:cNvCxnSpPr>
          <p:nvPr userDrawn="1"/>
        </p:nvCxnSpPr>
        <p:spPr>
          <a:xfrm>
            <a:off x="6128097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F2976A-6342-6256-11C7-4493A9C632AF}"/>
              </a:ext>
            </a:extLst>
          </p:cNvPr>
          <p:cNvCxnSpPr>
            <a:cxnSpLocks/>
          </p:cNvCxnSpPr>
          <p:nvPr userDrawn="1"/>
        </p:nvCxnSpPr>
        <p:spPr>
          <a:xfrm>
            <a:off x="8661654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14D0E3-D7AD-E982-BC4A-327426F77C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0657145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2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336F4-6DF5-B48A-F79A-945C9A7DC7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B0C2B2-6FA4-A264-B37D-E0994A47E67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D02F281-951B-9336-DB34-CCBA2CD020D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E100DC3E-D9EA-7C63-6759-3E6B35BCCB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4AA872DC-7AE5-6CF5-B3F1-93F93A009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1806699D-833C-4E0C-7D41-114D67B6D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88A7-97AD-94AB-0DC8-A2F6516572E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7011600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F43D000-EB33-7E0C-3EFE-8C65C01AAFAA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858A6F-BB85-1BD4-D0BA-39A071EC7061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4DD97F-4044-638B-3209-CF9958D778AD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FD3E8E-05F0-0C4E-8CF6-AC5B87C1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4245" y="1031204"/>
            <a:ext cx="7160619" cy="3023194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19" name="Picture 18" descr="A person and person posing for a picture&#10;&#10;Description automatically generated with medium confidence">
            <a:extLst>
              <a:ext uri="{FF2B5EF4-FFF2-40B4-BE49-F238E27FC236}">
                <a16:creationId xmlns:a16="http://schemas.microsoft.com/office/drawing/2014/main" id="{BCC25FDF-A8C4-E684-21A1-F03DFF77FC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0724" y="3435147"/>
            <a:ext cx="278168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711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4BC75A-3F9B-EAC8-032D-0533C5A92406}"/>
              </a:ext>
            </a:extLst>
          </p:cNvPr>
          <p:cNvGrpSpPr/>
          <p:nvPr userDrawn="1"/>
        </p:nvGrpSpPr>
        <p:grpSpPr>
          <a:xfrm rot="10800000">
            <a:off x="-629" y="0"/>
            <a:ext cx="12191999" cy="6858000"/>
            <a:chOff x="0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592CCC-888C-D6C4-3125-21CA0AA42409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5B8F2ED-A5F5-64D2-7282-BE4C8F2533E0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1704" y="461227"/>
            <a:ext cx="7827332" cy="2518446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8" name="Picture 7" descr="A person with his arms crossed&#10;&#10;Description automatically generated with medium confidence">
            <a:extLst>
              <a:ext uri="{FF2B5EF4-FFF2-40B4-BE49-F238E27FC236}">
                <a16:creationId xmlns:a16="http://schemas.microsoft.com/office/drawing/2014/main" id="{0B653429-17A2-2844-22A0-EC90B2FAE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355" y="3690731"/>
            <a:ext cx="2495898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65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F43D000-EB33-7E0C-3EFE-8C65C01AAFAA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858A6F-BB85-1BD4-D0BA-39A071EC7061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4DD97F-4044-638B-3209-CF9958D778AD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FD3E8E-05F0-0C4E-8CF6-AC5B87C1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4245" y="1031204"/>
            <a:ext cx="7160619" cy="3023194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C25FDF-A8C4-E684-21A1-F03DFF77FC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70724" y="3435147"/>
            <a:ext cx="278168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65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4BC75A-3F9B-EAC8-032D-0533C5A92406}"/>
              </a:ext>
            </a:extLst>
          </p:cNvPr>
          <p:cNvGrpSpPr/>
          <p:nvPr userDrawn="1"/>
        </p:nvGrpSpPr>
        <p:grpSpPr>
          <a:xfrm rot="10800000">
            <a:off x="-629" y="0"/>
            <a:ext cx="12191999" cy="6858000"/>
            <a:chOff x="0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592CCC-888C-D6C4-3125-21CA0AA42409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5B8F2ED-A5F5-64D2-7282-BE4C8F2533E0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1704" y="461227"/>
            <a:ext cx="7827332" cy="2518446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53429-17A2-2844-22A0-EC90B2FAE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1915" y="3690731"/>
            <a:ext cx="242677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258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19B1826-2771-70EB-DC79-81148128FE9A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813914-11C5-29CF-02F1-751FF0D5F586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143718D-7602-AEE3-F6BE-BF0BB5135835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ABA56-A90C-4A2C-FC15-FB59DDB9CB93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397CD5-F05F-9DE6-3EF6-2A5D7654F9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3F8ED74-D34B-AEFB-D503-A705A29BFF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6CF3F2-13FE-4045-BB26-A86D15415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pic>
        <p:nvPicPr>
          <p:cNvPr id="17" name="Picture 16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1031DF68-ED19-A76D-05C9-87613651AC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113" y="3086379"/>
            <a:ext cx="3432908" cy="378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4993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897529E-7247-58E0-3698-499BBD3DF8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85527C9-5A99-AAB6-1EBF-F226F136DC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4C4541-4E39-5A05-A27D-54ADDB4521C5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BB9B7-F6D9-0306-0296-7C94EA66035D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47F10E2-B3B6-6585-3995-B0A1D566A7F2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FF4E872-CF5E-A4BD-D101-E36BED3BE811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BCC18F-689F-5DD6-473D-442FE54D6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person with his hand on his chin&#10;&#10;Description automatically generated with medium confidence">
            <a:extLst>
              <a:ext uri="{FF2B5EF4-FFF2-40B4-BE49-F238E27FC236}">
                <a16:creationId xmlns:a16="http://schemas.microsoft.com/office/drawing/2014/main" id="{CBEB047F-7697-75B1-6610-AF06B701C2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674" y="3133205"/>
            <a:ext cx="3410426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609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F8ED74-D34B-AEFB-D503-A705A29BFF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6CF3F2-13FE-4045-BB26-A86D154154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772FCF-6316-FC01-F562-312BFEE7CA31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CD2F7F2-C9B5-67C4-F812-249E37AF6E7A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719524-1CC4-FD71-C08E-03B29F5D768D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287C9BC-363F-59EA-6553-9F5506624250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6D2DC45-86AA-6935-0CE8-E907DB5B4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BE17EBA5-55F4-310A-5388-01D388744B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05" y="3127533"/>
            <a:ext cx="3439005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961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3D81B2-D9FB-69C4-8A01-1D286B0645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799306-699A-F483-11C2-E64DB35049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943D6E-0BB3-9F50-C721-C61AEBD0B13A}"/>
              </a:ext>
            </a:extLst>
          </p:cNvPr>
          <p:cNvGrpSpPr/>
          <p:nvPr userDrawn="1"/>
        </p:nvGrpSpPr>
        <p:grpSpPr>
          <a:xfrm>
            <a:off x="0" y="3316270"/>
            <a:ext cx="12192000" cy="3541730"/>
            <a:chOff x="0" y="3316270"/>
            <a:chExt cx="12192000" cy="35417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0DDE886-A8E7-0962-DA06-8E57D8B38FCE}"/>
                </a:ext>
              </a:extLst>
            </p:cNvPr>
            <p:cNvSpPr/>
            <p:nvPr userDrawn="1"/>
          </p:nvSpPr>
          <p:spPr>
            <a:xfrm>
              <a:off x="0" y="3316270"/>
              <a:ext cx="12192000" cy="23788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1951353-7DB9-0847-4246-4EA9EE2D5555}"/>
                </a:ext>
              </a:extLst>
            </p:cNvPr>
            <p:cNvSpPr/>
            <p:nvPr userDrawn="1"/>
          </p:nvSpPr>
          <p:spPr>
            <a:xfrm>
              <a:off x="7208199" y="4931988"/>
              <a:ext cx="4983801" cy="1671638"/>
            </a:xfrm>
            <a:custGeom>
              <a:avLst/>
              <a:gdLst>
                <a:gd name="connsiteX0" fmla="*/ 353623 w 4983801"/>
                <a:gd name="connsiteY0" fmla="*/ 0 h 1671638"/>
                <a:gd name="connsiteX1" fmla="*/ 4983801 w 4983801"/>
                <a:gd name="connsiteY1" fmla="*/ 0 h 1671638"/>
                <a:gd name="connsiteX2" fmla="*/ 4983801 w 4983801"/>
                <a:gd name="connsiteY2" fmla="*/ 1671638 h 1671638"/>
                <a:gd name="connsiteX3" fmla="*/ 0 w 4983801"/>
                <a:gd name="connsiteY3" fmla="*/ 1671638 h 1671638"/>
                <a:gd name="connsiteX4" fmla="*/ 0 w 4983801"/>
                <a:gd name="connsiteY4" fmla="*/ 353623 h 1671638"/>
                <a:gd name="connsiteX5" fmla="*/ 353623 w 4983801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3801" h="1671638">
                  <a:moveTo>
                    <a:pt x="353623" y="0"/>
                  </a:moveTo>
                  <a:lnTo>
                    <a:pt x="4983801" y="0"/>
                  </a:lnTo>
                  <a:lnTo>
                    <a:pt x="4983801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4D00E92-F5C9-9C4F-EB8D-6C63FA4D3CFD}"/>
                </a:ext>
              </a:extLst>
            </p:cNvPr>
            <p:cNvSpPr/>
            <p:nvPr userDrawn="1"/>
          </p:nvSpPr>
          <p:spPr>
            <a:xfrm>
              <a:off x="7072313" y="5186362"/>
              <a:ext cx="5119687" cy="1671638"/>
            </a:xfrm>
            <a:custGeom>
              <a:avLst/>
              <a:gdLst>
                <a:gd name="connsiteX0" fmla="*/ 353623 w 5119687"/>
                <a:gd name="connsiteY0" fmla="*/ 0 h 1671638"/>
                <a:gd name="connsiteX1" fmla="*/ 5089914 w 5119687"/>
                <a:gd name="connsiteY1" fmla="*/ 0 h 1671638"/>
                <a:gd name="connsiteX2" fmla="*/ 5119687 w 5119687"/>
                <a:gd name="connsiteY2" fmla="*/ 3002 h 1671638"/>
                <a:gd name="connsiteX3" fmla="*/ 5119687 w 5119687"/>
                <a:gd name="connsiteY3" fmla="*/ 1671638 h 1671638"/>
                <a:gd name="connsiteX4" fmla="*/ 0 w 5119687"/>
                <a:gd name="connsiteY4" fmla="*/ 1671638 h 1671638"/>
                <a:gd name="connsiteX5" fmla="*/ 0 w 5119687"/>
                <a:gd name="connsiteY5" fmla="*/ 353623 h 1671638"/>
                <a:gd name="connsiteX6" fmla="*/ 353623 w 5119687"/>
                <a:gd name="connsiteY6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19687" h="1671638">
                  <a:moveTo>
                    <a:pt x="353623" y="0"/>
                  </a:moveTo>
                  <a:lnTo>
                    <a:pt x="5089914" y="0"/>
                  </a:lnTo>
                  <a:lnTo>
                    <a:pt x="5119687" y="3002"/>
                  </a:lnTo>
                  <a:lnTo>
                    <a:pt x="5119687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CC9FA0-D25B-CA7E-0A75-D99432F0EC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8258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picture containing person, wall, indoor&#10;&#10;Description automatically generated">
            <a:extLst>
              <a:ext uri="{FF2B5EF4-FFF2-40B4-BE49-F238E27FC236}">
                <a16:creationId xmlns:a16="http://schemas.microsoft.com/office/drawing/2014/main" id="{0B6AF7D1-7A1E-4C77-E51F-2FCDCF8A8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164" y="3032269"/>
            <a:ext cx="341995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948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E497FC-1B3C-E461-280F-C164CC85E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5A4104D-E187-1EE8-6BEE-77F67D6679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8A89A-4ECA-8E97-B531-648ADE4B3AF0}"/>
              </a:ext>
            </a:extLst>
          </p:cNvPr>
          <p:cNvSpPr/>
          <p:nvPr userDrawn="1"/>
        </p:nvSpPr>
        <p:spPr>
          <a:xfrm>
            <a:off x="0" y="3316270"/>
            <a:ext cx="12192000" cy="2378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DF57B6-EBE4-589F-0D3E-42EDE78D2456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0F63B97-FE7E-00DC-DA2F-9F9AA4F7E6A3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AE0623-8610-14DB-3DB2-F88054D0A48C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90194B-A5E2-963C-927A-C8B69367C6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1" name="Picture 10" descr="A group of people smiling&#10;&#10;Description automatically generated with medium confidence">
            <a:extLst>
              <a:ext uri="{FF2B5EF4-FFF2-40B4-BE49-F238E27FC236}">
                <a16:creationId xmlns:a16="http://schemas.microsoft.com/office/drawing/2014/main" id="{BEEEB5AF-3881-F0CB-499D-F8E553BC50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90" y="2963291"/>
            <a:ext cx="5344271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302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CE4B9A4-5290-C2A1-0F47-B0083C7F4F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43" y="694076"/>
            <a:ext cx="10972800" cy="123270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DA2E23F-B343-6A80-9A64-95AC7BFFA7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043" y="1926781"/>
            <a:ext cx="10972800" cy="7646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1CEDB7-DD11-988F-9FE9-F46939FCD6BF}"/>
              </a:ext>
            </a:extLst>
          </p:cNvPr>
          <p:cNvSpPr/>
          <p:nvPr userDrawn="1"/>
        </p:nvSpPr>
        <p:spPr>
          <a:xfrm>
            <a:off x="0" y="3316270"/>
            <a:ext cx="12192000" cy="23788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8DFFC0-4415-7388-BAF4-BCDA65D65E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258" y="5650667"/>
            <a:ext cx="2503682" cy="7430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16E145-19EC-04C8-8AB1-4B3720759CD4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3F50F33-3660-C9C7-0E4B-D89E6AFBCA5C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CC8CC9-086D-6DD1-95B1-9240CA32780A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EB3370-05C4-80BF-038F-6E4613F1E4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pic>
        <p:nvPicPr>
          <p:cNvPr id="15" name="Picture 14" descr="A picture containing person&#10;&#10;Description automatically generated">
            <a:extLst>
              <a:ext uri="{FF2B5EF4-FFF2-40B4-BE49-F238E27FC236}">
                <a16:creationId xmlns:a16="http://schemas.microsoft.com/office/drawing/2014/main" id="{1ACCF19A-6DAC-85D9-7596-65D7BB5D4B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707" y="3025515"/>
            <a:ext cx="5134692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810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49C05A-1B2E-E677-D0DE-C0F16DE70B89}"/>
              </a:ext>
            </a:extLst>
          </p:cNvPr>
          <p:cNvSpPr/>
          <p:nvPr userDrawn="1"/>
        </p:nvSpPr>
        <p:spPr>
          <a:xfrm>
            <a:off x="1007166" y="783962"/>
            <a:ext cx="4426226" cy="3906015"/>
          </a:xfrm>
          <a:prstGeom prst="roundRect">
            <a:avLst>
              <a:gd name="adj" fmla="val 10560"/>
            </a:avLst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86B495-D9C2-CB98-51AF-4BE7C15CF5CB}"/>
              </a:ext>
            </a:extLst>
          </p:cNvPr>
          <p:cNvSpPr/>
          <p:nvPr userDrawn="1"/>
        </p:nvSpPr>
        <p:spPr>
          <a:xfrm>
            <a:off x="1451113" y="1229076"/>
            <a:ext cx="10740886" cy="4211660"/>
          </a:xfrm>
          <a:custGeom>
            <a:avLst/>
            <a:gdLst>
              <a:gd name="connsiteX0" fmla="*/ 372606 w 10740886"/>
              <a:gd name="connsiteY0" fmla="*/ 0 h 4211660"/>
              <a:gd name="connsiteX1" fmla="*/ 10732716 w 10740886"/>
              <a:gd name="connsiteY1" fmla="*/ 0 h 4211660"/>
              <a:gd name="connsiteX2" fmla="*/ 10740886 w 10740886"/>
              <a:gd name="connsiteY2" fmla="*/ 824 h 4211660"/>
              <a:gd name="connsiteX3" fmla="*/ 10740886 w 10740886"/>
              <a:gd name="connsiteY3" fmla="*/ 4210837 h 4211660"/>
              <a:gd name="connsiteX4" fmla="*/ 10732716 w 10740886"/>
              <a:gd name="connsiteY4" fmla="*/ 4211660 h 4211660"/>
              <a:gd name="connsiteX5" fmla="*/ 372606 w 10740886"/>
              <a:gd name="connsiteY5" fmla="*/ 4211660 h 4211660"/>
              <a:gd name="connsiteX6" fmla="*/ 0 w 10740886"/>
              <a:gd name="connsiteY6" fmla="*/ 3839054 h 4211660"/>
              <a:gd name="connsiteX7" fmla="*/ 0 w 10740886"/>
              <a:gd name="connsiteY7" fmla="*/ 372606 h 4211660"/>
              <a:gd name="connsiteX8" fmla="*/ 372606 w 10740886"/>
              <a:gd name="connsiteY8" fmla="*/ 0 h 42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6" h="4211660">
                <a:moveTo>
                  <a:pt x="372606" y="0"/>
                </a:moveTo>
                <a:lnTo>
                  <a:pt x="10732716" y="0"/>
                </a:lnTo>
                <a:lnTo>
                  <a:pt x="10740886" y="824"/>
                </a:lnTo>
                <a:lnTo>
                  <a:pt x="10740886" y="4210837"/>
                </a:lnTo>
                <a:lnTo>
                  <a:pt x="10732716" y="4211660"/>
                </a:lnTo>
                <a:lnTo>
                  <a:pt x="372606" y="4211660"/>
                </a:lnTo>
                <a:cubicBezTo>
                  <a:pt x="166821" y="4211660"/>
                  <a:pt x="0" y="4044839"/>
                  <a:pt x="0" y="3839054"/>
                </a:cubicBezTo>
                <a:lnTo>
                  <a:pt x="0" y="372606"/>
                </a:lnTo>
                <a:cubicBezTo>
                  <a:pt x="0" y="166821"/>
                  <a:pt x="166821" y="0"/>
                  <a:pt x="37260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ADB60-7EE6-7A88-D33D-70A1AA1A4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756" y="2196295"/>
            <a:ext cx="9144000" cy="1232705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91A3-DBF4-1C8A-480B-7CC24E04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1756" y="3429000"/>
            <a:ext cx="9144000" cy="131398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</a:t>
            </a:r>
            <a:br>
              <a:rPr lang="en-US"/>
            </a:br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407C8D-2FC2-CAE0-842D-0FC407BC818E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6D119F-CF53-77B6-651E-EA7E4A5965CB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8F886BE-F77F-10DF-D9CC-C7E1A6460E6C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A397A9-48B1-4CF5-FB9A-882EA4E2BC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60827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84B8A4-0FCE-945F-E4F9-5AE1E3D87679}"/>
              </a:ext>
            </a:extLst>
          </p:cNvPr>
          <p:cNvSpPr/>
          <p:nvPr userDrawn="1"/>
        </p:nvSpPr>
        <p:spPr>
          <a:xfrm>
            <a:off x="1007166" y="783962"/>
            <a:ext cx="4426226" cy="3906015"/>
          </a:xfrm>
          <a:prstGeom prst="roundRect">
            <a:avLst>
              <a:gd name="adj" fmla="val 12935"/>
            </a:avLst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97F541C-30FA-C1D5-E589-4BA6BDAE5E21}"/>
              </a:ext>
            </a:extLst>
          </p:cNvPr>
          <p:cNvSpPr/>
          <p:nvPr userDrawn="1"/>
        </p:nvSpPr>
        <p:spPr>
          <a:xfrm>
            <a:off x="1451113" y="1229076"/>
            <a:ext cx="10740886" cy="4211660"/>
          </a:xfrm>
          <a:custGeom>
            <a:avLst/>
            <a:gdLst>
              <a:gd name="connsiteX0" fmla="*/ 372606 w 10740886"/>
              <a:gd name="connsiteY0" fmla="*/ 0 h 4211660"/>
              <a:gd name="connsiteX1" fmla="*/ 10732716 w 10740886"/>
              <a:gd name="connsiteY1" fmla="*/ 0 h 4211660"/>
              <a:gd name="connsiteX2" fmla="*/ 10740886 w 10740886"/>
              <a:gd name="connsiteY2" fmla="*/ 824 h 4211660"/>
              <a:gd name="connsiteX3" fmla="*/ 10740886 w 10740886"/>
              <a:gd name="connsiteY3" fmla="*/ 4210837 h 4211660"/>
              <a:gd name="connsiteX4" fmla="*/ 10732716 w 10740886"/>
              <a:gd name="connsiteY4" fmla="*/ 4211660 h 4211660"/>
              <a:gd name="connsiteX5" fmla="*/ 372606 w 10740886"/>
              <a:gd name="connsiteY5" fmla="*/ 4211660 h 4211660"/>
              <a:gd name="connsiteX6" fmla="*/ 0 w 10740886"/>
              <a:gd name="connsiteY6" fmla="*/ 3839054 h 4211660"/>
              <a:gd name="connsiteX7" fmla="*/ 0 w 10740886"/>
              <a:gd name="connsiteY7" fmla="*/ 372606 h 4211660"/>
              <a:gd name="connsiteX8" fmla="*/ 372606 w 10740886"/>
              <a:gd name="connsiteY8" fmla="*/ 0 h 42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0886" h="4211660">
                <a:moveTo>
                  <a:pt x="372606" y="0"/>
                </a:moveTo>
                <a:lnTo>
                  <a:pt x="10732716" y="0"/>
                </a:lnTo>
                <a:lnTo>
                  <a:pt x="10740886" y="824"/>
                </a:lnTo>
                <a:lnTo>
                  <a:pt x="10740886" y="4210837"/>
                </a:lnTo>
                <a:lnTo>
                  <a:pt x="10732716" y="4211660"/>
                </a:lnTo>
                <a:lnTo>
                  <a:pt x="372606" y="4211660"/>
                </a:lnTo>
                <a:cubicBezTo>
                  <a:pt x="166821" y="4211660"/>
                  <a:pt x="0" y="4044839"/>
                  <a:pt x="0" y="3839054"/>
                </a:cubicBezTo>
                <a:lnTo>
                  <a:pt x="0" y="372606"/>
                </a:lnTo>
                <a:cubicBezTo>
                  <a:pt x="0" y="166821"/>
                  <a:pt x="166821" y="0"/>
                  <a:pt x="37260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02185E-4303-A0D1-369F-00F5E0CB5414}"/>
              </a:ext>
            </a:extLst>
          </p:cNvPr>
          <p:cNvGrpSpPr/>
          <p:nvPr userDrawn="1"/>
        </p:nvGrpSpPr>
        <p:grpSpPr>
          <a:xfrm>
            <a:off x="7893948" y="4931988"/>
            <a:ext cx="4298052" cy="1926012"/>
            <a:chOff x="7893948" y="4931988"/>
            <a:chExt cx="4298052" cy="192601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B3DBA4-AC84-FAA2-718E-E5632C4D8B1E}"/>
                </a:ext>
              </a:extLst>
            </p:cNvPr>
            <p:cNvSpPr/>
            <p:nvPr userDrawn="1"/>
          </p:nvSpPr>
          <p:spPr>
            <a:xfrm>
              <a:off x="8029834" y="4931988"/>
              <a:ext cx="4162166" cy="1671638"/>
            </a:xfrm>
            <a:custGeom>
              <a:avLst/>
              <a:gdLst>
                <a:gd name="connsiteX0" fmla="*/ 353623 w 4162166"/>
                <a:gd name="connsiteY0" fmla="*/ 0 h 1671638"/>
                <a:gd name="connsiteX1" fmla="*/ 4162166 w 4162166"/>
                <a:gd name="connsiteY1" fmla="*/ 0 h 1671638"/>
                <a:gd name="connsiteX2" fmla="*/ 4162166 w 4162166"/>
                <a:gd name="connsiteY2" fmla="*/ 1671638 h 1671638"/>
                <a:gd name="connsiteX3" fmla="*/ 0 w 4162166"/>
                <a:gd name="connsiteY3" fmla="*/ 1671638 h 1671638"/>
                <a:gd name="connsiteX4" fmla="*/ 0 w 4162166"/>
                <a:gd name="connsiteY4" fmla="*/ 353623 h 1671638"/>
                <a:gd name="connsiteX5" fmla="*/ 353623 w 4162166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166" h="1671638">
                  <a:moveTo>
                    <a:pt x="353623" y="0"/>
                  </a:moveTo>
                  <a:lnTo>
                    <a:pt x="4162166" y="0"/>
                  </a:lnTo>
                  <a:lnTo>
                    <a:pt x="4162166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B85847F-F744-71E3-D878-480DAC234A4B}"/>
                </a:ext>
              </a:extLst>
            </p:cNvPr>
            <p:cNvSpPr/>
            <p:nvPr userDrawn="1"/>
          </p:nvSpPr>
          <p:spPr>
            <a:xfrm>
              <a:off x="7893948" y="5186362"/>
              <a:ext cx="4298052" cy="1671638"/>
            </a:xfrm>
            <a:custGeom>
              <a:avLst/>
              <a:gdLst>
                <a:gd name="connsiteX0" fmla="*/ 353623 w 4298052"/>
                <a:gd name="connsiteY0" fmla="*/ 0 h 1671638"/>
                <a:gd name="connsiteX1" fmla="*/ 4298052 w 4298052"/>
                <a:gd name="connsiteY1" fmla="*/ 0 h 1671638"/>
                <a:gd name="connsiteX2" fmla="*/ 4298052 w 4298052"/>
                <a:gd name="connsiteY2" fmla="*/ 1671638 h 1671638"/>
                <a:gd name="connsiteX3" fmla="*/ 0 w 4298052"/>
                <a:gd name="connsiteY3" fmla="*/ 1671638 h 1671638"/>
                <a:gd name="connsiteX4" fmla="*/ 0 w 4298052"/>
                <a:gd name="connsiteY4" fmla="*/ 353623 h 1671638"/>
                <a:gd name="connsiteX5" fmla="*/ 353623 w 4298052"/>
                <a:gd name="connsiteY5" fmla="*/ 0 h 1671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98052" h="1671638">
                  <a:moveTo>
                    <a:pt x="353623" y="0"/>
                  </a:moveTo>
                  <a:lnTo>
                    <a:pt x="4298052" y="0"/>
                  </a:lnTo>
                  <a:lnTo>
                    <a:pt x="4298052" y="1671638"/>
                  </a:lnTo>
                  <a:lnTo>
                    <a:pt x="0" y="1671638"/>
                  </a:lnTo>
                  <a:lnTo>
                    <a:pt x="0" y="353623"/>
                  </a:lnTo>
                  <a:cubicBezTo>
                    <a:pt x="0" y="158322"/>
                    <a:pt x="158322" y="0"/>
                    <a:pt x="3536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1C42862-47C6-EC51-ACCA-E413557BEB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8832" y="5650667"/>
              <a:ext cx="2503682" cy="74302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EADB60-7EE6-7A88-D33D-70A1AA1A44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756" y="2196295"/>
            <a:ext cx="9144000" cy="1232705"/>
          </a:xfr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slide</a:t>
            </a:r>
            <a:br>
              <a:rPr lang="en-US"/>
            </a:br>
            <a:r>
              <a:rPr lang="en-US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91A3-DBF4-1C8A-480B-7CC24E04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41756" y="3429000"/>
            <a:ext cx="9144000" cy="131398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Insert Presenter Name </a:t>
            </a:r>
            <a:br>
              <a:rPr lang="en-US"/>
            </a:br>
            <a:r>
              <a:rPr lang="en-US"/>
              <a:t>Insert Presenter Name | Insert Date xx/xx/</a:t>
            </a:r>
            <a:r>
              <a:rPr lang="en-US" err="1"/>
              <a:t>xxxx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883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B236E-5B80-3503-4130-8A952814023D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888EB0-1352-3497-4D32-B220EE516FE9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10972B-F751-5365-3D75-FF88EADD8A39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10515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F8953-CDBE-764E-597E-1E09DBDD8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009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796DA1A-F34D-87D8-9F62-766AFCCC512D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8D9F2C-9FDD-9CC0-146B-929EC2B2A083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C933B28-E891-E21B-90A9-D0EABEE23AC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10515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FD9A13-9002-0B21-A06B-0CE4A37B65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890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715" y="3203708"/>
            <a:ext cx="2486372" cy="3667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7407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715" y="3356129"/>
            <a:ext cx="2486372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24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2715" y="3208471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2933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1900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5412" y="3205774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8800"/>
            <a:ext cx="821002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89003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1825625"/>
            <a:ext cx="854253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1852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AAA0967-C582-39FD-2B35-4CDBCD182DF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DC2855-1C52-FF06-0269-2604F04DFDF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EC0829-22AD-0B7F-6B8F-3D93DD2BBFE2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C2CA-612A-C9EC-66FB-64D44E154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7FECA7-9F3F-5C21-9059-89B2BCFD2C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56EDAA-C43E-05B8-8A39-B818E769A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29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68E590C-3457-63DA-80B7-E10E36F88042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0B8E80-C819-BF54-832E-94CEE0FCCB61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2CA76E-3B72-42DF-6E7D-5D2EB323A5C9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12287E-C286-5349-B32B-90A5F5AE9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F3D431-8660-1CB7-30E3-93BDB49E6C6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D4FD6-0C17-B1B4-029F-1BC59B841E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22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715" y="3203708"/>
            <a:ext cx="2486372" cy="3667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86731-E5E3-3634-A512-601F83090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E877C85-E365-FB66-74AC-CAA86752834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557813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715" y="3356129"/>
            <a:ext cx="2486372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835BC-E9F9-6C4D-D4E5-458B14F36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D1DA73-672D-B041-9848-1C31F366CA7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88419541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2715" y="3208471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0A4F18-6744-9371-8E2C-A47714196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279D21-F651-53BE-38AD-6D6AC817904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3911567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1C598-54DC-4DBC-709A-A9A983F1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A8B46E-03BB-E1EA-8E4A-9339A344F66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958574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67941EF-DCB0-056D-380D-7D0BD72BE7E1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22B0D1-E9A4-56A2-CF23-99A71CAA7E7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51F38C-5D8D-B822-357B-EE8DC79322AD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FAFE251-3930-F5BC-22A6-DF716CE2161D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E2BC15-B8E0-CC0A-4C05-7462219C4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5412" y="3205774"/>
            <a:ext cx="2486372" cy="36581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DD7AC-3B3E-6760-2C88-EF47C22F9D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3CD2-F87A-872D-BDEE-4DD8F9B25437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3EBF81-8879-903D-6237-73E54003F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615DD3-1944-C12D-957C-0878A8A4D4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9668705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A8721F9-060B-1098-C873-B0884DA044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BF1A16-A971-4C86-BD2F-62C408DDC5EC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CB608CC-E25C-B76E-6438-D9691FB9389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2557880-283D-CA4B-BEA2-523AC89D98DF}"/>
              </a:ext>
            </a:extLst>
          </p:cNvPr>
          <p:cNvSpPr/>
          <p:nvPr userDrawn="1"/>
        </p:nvSpPr>
        <p:spPr>
          <a:xfrm>
            <a:off x="9252996" y="5171993"/>
            <a:ext cx="2939004" cy="1693958"/>
          </a:xfrm>
          <a:custGeom>
            <a:avLst/>
            <a:gdLst>
              <a:gd name="connsiteX0" fmla="*/ 298060 w 2939004"/>
              <a:gd name="connsiteY0" fmla="*/ 0 h 1693958"/>
              <a:gd name="connsiteX1" fmla="*/ 2939004 w 2939004"/>
              <a:gd name="connsiteY1" fmla="*/ 0 h 1693958"/>
              <a:gd name="connsiteX2" fmla="*/ 2939004 w 2939004"/>
              <a:gd name="connsiteY2" fmla="*/ 1693958 h 1693958"/>
              <a:gd name="connsiteX3" fmla="*/ 4504 w 2939004"/>
              <a:gd name="connsiteY3" fmla="*/ 1693958 h 1693958"/>
              <a:gd name="connsiteX4" fmla="*/ 0 w 2939004"/>
              <a:gd name="connsiteY4" fmla="*/ 1649284 h 1693958"/>
              <a:gd name="connsiteX5" fmla="*/ 0 w 2939004"/>
              <a:gd name="connsiteY5" fmla="*/ 298060 h 1693958"/>
              <a:gd name="connsiteX6" fmla="*/ 298060 w 2939004"/>
              <a:gd name="connsiteY6" fmla="*/ 0 h 16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004" h="1693958">
                <a:moveTo>
                  <a:pt x="298060" y="0"/>
                </a:moveTo>
                <a:lnTo>
                  <a:pt x="2939004" y="0"/>
                </a:lnTo>
                <a:lnTo>
                  <a:pt x="2939004" y="1693958"/>
                </a:lnTo>
                <a:lnTo>
                  <a:pt x="4504" y="1693958"/>
                </a:lnTo>
                <a:lnTo>
                  <a:pt x="0" y="1649284"/>
                </a:lnTo>
                <a:lnTo>
                  <a:pt x="0" y="298060"/>
                </a:lnTo>
                <a:cubicBezTo>
                  <a:pt x="0" y="133446"/>
                  <a:pt x="133446" y="0"/>
                  <a:pt x="2980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FDB5-7F43-8E4A-8EE7-98D4FB0E1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1276" y="3353432"/>
            <a:ext cx="2430723" cy="35152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066B32-B11B-32E6-E7CD-6D4F9CD1E2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FF24F-4E0A-4945-5918-EEE07769C52F}"/>
              </a:ext>
            </a:extLst>
          </p:cNvPr>
          <p:cNvSpPr txBox="1">
            <a:spLocks/>
          </p:cNvSpPr>
          <p:nvPr userDrawn="1"/>
        </p:nvSpPr>
        <p:spPr>
          <a:xfrm>
            <a:off x="9818995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F0C1E-DAE4-6728-2B86-6CA179E8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52" y="2163536"/>
            <a:ext cx="10515600" cy="4016602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11F2FF4-3072-0C5E-ACDC-5CB871B548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3652" y="1534999"/>
            <a:ext cx="10515600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9732343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5746A4-5C49-05E1-1E4D-DFE4F6513A75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0C6FB2-FA5D-0EC5-9C48-8256BBBE64E6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5D309D-3E1B-DC49-F8F6-2FE2AEF82B4A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1A7BCA7-1740-0F9C-700D-7AED4F757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211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08D3E1-ED65-DE03-7FE8-9721482A79FF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5FB37B-98D9-5239-D919-3F9305FCEEF0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362ECAA-13A1-BABC-6B70-391011418B2E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284C56-2265-4061-FD34-5A87E61E8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2078A40-A17E-AA39-26DF-018CBD43B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7652" y="1825625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760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-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F291EDF-69A7-1423-8288-6A6D69ED5DE9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6F69B8-9B4C-9C72-4F23-3043287037E4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333ABC9-803A-713C-D4EC-8FBE67B962CF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1A7BCA7-1740-0F9C-700D-7AED4F757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715BD1-C384-F94C-85BA-234EAAC3FB3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31483626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-2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EB1D01D-EC86-76A5-E65F-F11A3001FF8B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0BC113-081C-8898-6E2F-67BE59218F93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572F406-3034-8137-4EA5-B6457C88AAF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AC25F2-3A33-E6BC-9EC6-1065649F3B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AB168D-D5BE-9DAF-03FC-666EA6148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652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A88F71-6DC2-B675-BC43-BEDCA7492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9686" y="2167128"/>
            <a:ext cx="5181600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9251E7E-1A2A-0FC1-2FDB-106049DA6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330841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7399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4941592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7399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EC94E3-13D4-2AF4-1304-343097772CF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3564303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+ 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0135639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+ 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B4E7D46-57FC-91D1-2D62-F14C2E0A8FA3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218040-28BF-456E-5021-19671F59E5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750E21-FCF3-BB98-9CED-D13788820C25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BBA6D3-FC78-8D8E-CAE1-C543A02BCDC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42573746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F7183B2-7593-738C-3438-2BF4F73085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1F7ADF-63B9-5643-1384-CD97954E79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B57ACF-A519-4719-5D89-E86C59ED7AC6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92A7F-9FF8-C5BA-2512-A03FAAE2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6FCEFD2A-E091-4932-63E7-F9B04A257C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73657641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+ Imag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F7183B2-7593-738C-3438-2BF4F7308544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1F7ADF-63B9-5643-1384-CD97954E797D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B57ACF-A519-4719-5D89-E86C59ED7AC6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ECA6C-A2EE-305E-BBA6-6F7DEFD89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92A7F-9FF8-C5BA-2512-A03FAAE2A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6FCEFD2A-E091-4932-63E7-F9B04A257C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938CCC-2F97-80D9-FA99-52DEEDDACD5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185723952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2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34F7D75-ADC5-C596-0762-E0DAE28C62FE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2E153-4FB0-42F6-3983-0536F79E9D6F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3B760A5-7950-827A-803C-24633DB84920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C5BF01C-A17E-9EC4-162D-9ED87E6B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24BB08E-5179-5885-FEF6-2D3ABF136E3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413801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2 + Imag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34F7D75-ADC5-C596-0762-E0DAE28C62FE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2E153-4FB0-42F6-3983-0536F79E9D6F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3B760A5-7950-827A-803C-24633DB84920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C5BF01C-A17E-9EC4-162D-9ED87E6B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035" y="2167128"/>
            <a:ext cx="6946061" cy="435133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924BB08E-5179-5885-FEF6-2D3ABF136E3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3653" y="2167128"/>
            <a:ext cx="4184973" cy="4084754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2F2835-53F9-A5E0-8551-7BE78FBAC2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86021751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2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AF3593-B50A-54B9-C168-22A943A653AD}"/>
              </a:ext>
            </a:extLst>
          </p:cNvPr>
          <p:cNvCxnSpPr>
            <a:cxnSpLocks/>
          </p:cNvCxnSpPr>
          <p:nvPr userDrawn="1"/>
        </p:nvCxnSpPr>
        <p:spPr>
          <a:xfrm>
            <a:off x="3529119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7970F4-D6BB-E0B4-C818-C1D624CB35AB}"/>
              </a:ext>
            </a:extLst>
          </p:cNvPr>
          <p:cNvCxnSpPr>
            <a:cxnSpLocks/>
          </p:cNvCxnSpPr>
          <p:nvPr userDrawn="1"/>
        </p:nvCxnSpPr>
        <p:spPr>
          <a:xfrm>
            <a:off x="6128097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F2976A-6342-6256-11C7-4493A9C632AF}"/>
              </a:ext>
            </a:extLst>
          </p:cNvPr>
          <p:cNvCxnSpPr>
            <a:cxnSpLocks/>
          </p:cNvCxnSpPr>
          <p:nvPr userDrawn="1"/>
        </p:nvCxnSpPr>
        <p:spPr>
          <a:xfrm>
            <a:off x="8661654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47388858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2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336F4-6DF5-B48A-F79A-945C9A7DC7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B0C2B2-6FA4-A264-B37D-E0994A47E67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D02F281-951B-9336-DB34-CCBA2CD020D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E100DC3E-D9EA-7C63-6759-3E6B35BCCB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4AA872DC-7AE5-6CF5-B3F1-93F93A009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1806699D-833C-4E0C-7D41-114D67B6D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06697117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2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0550B-4DEB-C9B8-C80E-38EABCFA34D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36210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AF3593-B50A-54B9-C168-22A943A653AD}"/>
              </a:ext>
            </a:extLst>
          </p:cNvPr>
          <p:cNvCxnSpPr>
            <a:cxnSpLocks/>
          </p:cNvCxnSpPr>
          <p:nvPr userDrawn="1"/>
        </p:nvCxnSpPr>
        <p:spPr>
          <a:xfrm>
            <a:off x="3529119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9E16-4F6A-EF5E-569D-E0031D6A8D4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796905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C70947-8C00-8388-AF6B-07A7CB82C526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326002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837656-6C07-641C-EFCA-BA9E8DDADC8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855099" y="3615201"/>
            <a:ext cx="2139905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7970F4-D6BB-E0B4-C818-C1D624CB35AB}"/>
              </a:ext>
            </a:extLst>
          </p:cNvPr>
          <p:cNvCxnSpPr>
            <a:cxnSpLocks/>
          </p:cNvCxnSpPr>
          <p:nvPr userDrawn="1"/>
        </p:nvCxnSpPr>
        <p:spPr>
          <a:xfrm>
            <a:off x="6128097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F2976A-6342-6256-11C7-4493A9C632AF}"/>
              </a:ext>
            </a:extLst>
          </p:cNvPr>
          <p:cNvCxnSpPr>
            <a:cxnSpLocks/>
          </p:cNvCxnSpPr>
          <p:nvPr userDrawn="1"/>
        </p:nvCxnSpPr>
        <p:spPr>
          <a:xfrm>
            <a:off x="8661654" y="3615201"/>
            <a:ext cx="0" cy="2021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9C1DB8F-7EF0-9743-3E6D-08D60CA799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36273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AB2CD968-BA49-5A2D-409C-EDDF51E3BF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82214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806FB28D-0CC7-E1F1-69CB-51EC3463FF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957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60258C8-61DA-8342-200B-5747F01DDD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48555" y="2140414"/>
            <a:ext cx="2139950" cy="1382712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14D0E3-D7AD-E982-BC4A-327426F77C9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18899525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2 + Images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84ED0C8-9CC4-62F1-D013-94A2D750A586}"/>
              </a:ext>
            </a:extLst>
          </p:cNvPr>
          <p:cNvGrpSpPr/>
          <p:nvPr userDrawn="1"/>
        </p:nvGrpSpPr>
        <p:grpSpPr>
          <a:xfrm>
            <a:off x="0" y="0"/>
            <a:ext cx="12192000" cy="1343228"/>
            <a:chOff x="0" y="0"/>
            <a:chExt cx="12192000" cy="13432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C2CEB-4AAC-BAC6-5C1E-F33615A22F92}"/>
                </a:ext>
              </a:extLst>
            </p:cNvPr>
            <p:cNvSpPr/>
            <p:nvPr userDrawn="1"/>
          </p:nvSpPr>
          <p:spPr>
            <a:xfrm>
              <a:off x="0" y="0"/>
              <a:ext cx="12192000" cy="13432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D0763D-797E-CC41-8061-1E1D91D69757}"/>
                </a:ext>
              </a:extLst>
            </p:cNvPr>
            <p:cNvSpPr/>
            <p:nvPr userDrawn="1"/>
          </p:nvSpPr>
          <p:spPr>
            <a:xfrm>
              <a:off x="10153817" y="0"/>
              <a:ext cx="2038183" cy="548640"/>
            </a:xfrm>
            <a:custGeom>
              <a:avLst/>
              <a:gdLst>
                <a:gd name="connsiteX0" fmla="*/ 0 w 2038183"/>
                <a:gd name="connsiteY0" fmla="*/ 0 h 548640"/>
                <a:gd name="connsiteX1" fmla="*/ 2038183 w 2038183"/>
                <a:gd name="connsiteY1" fmla="*/ 0 h 548640"/>
                <a:gd name="connsiteX2" fmla="*/ 2038183 w 2038183"/>
                <a:gd name="connsiteY2" fmla="*/ 548640 h 548640"/>
                <a:gd name="connsiteX3" fmla="*/ 194805 w 2038183"/>
                <a:gd name="connsiteY3" fmla="*/ 548640 h 548640"/>
                <a:gd name="connsiteX4" fmla="*/ 0 w 2038183"/>
                <a:gd name="connsiteY4" fmla="*/ 353835 h 548640"/>
                <a:gd name="connsiteX5" fmla="*/ 0 w 2038183"/>
                <a:gd name="connsiteY5" fmla="*/ 0 h 54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38183" h="548640">
                  <a:moveTo>
                    <a:pt x="0" y="0"/>
                  </a:moveTo>
                  <a:lnTo>
                    <a:pt x="2038183" y="0"/>
                  </a:lnTo>
                  <a:lnTo>
                    <a:pt x="2038183" y="548640"/>
                  </a:lnTo>
                  <a:lnTo>
                    <a:pt x="194805" y="548640"/>
                  </a:lnTo>
                  <a:cubicBezTo>
                    <a:pt x="87217" y="548640"/>
                    <a:pt x="0" y="461423"/>
                    <a:pt x="0" y="35383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DA10FD-26A5-D5CC-3754-4D9501377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52" y="335389"/>
            <a:ext cx="9601200" cy="1007839"/>
          </a:xfr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Content Banner</a:t>
            </a:r>
            <a:br>
              <a:rPr lang="en-US"/>
            </a:br>
            <a:r>
              <a:rPr lang="en-US"/>
              <a:t>Click to Edit Content Banner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DCAE3B-3FA7-C965-7A6D-103F629A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336F4-6DF5-B48A-F79A-945C9A7DC76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56696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B0C2B2-6FA4-A264-B37D-E0994A47E67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3240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D02F281-951B-9336-DB34-CCBA2CD020D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08150" y="3615201"/>
            <a:ext cx="3169181" cy="2898504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600"/>
            </a:lvl4pPr>
            <a:lvl5pPr marL="18288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E100DC3E-D9EA-7C63-6759-3E6B35BCCB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5675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4AA872DC-7AE5-6CF5-B3F1-93F93A0092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17708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1806699D-833C-4E0C-7D41-114D67B6D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08104" y="2140414"/>
            <a:ext cx="3169247" cy="1382712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788A7-97AD-94AB-0DC8-A2F6516572E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3652" y="1534999"/>
            <a:ext cx="10187262" cy="628537"/>
          </a:xfrm>
        </p:spPr>
        <p:txBody>
          <a:bodyPr>
            <a:noAutofit/>
          </a:bodyPr>
          <a:lstStyle>
            <a:lvl1pPr marL="0" indent="0">
              <a:buFontTx/>
              <a:buNone/>
              <a:defRPr>
                <a:solidFill>
                  <a:schemeClr val="tx2"/>
                </a:solidFill>
                <a:latin typeface="Selawik Semibold" panose="020B0702040204020203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237875134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F43D000-EB33-7E0C-3EFE-8C65C01AAFAA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858A6F-BB85-1BD4-D0BA-39A071EC7061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4DD97F-4044-638B-3209-CF9958D778AD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FD3E8E-05F0-0C4E-8CF6-AC5B87C1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4245" y="1031204"/>
            <a:ext cx="7160619" cy="3023194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19" name="Picture 18" descr="A person and person posing for a picture&#10;&#10;Description automatically generated with medium confidence">
            <a:extLst>
              <a:ext uri="{FF2B5EF4-FFF2-40B4-BE49-F238E27FC236}">
                <a16:creationId xmlns:a16="http://schemas.microsoft.com/office/drawing/2014/main" id="{BCC25FDF-A8C4-E684-21A1-F03DFF77FC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724" y="3435147"/>
            <a:ext cx="278168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9577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4BC75A-3F9B-EAC8-032D-0533C5A92406}"/>
              </a:ext>
            </a:extLst>
          </p:cNvPr>
          <p:cNvGrpSpPr/>
          <p:nvPr userDrawn="1"/>
        </p:nvGrpSpPr>
        <p:grpSpPr>
          <a:xfrm rot="10800000">
            <a:off x="-629" y="0"/>
            <a:ext cx="12191999" cy="6858000"/>
            <a:chOff x="0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592CCC-888C-D6C4-3125-21CA0AA42409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5B8F2ED-A5F5-64D2-7282-BE4C8F2533E0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1704" y="461227"/>
            <a:ext cx="7827332" cy="2518446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8" name="Picture 7" descr="A person with his arms crossed&#10;&#10;Description automatically generated with medium confidence">
            <a:extLst>
              <a:ext uri="{FF2B5EF4-FFF2-40B4-BE49-F238E27FC236}">
                <a16:creationId xmlns:a16="http://schemas.microsoft.com/office/drawing/2014/main" id="{0B653429-17A2-2844-22A0-EC90B2FAE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55" y="3690731"/>
            <a:ext cx="2495898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383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F43D000-EB33-7E0C-3EFE-8C65C01AAFAA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858A6F-BB85-1BD4-D0BA-39A071EC7061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4DD97F-4044-638B-3209-CF9958D778AD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FD3E8E-05F0-0C4E-8CF6-AC5B87C1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4245" y="1031204"/>
            <a:ext cx="7160619" cy="3023194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C25FDF-A8C4-E684-21A1-F03DFF77FC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0724" y="3435147"/>
            <a:ext cx="278168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2384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4BC75A-3F9B-EAC8-032D-0533C5A92406}"/>
              </a:ext>
            </a:extLst>
          </p:cNvPr>
          <p:cNvGrpSpPr/>
          <p:nvPr userDrawn="1"/>
        </p:nvGrpSpPr>
        <p:grpSpPr>
          <a:xfrm rot="10800000">
            <a:off x="-629" y="0"/>
            <a:ext cx="12191999" cy="6858000"/>
            <a:chOff x="0" y="0"/>
            <a:chExt cx="12191999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592CCC-888C-D6C4-3125-21CA0AA42409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5B8F2ED-A5F5-64D2-7282-BE4C8F2533E0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1704" y="461227"/>
            <a:ext cx="7827332" cy="2518446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53429-17A2-2844-22A0-EC90B2FAE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915" y="3690731"/>
            <a:ext cx="242677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1905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FFE7A2F-EDCA-6892-D454-4E5F1BAD202F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8537BE-396C-389C-F507-258CA1F62A38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9C484EE-19EE-B3BE-63F6-12B6DE8F0CF5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FD3E8E-05F0-0C4E-8CF6-AC5B87C1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0671" y="980404"/>
            <a:ext cx="8292736" cy="3023194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76E8BE-8B82-AFBB-4AE2-564E65DAE835}"/>
              </a:ext>
            </a:extLst>
          </p:cNvPr>
          <p:cNvSpPr/>
          <p:nvPr userDrawn="1"/>
        </p:nvSpPr>
        <p:spPr>
          <a:xfrm>
            <a:off x="10765345" y="5511255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7975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23D100-09EE-FB2F-6020-512D3E49AB9A}"/>
              </a:ext>
            </a:extLst>
          </p:cNvPr>
          <p:cNvGrpSpPr/>
          <p:nvPr userDrawn="1"/>
        </p:nvGrpSpPr>
        <p:grpSpPr>
          <a:xfrm rot="10800000">
            <a:off x="1" y="8919"/>
            <a:ext cx="12191999" cy="6858000"/>
            <a:chOff x="0" y="0"/>
            <a:chExt cx="12191999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5E81B31-F3EA-655E-D389-4A272E34FADB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C8E8E57-9D6B-C162-D524-46DAF8C8AA77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9075" y="1139154"/>
            <a:ext cx="8419405" cy="2518446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B90B4A-7D40-FC4E-B8CB-22007B130054}"/>
              </a:ext>
            </a:extLst>
          </p:cNvPr>
          <p:cNvSpPr/>
          <p:nvPr userDrawn="1"/>
        </p:nvSpPr>
        <p:spPr>
          <a:xfrm rot="10800000">
            <a:off x="0" y="-2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61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8537BE-396C-389C-F507-258CA1F62A38}"/>
              </a:ext>
            </a:extLst>
          </p:cNvPr>
          <p:cNvSpPr/>
          <p:nvPr userDrawn="1"/>
        </p:nvSpPr>
        <p:spPr>
          <a:xfrm>
            <a:off x="1" y="-1"/>
            <a:ext cx="12191999" cy="68638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C484EE-19EE-B3BE-63F6-12B6DE8F0CF5}"/>
              </a:ext>
            </a:extLst>
          </p:cNvPr>
          <p:cNvSpPr/>
          <p:nvPr userDrawn="1"/>
        </p:nvSpPr>
        <p:spPr>
          <a:xfrm>
            <a:off x="868018" y="901146"/>
            <a:ext cx="11323982" cy="5954362"/>
          </a:xfrm>
          <a:custGeom>
            <a:avLst/>
            <a:gdLst>
              <a:gd name="connsiteX0" fmla="*/ 722926 w 11323982"/>
              <a:gd name="connsiteY0" fmla="*/ 0 h 5954362"/>
              <a:gd name="connsiteX1" fmla="*/ 11323982 w 11323982"/>
              <a:gd name="connsiteY1" fmla="*/ 0 h 5954362"/>
              <a:gd name="connsiteX2" fmla="*/ 11323982 w 11323982"/>
              <a:gd name="connsiteY2" fmla="*/ 5954362 h 5954362"/>
              <a:gd name="connsiteX3" fmla="*/ 0 w 11323982"/>
              <a:gd name="connsiteY3" fmla="*/ 5954362 h 5954362"/>
              <a:gd name="connsiteX4" fmla="*/ 0 w 11323982"/>
              <a:gd name="connsiteY4" fmla="*/ 722926 h 5954362"/>
              <a:gd name="connsiteX5" fmla="*/ 722926 w 11323982"/>
              <a:gd name="connsiteY5" fmla="*/ 0 h 59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23982" h="5954362">
                <a:moveTo>
                  <a:pt x="722926" y="0"/>
                </a:moveTo>
                <a:lnTo>
                  <a:pt x="11323982" y="0"/>
                </a:lnTo>
                <a:lnTo>
                  <a:pt x="11323982" y="5954362"/>
                </a:lnTo>
                <a:lnTo>
                  <a:pt x="0" y="5954362"/>
                </a:lnTo>
                <a:lnTo>
                  <a:pt x="0" y="722926"/>
                </a:lnTo>
                <a:cubicBezTo>
                  <a:pt x="0" y="323665"/>
                  <a:pt x="323665" y="0"/>
                  <a:pt x="722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076E8BE-8B82-AFBB-4AE2-564E65DAE835}"/>
              </a:ext>
            </a:extLst>
          </p:cNvPr>
          <p:cNvSpPr/>
          <p:nvPr userDrawn="1"/>
        </p:nvSpPr>
        <p:spPr>
          <a:xfrm>
            <a:off x="10765345" y="5511255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848CE4-82E8-06F5-113A-AA525F91AC0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017812" y="2992809"/>
            <a:ext cx="5106063" cy="2518446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C02F79-D8DD-EC13-C66C-5CB9CE1BEF43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175027" y="2091780"/>
            <a:ext cx="3459163" cy="3419475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28423967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23D100-09EE-FB2F-6020-512D3E49AB9A}"/>
              </a:ext>
            </a:extLst>
          </p:cNvPr>
          <p:cNvGrpSpPr/>
          <p:nvPr userDrawn="1"/>
        </p:nvGrpSpPr>
        <p:grpSpPr>
          <a:xfrm rot="10800000">
            <a:off x="1" y="8919"/>
            <a:ext cx="12191999" cy="6858000"/>
            <a:chOff x="0" y="0"/>
            <a:chExt cx="12191999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5E81B31-F3EA-655E-D389-4A272E34FADB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C8E8E57-9D6B-C162-D524-46DAF8C8AA77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BFF61B6E-5D42-4507-66AF-ED2159F28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4974" y="2479987"/>
            <a:ext cx="5106063" cy="2518446"/>
          </a:xfrm>
        </p:spPr>
        <p:txBody>
          <a:bodyPr anchor="t" anchorCtr="0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Divider slide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B90B4A-7D40-FC4E-B8CB-22007B130054}"/>
              </a:ext>
            </a:extLst>
          </p:cNvPr>
          <p:cNvSpPr/>
          <p:nvPr userDrawn="1"/>
        </p:nvSpPr>
        <p:spPr>
          <a:xfrm rot="10800000">
            <a:off x="0" y="-2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593D74-F679-8A6F-9691-B7A2139718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32189" y="1578958"/>
            <a:ext cx="3459163" cy="3419475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6394152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745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ty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248C44-8702-9120-6B24-0FC8FAA0B01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5346374"/>
              </p:ext>
            </p:extLst>
          </p:nvPr>
        </p:nvGraphicFramePr>
        <p:xfrm>
          <a:off x="2031999" y="831574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270469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08359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7019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74531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690304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14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59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5587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BA10D6-C2F6-B1C6-EA0B-6235F6FACB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05262508"/>
              </p:ext>
            </p:extLst>
          </p:nvPr>
        </p:nvGraphicFramePr>
        <p:xfrm>
          <a:off x="2031999" y="3541643"/>
          <a:ext cx="8128002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270469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08359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7019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74531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690304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14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59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55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66277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ty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89009F7-CCAC-D105-B6FD-A71A32630DE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343373528"/>
              </p:ext>
            </p:extLst>
          </p:nvPr>
        </p:nvGraphicFramePr>
        <p:xfrm>
          <a:off x="653774" y="2157528"/>
          <a:ext cx="4655379" cy="3103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5526029-FB9E-EA56-83D6-EFE4EF389AE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04088028"/>
              </p:ext>
            </p:extLst>
          </p:nvPr>
        </p:nvGraphicFramePr>
        <p:xfrm>
          <a:off x="4859681" y="0"/>
          <a:ext cx="4903856" cy="326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B9453C2-7783-88AB-5AD4-14CB940E962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68639585"/>
              </p:ext>
            </p:extLst>
          </p:nvPr>
        </p:nvGraphicFramePr>
        <p:xfrm>
          <a:off x="7533859" y="3521764"/>
          <a:ext cx="4123635" cy="274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841701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7453F8-B498-EDF9-727C-A1451F5A3D51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1697D-A280-0F1D-7484-A270B78A2234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03C687B-4FC9-1351-EC2E-51797E5416C3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D81B-3117-F7D6-B290-A527D47DF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9588" y="3021265"/>
            <a:ext cx="4233333" cy="126435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8FB1C4-D2A2-E8F9-C38E-801655B945FF}"/>
              </a:ext>
            </a:extLst>
          </p:cNvPr>
          <p:cNvSpPr/>
          <p:nvPr userDrawn="1"/>
        </p:nvSpPr>
        <p:spPr>
          <a:xfrm>
            <a:off x="10765345" y="5511255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219625-A6DC-AE90-EE89-0008CD5351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43487" y="6405740"/>
            <a:ext cx="110537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606062"/>
                </a:solidFill>
                <a:latin typeface="Segoe UI Semilight"/>
              </a:rPr>
              <a:t>This document is to be considered confidential and proprietary. © 2022 Navitus Health Solutions, LLC</a:t>
            </a:r>
          </a:p>
        </p:txBody>
      </p:sp>
    </p:spTree>
    <p:extLst>
      <p:ext uri="{BB962C8B-B14F-4D97-AF65-F5344CB8AC3E}">
        <p14:creationId xmlns:p14="http://schemas.microsoft.com/office/powerpoint/2010/main" val="144621700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9566529E-EDF9-FBFE-B1E1-852BEF06DA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913" y="6249988"/>
            <a:ext cx="27447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1" y="5363438"/>
            <a:ext cx="8490065" cy="434690"/>
          </a:xfrm>
        </p:spPr>
        <p:txBody>
          <a:bodyPr anchor="b">
            <a:noAutofit/>
          </a:bodyPr>
          <a:lstStyle>
            <a:lvl1pPr algn="l">
              <a:defRPr sz="28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9405324" y="5394252"/>
            <a:ext cx="2345267" cy="3730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09600" y="5828160"/>
            <a:ext cx="8490065" cy="498373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rgbClr val="60606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3447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5892C-868F-E0B3-8A7F-9E0DA465BD1B}"/>
              </a:ext>
            </a:extLst>
          </p:cNvPr>
          <p:cNvSpPr/>
          <p:nvPr userDrawn="1"/>
        </p:nvSpPr>
        <p:spPr>
          <a:xfrm>
            <a:off x="82550" y="6564313"/>
            <a:ext cx="306388" cy="293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0AAA8911-713C-53D4-AEBE-F9A75A9978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5" y="6372225"/>
            <a:ext cx="2746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FDBD6C45-6010-4127-8265-8D8D42DFCD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9163" y="6604000"/>
            <a:ext cx="27209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>
                <a:solidFill>
                  <a:srgbClr val="5F6062"/>
                </a:solidFill>
              </a:rPr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DA255-8F2F-7B75-AD28-9E2087C6C7DB}"/>
              </a:ext>
            </a:extLst>
          </p:cNvPr>
          <p:cNvSpPr txBox="1">
            <a:spLocks/>
          </p:cNvSpPr>
          <p:nvPr userDrawn="1"/>
        </p:nvSpPr>
        <p:spPr>
          <a:xfrm>
            <a:off x="71438" y="6610350"/>
            <a:ext cx="331787" cy="193675"/>
          </a:xfrm>
          <a:prstGeom prst="rect">
            <a:avLst/>
          </a:prstGeom>
          <a:noFill/>
        </p:spPr>
        <p:txBody>
          <a:bodyPr lIns="0" tIns="0" rIns="0" bIns="0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4DC0D8A8-F45D-425C-82A9-6346E3952289}" type="slidenum">
              <a:rPr lang="en-US" smtClean="0"/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75293"/>
            <a:ext cx="10515600" cy="586780"/>
          </a:xfrm>
        </p:spPr>
        <p:txBody>
          <a:bodyPr anchor="b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04302"/>
            <a:ext cx="10509251" cy="5064979"/>
          </a:xfrm>
        </p:spPr>
        <p:txBody>
          <a:bodyPr/>
          <a:lstStyle>
            <a:lvl1pPr>
              <a:defRPr baseline="0">
                <a:solidFill>
                  <a:srgbClr val="5F6062"/>
                </a:solidFill>
              </a:defRPr>
            </a:lvl1pPr>
            <a:lvl2pPr>
              <a:defRPr baseline="0">
                <a:solidFill>
                  <a:srgbClr val="5F6062"/>
                </a:solidFill>
              </a:defRPr>
            </a:lvl2pPr>
            <a:lvl3pPr>
              <a:buClr>
                <a:schemeClr val="accent5"/>
              </a:buClr>
              <a:defRPr baseline="0">
                <a:solidFill>
                  <a:srgbClr val="5F6062"/>
                </a:solidFill>
              </a:defRPr>
            </a:lvl3pPr>
            <a:lvl4pPr>
              <a:buClr>
                <a:schemeClr val="accent6"/>
              </a:buClr>
              <a:defRPr baseline="0">
                <a:solidFill>
                  <a:srgbClr val="5F6062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44759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1320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ty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F248C44-8702-9120-6B24-0FC8FAA0B01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5346374"/>
              </p:ext>
            </p:extLst>
          </p:nvPr>
        </p:nvGraphicFramePr>
        <p:xfrm>
          <a:off x="2031999" y="831574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270469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08359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7019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74531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690304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14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59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5587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BA10D6-C2F6-B1C6-EA0B-6235F6FACB2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05262508"/>
              </p:ext>
            </p:extLst>
          </p:nvPr>
        </p:nvGraphicFramePr>
        <p:xfrm>
          <a:off x="2031999" y="3541643"/>
          <a:ext cx="8128002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270469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08359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667019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8745313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6903043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514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9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592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55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37580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ty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CAC54F4-1954-2CA5-B8DB-8E1D7C080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904" y="6409746"/>
            <a:ext cx="1290055" cy="28720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89009F7-CCAC-D105-B6FD-A71A32630DE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343373528"/>
              </p:ext>
            </p:extLst>
          </p:nvPr>
        </p:nvGraphicFramePr>
        <p:xfrm>
          <a:off x="653774" y="2157528"/>
          <a:ext cx="4655379" cy="3103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5526029-FB9E-EA56-83D6-EFE4EF389AEA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04088028"/>
              </p:ext>
            </p:extLst>
          </p:nvPr>
        </p:nvGraphicFramePr>
        <p:xfrm>
          <a:off x="4859681" y="0"/>
          <a:ext cx="4903856" cy="3269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B9453C2-7783-88AB-5AD4-14CB940E962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068639585"/>
              </p:ext>
            </p:extLst>
          </p:nvPr>
        </p:nvGraphicFramePr>
        <p:xfrm>
          <a:off x="7533859" y="3521764"/>
          <a:ext cx="4123635" cy="2749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725996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7453F8-B498-EDF9-727C-A1451F5A3D51}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0" y="0"/>
            <a:chExt cx="12191999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1697D-A280-0F1D-7484-A270B78A2234}"/>
                </a:ext>
              </a:extLst>
            </p:cNvPr>
            <p:cNvSpPr/>
            <p:nvPr userDrawn="1"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03C687B-4FC9-1351-EC2E-51797E5416C3}"/>
                </a:ext>
              </a:extLst>
            </p:cNvPr>
            <p:cNvSpPr/>
            <p:nvPr userDrawn="1"/>
          </p:nvSpPr>
          <p:spPr>
            <a:xfrm>
              <a:off x="868017" y="901146"/>
              <a:ext cx="11323982" cy="5954362"/>
            </a:xfrm>
            <a:custGeom>
              <a:avLst/>
              <a:gdLst>
                <a:gd name="connsiteX0" fmla="*/ 722926 w 11323982"/>
                <a:gd name="connsiteY0" fmla="*/ 0 h 5954362"/>
                <a:gd name="connsiteX1" fmla="*/ 11323982 w 11323982"/>
                <a:gd name="connsiteY1" fmla="*/ 0 h 5954362"/>
                <a:gd name="connsiteX2" fmla="*/ 11323982 w 11323982"/>
                <a:gd name="connsiteY2" fmla="*/ 5954362 h 5954362"/>
                <a:gd name="connsiteX3" fmla="*/ 0 w 11323982"/>
                <a:gd name="connsiteY3" fmla="*/ 5954362 h 5954362"/>
                <a:gd name="connsiteX4" fmla="*/ 0 w 11323982"/>
                <a:gd name="connsiteY4" fmla="*/ 722926 h 5954362"/>
                <a:gd name="connsiteX5" fmla="*/ 722926 w 11323982"/>
                <a:gd name="connsiteY5" fmla="*/ 0 h 595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23982" h="5954362">
                  <a:moveTo>
                    <a:pt x="722926" y="0"/>
                  </a:moveTo>
                  <a:lnTo>
                    <a:pt x="11323982" y="0"/>
                  </a:lnTo>
                  <a:lnTo>
                    <a:pt x="11323982" y="5954362"/>
                  </a:lnTo>
                  <a:lnTo>
                    <a:pt x="0" y="5954362"/>
                  </a:lnTo>
                  <a:lnTo>
                    <a:pt x="0" y="722926"/>
                  </a:lnTo>
                  <a:cubicBezTo>
                    <a:pt x="0" y="323665"/>
                    <a:pt x="323665" y="0"/>
                    <a:pt x="7229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D81B-3117-F7D6-B290-A527D47DF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588" y="3021265"/>
            <a:ext cx="4233333" cy="1264356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88FB1C4-D2A2-E8F9-C38E-801655B945FF}"/>
              </a:ext>
            </a:extLst>
          </p:cNvPr>
          <p:cNvSpPr/>
          <p:nvPr userDrawn="1"/>
        </p:nvSpPr>
        <p:spPr>
          <a:xfrm>
            <a:off x="10765345" y="5511255"/>
            <a:ext cx="1434969" cy="1352566"/>
          </a:xfrm>
          <a:custGeom>
            <a:avLst/>
            <a:gdLst>
              <a:gd name="connsiteX0" fmla="*/ 354503 w 1434969"/>
              <a:gd name="connsiteY0" fmla="*/ 0 h 1352566"/>
              <a:gd name="connsiteX1" fmla="*/ 1434969 w 1434969"/>
              <a:gd name="connsiteY1" fmla="*/ 0 h 1352566"/>
              <a:gd name="connsiteX2" fmla="*/ 1434969 w 1434969"/>
              <a:gd name="connsiteY2" fmla="*/ 1352566 h 1352566"/>
              <a:gd name="connsiteX3" fmla="*/ 0 w 1434969"/>
              <a:gd name="connsiteY3" fmla="*/ 1352566 h 1352566"/>
              <a:gd name="connsiteX4" fmla="*/ 0 w 1434969"/>
              <a:gd name="connsiteY4" fmla="*/ 354503 h 1352566"/>
              <a:gd name="connsiteX5" fmla="*/ 354503 w 1434969"/>
              <a:gd name="connsiteY5" fmla="*/ 0 h 135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34969" h="1352566">
                <a:moveTo>
                  <a:pt x="354503" y="0"/>
                </a:moveTo>
                <a:lnTo>
                  <a:pt x="1434969" y="0"/>
                </a:lnTo>
                <a:lnTo>
                  <a:pt x="1434969" y="1352566"/>
                </a:lnTo>
                <a:lnTo>
                  <a:pt x="0" y="1352566"/>
                </a:lnTo>
                <a:lnTo>
                  <a:pt x="0" y="354503"/>
                </a:lnTo>
                <a:cubicBezTo>
                  <a:pt x="0" y="158716"/>
                  <a:pt x="158716" y="0"/>
                  <a:pt x="35450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219625-A6DC-AE90-EE89-0008CD5351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43487" y="6405740"/>
            <a:ext cx="110537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defTabSz="457200"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606062"/>
                </a:solidFill>
                <a:latin typeface="Segoe UI Semilight"/>
              </a:rPr>
              <a:t>This document is to be considered confidential and proprietary. © 2022 Navitus Health Solutions, LLC</a:t>
            </a:r>
          </a:p>
        </p:txBody>
      </p:sp>
    </p:spTree>
    <p:extLst>
      <p:ext uri="{BB962C8B-B14F-4D97-AF65-F5344CB8AC3E}">
        <p14:creationId xmlns:p14="http://schemas.microsoft.com/office/powerpoint/2010/main" val="252885237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3534639"/>
            <a:ext cx="10363200" cy="542755"/>
          </a:xfrm>
        </p:spPr>
        <p:txBody>
          <a:bodyPr anchor="b" anchorCtr="0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Add Divider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271" y="6249628"/>
            <a:ext cx="2745373" cy="462026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1" y="4097710"/>
            <a:ext cx="10363199" cy="498373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2200" baseline="0">
                <a:solidFill>
                  <a:srgbClr val="606062"/>
                </a:solidFill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79646915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lumns - Subhea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81437"/>
            <a:ext cx="5181600" cy="4564898"/>
          </a:xfrm>
        </p:spPr>
        <p:txBody>
          <a:bodyPr/>
          <a:lstStyle>
            <a:lvl1pPr>
              <a:defRPr>
                <a:solidFill>
                  <a:srgbClr val="606062"/>
                </a:solidFill>
              </a:defRPr>
            </a:lvl1pPr>
            <a:lvl2pPr>
              <a:defRPr>
                <a:solidFill>
                  <a:srgbClr val="606062"/>
                </a:solidFill>
              </a:defRPr>
            </a:lvl2pPr>
            <a:lvl3pPr>
              <a:defRPr>
                <a:solidFill>
                  <a:srgbClr val="606062"/>
                </a:solidFill>
              </a:defRPr>
            </a:lvl3pPr>
            <a:lvl4pPr>
              <a:defRPr>
                <a:solidFill>
                  <a:srgbClr val="606062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81437"/>
            <a:ext cx="5175251" cy="4564898"/>
          </a:xfrm>
        </p:spPr>
        <p:txBody>
          <a:bodyPr/>
          <a:lstStyle>
            <a:lvl1pPr>
              <a:defRPr>
                <a:solidFill>
                  <a:srgbClr val="606062"/>
                </a:solidFill>
              </a:defRPr>
            </a:lvl1pPr>
            <a:lvl2pPr>
              <a:defRPr>
                <a:solidFill>
                  <a:srgbClr val="606062"/>
                </a:solidFill>
              </a:defRPr>
            </a:lvl2pPr>
            <a:lvl3pPr>
              <a:defRPr>
                <a:solidFill>
                  <a:srgbClr val="606062"/>
                </a:solidFill>
              </a:defRPr>
            </a:lvl3pPr>
            <a:lvl4pPr>
              <a:defRPr>
                <a:solidFill>
                  <a:srgbClr val="606062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2627" y="6564796"/>
            <a:ext cx="306863" cy="2932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375293"/>
            <a:ext cx="10515600" cy="586780"/>
          </a:xfrm>
        </p:spPr>
        <p:txBody>
          <a:bodyPr anchor="b" anchorCtr="0">
            <a:normAutofit/>
          </a:bodyPr>
          <a:lstStyle>
            <a:lvl1pPr>
              <a:defRPr sz="300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271" y="6249628"/>
            <a:ext cx="2745373" cy="462026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728408" y="6603676"/>
            <a:ext cx="27224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5F6062"/>
                </a:solidFill>
                <a:latin typeface="Segoe UI Semilight"/>
                <a:ea typeface="+mn-ea"/>
              </a:rPr>
              <a:t>Confidential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70789" y="6611120"/>
            <a:ext cx="331659" cy="192303"/>
          </a:xfrm>
          <a:prstGeom prst="rect">
            <a:avLst/>
          </a:prstGeom>
          <a:noFill/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BB6D073-23E4-4C42-AC2A-A4DA312BAFA4}" type="slidenum">
              <a:rPr lang="en-US" sz="800" smtClean="0">
                <a:solidFill>
                  <a:prstClr val="white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sz="800">
              <a:solidFill>
                <a:prstClr val="white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1" y="980861"/>
            <a:ext cx="10515600" cy="363537"/>
          </a:xfrm>
        </p:spPr>
        <p:txBody>
          <a:bodyPr anchor="t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400429423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50" progId="TCLayout.ActiveDocument.1">
                  <p:embed/>
                </p:oleObj>
              </mc:Choice>
              <mc:Fallback>
                <p:oleObj name="think-cell Slid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37472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4">
            <a:extLst>
              <a:ext uri="{FF2B5EF4-FFF2-40B4-BE49-F238E27FC236}">
                <a16:creationId xmlns:a16="http://schemas.microsoft.com/office/drawing/2014/main" id="{59A0B498-5301-28B4-AACA-0E6563F7345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84000" y="6480001"/>
            <a:ext cx="5124933" cy="143565"/>
          </a:xfrm>
        </p:spPr>
        <p:txBody>
          <a:bodyPr lIns="0" tIns="0" rIns="0" bIns="0"/>
          <a:lstStyle>
            <a:lvl1pPr>
              <a:defRPr sz="933" b="0" i="0">
                <a:solidFill>
                  <a:srgbClr val="491E05"/>
                </a:solidFill>
                <a:latin typeface="Poppins"/>
                <a:cs typeface="Poppins"/>
              </a:defRPr>
            </a:lvl1pPr>
          </a:lstStyle>
          <a:p>
            <a:pPr marL="16933">
              <a:spcBef>
                <a:spcPts val="240"/>
              </a:spcBef>
            </a:pPr>
            <a:r>
              <a:rPr lang="en-GB" spc="-13"/>
              <a:t>Presentation</a:t>
            </a:r>
            <a:r>
              <a:rPr lang="en-GB" spc="53"/>
              <a:t> </a:t>
            </a:r>
            <a:r>
              <a:rPr lang="en-GB" spc="-13"/>
              <a:t>title</a:t>
            </a:r>
            <a:r>
              <a:rPr lang="en-GB" spc="53"/>
              <a:t> </a:t>
            </a:r>
            <a:r>
              <a:rPr lang="en-GB" spc="-13"/>
              <a:t>here</a:t>
            </a:r>
            <a:r>
              <a:rPr lang="en-GB" spc="247"/>
              <a:t>  </a:t>
            </a:r>
            <a:r>
              <a:rPr lang="en-GB" spc="-13"/>
              <a:t>Date</a:t>
            </a:r>
            <a:r>
              <a:rPr lang="en-GB" spc="247"/>
              <a:t>  </a:t>
            </a:r>
            <a:r>
              <a:rPr lang="en-GB" spc="-13"/>
              <a:t>©Octapharma</a:t>
            </a:r>
            <a:r>
              <a:rPr lang="en-GB" spc="247"/>
              <a:t>  </a:t>
            </a:r>
            <a:r>
              <a:rPr lang="en-GB" spc="7"/>
              <a:t>[Confidential]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1400ECE5-C4A1-D430-CAEC-1A14D8E0BB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520001" y="6480001"/>
            <a:ext cx="276860" cy="143565"/>
          </a:xfrm>
        </p:spPr>
        <p:txBody>
          <a:bodyPr lIns="0" tIns="0" rIns="0" bIns="0"/>
          <a:lstStyle>
            <a:lvl1pPr algn="r">
              <a:defRPr sz="933" b="1" i="0">
                <a:solidFill>
                  <a:srgbClr val="3D2019"/>
                </a:solidFill>
                <a:latin typeface="Poppins"/>
                <a:cs typeface="Poppins"/>
              </a:defRPr>
            </a:lvl1pPr>
          </a:lstStyle>
          <a:p>
            <a:pPr marL="50799">
              <a:spcBef>
                <a:spcPts val="240"/>
              </a:spcBef>
            </a:pPr>
            <a:fld id="{81D60167-4931-47E6-BA6A-407CBD079E47}" type="slidenum">
              <a:rPr lang="en-GB" spc="40" smtClean="0"/>
              <a:pPr marL="50799">
                <a:spcBef>
                  <a:spcPts val="240"/>
                </a:spcBef>
              </a:pPr>
              <a:t>‹#›</a:t>
            </a:fld>
            <a:endParaRPr lang="en-GB" spc="40"/>
          </a:p>
        </p:txBody>
      </p:sp>
    </p:spTree>
    <p:extLst>
      <p:ext uri="{BB962C8B-B14F-4D97-AF65-F5344CB8AC3E}">
        <p14:creationId xmlns:p14="http://schemas.microsoft.com/office/powerpoint/2010/main" val="6963315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0DA7158-47DF-AD17-9F89-E7F6CA95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5" y="0"/>
            <a:ext cx="10922000" cy="711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04A3B-FDCA-62BD-D10F-B3C090AC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75" y="6542706"/>
            <a:ext cx="472440" cy="154181"/>
          </a:xfrm>
        </p:spPr>
        <p:txBody>
          <a:bodyPr/>
          <a:lstStyle/>
          <a:p>
            <a:fld id="{A1386E00-FEB9-4948-8786-D40D5ED0BD9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CB6BF7-4B11-FD2F-3BC6-2849DBFDB37D}"/>
              </a:ext>
            </a:extLst>
          </p:cNvPr>
          <p:cNvCxnSpPr>
            <a:cxnSpLocks/>
          </p:cNvCxnSpPr>
          <p:nvPr userDrawn="1"/>
        </p:nvCxnSpPr>
        <p:spPr>
          <a:xfrm>
            <a:off x="3175" y="6829425"/>
            <a:ext cx="12188825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70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tags" Target="../tags/tag1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oleObject" Target="../embeddings/oleObject1.bin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14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ED1BD22-2756-D74D-D6B3-9EDFE303C7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2"/>
            </p:custDataLst>
            <p:extLst>
              <p:ext uri="{D42A27DB-BD31-4B8C-83A1-F6EECF244321}">
                <p14:modId xmlns:p14="http://schemas.microsoft.com/office/powerpoint/2010/main" val="1216602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3" imgW="360" imgH="360" progId="TCLayout.ActiveDocument.1">
                  <p:embed/>
                </p:oleObj>
              </mc:Choice>
              <mc:Fallback>
                <p:oleObj name="think-cell Slide" r:id="rId113" imgW="360" imgH="36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D1BD22-2756-D74D-D6B3-9EDFE303C7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23359-79EE-D1D0-7FE5-31FEB4107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83129"/>
            <a:ext cx="9761220" cy="427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E31AB-D69E-2B19-B5A0-4106B04F5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680" y="1253330"/>
            <a:ext cx="11376660" cy="4873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E2A736-E7E7-3366-36A2-EE74201960A3}"/>
              </a:ext>
            </a:extLst>
          </p:cNvPr>
          <p:cNvSpPr txBox="1">
            <a:spLocks/>
          </p:cNvSpPr>
          <p:nvPr userDrawn="1"/>
        </p:nvSpPr>
        <p:spPr>
          <a:xfrm>
            <a:off x="9983259" y="640974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C38B3-2825-4737-BA8F-BECAE3FFC27C}" type="slidenum">
              <a:rPr lang="en-US" sz="1200" smtClean="0">
                <a:solidFill>
                  <a:schemeClr val="tx2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pPr/>
              <a:t>‹#›</a:t>
            </a:fld>
            <a:endParaRPr lang="en-US" sz="1200">
              <a:solidFill>
                <a:schemeClr val="tx2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5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811" r:id="rId1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rgbClr val="5F6062"/>
          </a:soli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rgbClr val="5F6062"/>
          </a:soli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egoe UI Semibold" panose="020B0702040204020203" pitchFamily="34" charset="0"/>
        <a:buChar char="□"/>
        <a:defRPr sz="2000" kern="1200">
          <a:solidFill>
            <a:srgbClr val="5F6062"/>
          </a:soli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Segoe UI Black" panose="020B0A02040204020203" pitchFamily="34" charset="0"/>
        <a:buChar char="­"/>
        <a:defRPr sz="1800" kern="1200">
          <a:solidFill>
            <a:srgbClr val="5F6062"/>
          </a:soli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bg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rgbClr val="5F6062"/>
          </a:soli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8.png"/><Relationship Id="rId7" Type="http://schemas.openxmlformats.org/officeDocument/2006/relationships/image" Target="../media/image5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5" Type="http://schemas.openxmlformats.org/officeDocument/2006/relationships/image" Target="../media/image53.png"/><Relationship Id="rId10" Type="http://schemas.openxmlformats.org/officeDocument/2006/relationships/image" Target="../media/image60.png"/><Relationship Id="rId4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53.png"/><Relationship Id="rId3" Type="http://schemas.openxmlformats.org/officeDocument/2006/relationships/image" Target="../media/image61.png"/><Relationship Id="rId7" Type="http://schemas.openxmlformats.org/officeDocument/2006/relationships/image" Target="../media/image59.png"/><Relationship Id="rId12" Type="http://schemas.openxmlformats.org/officeDocument/2006/relationships/image" Target="../media/image66.png"/><Relationship Id="rId17" Type="http://schemas.openxmlformats.org/officeDocument/2006/relationships/image" Target="../media/image68.png"/><Relationship Id="rId2" Type="http://schemas.openxmlformats.org/officeDocument/2006/relationships/image" Target="../media/image54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51.png"/><Relationship Id="rId5" Type="http://schemas.openxmlformats.org/officeDocument/2006/relationships/image" Target="../media/image62.png"/><Relationship Id="rId15" Type="http://schemas.openxmlformats.org/officeDocument/2006/relationships/image" Target="../media/image67.png"/><Relationship Id="rId10" Type="http://schemas.openxmlformats.org/officeDocument/2006/relationships/image" Target="../media/image65.jpeg"/><Relationship Id="rId4" Type="http://schemas.openxmlformats.org/officeDocument/2006/relationships/image" Target="../media/image50.png"/><Relationship Id="rId9" Type="http://schemas.openxmlformats.org/officeDocument/2006/relationships/image" Target="../media/image64.png"/><Relationship Id="rId1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11" Type="http://schemas.openxmlformats.org/officeDocument/2006/relationships/image" Target="../media/image78.jpeg"/><Relationship Id="rId5" Type="http://schemas.openxmlformats.org/officeDocument/2006/relationships/image" Target="../media/image72.png"/><Relationship Id="rId15" Type="http://schemas.openxmlformats.org/officeDocument/2006/relationships/image" Target="../media/image82.sv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DLH Consumption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UI Semilight"/>
                <a:cs typeface="Segoe UI Semilight"/>
              </a:rPr>
              <a:t>Target State</a:t>
            </a:r>
          </a:p>
          <a:p>
            <a:r>
              <a:rPr lang="en-US">
                <a:latin typeface="Segoe UI Semilight"/>
                <a:cs typeface="Segoe UI Semilight"/>
              </a:rPr>
              <a:t>2/16/2026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F518-E543-DE64-8518-C49CD32F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92FF-A124-D71E-1961-67EA745E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Overview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5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D83E6-115C-3F0D-D80A-5E4330753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Organizational demand for data has diversified and intensified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- analytics, operational services, streaming, and AI now coexist.</a:t>
            </a:r>
          </a:p>
          <a:p>
            <a:pPr>
              <a:spcBef>
                <a:spcPts val="1800"/>
              </a:spcBef>
            </a:pPr>
            <a:r>
              <a:rPr lang="en-US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Modern data consumers expect ready-to-use, supported data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- quality, documentation, clear ownership, and predictable access; data discovery cannot be a scavenger hunt.</a:t>
            </a:r>
          </a:p>
          <a:p>
            <a:pPr>
              <a:spcBef>
                <a:spcPts val="1800"/>
              </a:spcBef>
            </a:pPr>
            <a:r>
              <a:rPr lang="en-US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 single EDW “gold” is no longer sufficient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- different consumers require different shapes, latencies, and delivery mechanisms.</a:t>
            </a:r>
          </a:p>
          <a:p>
            <a:pPr>
              <a:spcBef>
                <a:spcPts val="1800"/>
              </a:spcBef>
            </a:pPr>
            <a:r>
              <a:rPr lang="en-US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 consumption architecture enables multiple governed “golds” 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- APIs, streaming data, AI/RAG access, curated datasets, and EDW/</a:t>
            </a:r>
            <a:r>
              <a:rPr lang="en-US" err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datamarts</a:t>
            </a:r>
            <a:r>
              <a:rPr lang="en-US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 — all sourced from enterprise CDMs.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B39C34-87C2-D57C-BC78-08004DD2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Why a Consumption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7913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FAE9-3212-2D3D-70FF-DBA8C4A3B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1501A-4C42-11FC-7BDD-E3CA1C1A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 Consumption Architecture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821E5-0758-1F2C-03A9-9312C7B14238}"/>
              </a:ext>
            </a:extLst>
          </p:cNvPr>
          <p:cNvSpPr/>
          <p:nvPr/>
        </p:nvSpPr>
        <p:spPr>
          <a:xfrm>
            <a:off x="621665" y="5060731"/>
            <a:ext cx="10664631" cy="137948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/>
              <a:t>Enterprise Data Platform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164BA4-BF52-4FA5-AF9D-AC29E66705B9}"/>
              </a:ext>
            </a:extLst>
          </p:cNvPr>
          <p:cNvSpPr/>
          <p:nvPr/>
        </p:nvSpPr>
        <p:spPr>
          <a:xfrm>
            <a:off x="1224083" y="5428999"/>
            <a:ext cx="3789352" cy="339084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SOURCES INGRESS TO  CDMs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F99096-2CF5-BE67-4AD6-1858EE7AD098}"/>
              </a:ext>
            </a:extLst>
          </p:cNvPr>
          <p:cNvSpPr/>
          <p:nvPr/>
        </p:nvSpPr>
        <p:spPr>
          <a:xfrm>
            <a:off x="6635588" y="5428999"/>
            <a:ext cx="3789352" cy="339084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PRODUCTS EGRESS FROM CDMs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4568D463-21CE-5BD9-5FC1-0A1B4355451C}"/>
              </a:ext>
            </a:extLst>
          </p:cNvPr>
          <p:cNvSpPr/>
          <p:nvPr/>
        </p:nvSpPr>
        <p:spPr>
          <a:xfrm>
            <a:off x="5386396" y="5613484"/>
            <a:ext cx="1128507" cy="691256"/>
          </a:xfrm>
          <a:prstGeom prst="can">
            <a:avLst>
              <a:gd name="adj" fmla="val 1812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CDMs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E665C35-415D-03AF-B4C3-B10E41C161B0}"/>
              </a:ext>
            </a:extLst>
          </p:cNvPr>
          <p:cNvSpPr/>
          <p:nvPr/>
        </p:nvSpPr>
        <p:spPr>
          <a:xfrm>
            <a:off x="1224083" y="5675586"/>
            <a:ext cx="4083670" cy="567058"/>
          </a:xfrm>
          <a:prstGeom prst="rightArrow">
            <a:avLst>
              <a:gd name="adj1" fmla="val 68856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</a:rPr>
              <a:t>Ingest Architecture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4448D01-36BC-131C-F20A-FA18216CD53E}"/>
              </a:ext>
            </a:extLst>
          </p:cNvPr>
          <p:cNvSpPr/>
          <p:nvPr/>
        </p:nvSpPr>
        <p:spPr>
          <a:xfrm>
            <a:off x="6635588" y="5675583"/>
            <a:ext cx="4083670" cy="567058"/>
          </a:xfrm>
          <a:prstGeom prst="rightArrow">
            <a:avLst>
              <a:gd name="adj1" fmla="val 68856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</a:rPr>
              <a:t>Consumption Architecture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7298DAE0-7E05-505C-DD5B-CA431546DD4E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13135" y="873939"/>
            <a:ext cx="11026196" cy="384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The modern data platform emphasizes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egress from Enterprise CDMs to multiple consumables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 — data is delivered, not just stored.</a:t>
            </a:r>
          </a:p>
          <a:p>
            <a:pPr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The architectural approach becomes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consumer-centric rather than source-centric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 — shifting from a traditional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Left-to-Right (source-driven)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 model to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Right-to-Left (consumer-driven)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 strategy.</a:t>
            </a:r>
          </a:p>
          <a:p>
            <a:pPr eaLnBrk="0" fontAlgn="base" hangingPunct="0">
              <a:spcBef>
                <a:spcPts val="180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Consumption architecture defines the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services, contracts, and patterns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latin typeface="Aptos" panose="020B0004020202020204" pitchFamily="34" charset="0"/>
              </a:rPr>
              <a:t> that transform governed CDMs into fit-for-purpose data products.</a:t>
            </a:r>
          </a:p>
        </p:txBody>
      </p:sp>
    </p:spTree>
    <p:extLst>
      <p:ext uri="{BB962C8B-B14F-4D97-AF65-F5344CB8AC3E}">
        <p14:creationId xmlns:p14="http://schemas.microsoft.com/office/powerpoint/2010/main" val="217314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F4EA46B7-5FD6-4FF2-23D9-5533221569D3}"/>
              </a:ext>
            </a:extLst>
          </p:cNvPr>
          <p:cNvGrpSpPr/>
          <p:nvPr/>
        </p:nvGrpSpPr>
        <p:grpSpPr>
          <a:xfrm>
            <a:off x="755780" y="4889242"/>
            <a:ext cx="9927771" cy="1959332"/>
            <a:chOff x="755780" y="5129734"/>
            <a:chExt cx="9927771" cy="1718839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D6D9A3F-2AEA-0798-3DAD-2415F8800F28}"/>
                </a:ext>
              </a:extLst>
            </p:cNvPr>
            <p:cNvSpPr/>
            <p:nvPr/>
          </p:nvSpPr>
          <p:spPr>
            <a:xfrm>
              <a:off x="755780" y="5129734"/>
              <a:ext cx="9918440" cy="1549379"/>
            </a:xfrm>
            <a:prstGeom prst="roundRect">
              <a:avLst/>
            </a:prstGeom>
            <a:solidFill>
              <a:srgbClr val="E1F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D2D3C21-0572-2D3C-BF4C-351D1441B9F9}"/>
                </a:ext>
              </a:extLst>
            </p:cNvPr>
            <p:cNvSpPr/>
            <p:nvPr/>
          </p:nvSpPr>
          <p:spPr>
            <a:xfrm>
              <a:off x="765111" y="6424377"/>
              <a:ext cx="9918440" cy="424196"/>
            </a:xfrm>
            <a:prstGeom prst="rect">
              <a:avLst/>
            </a:prstGeom>
            <a:solidFill>
              <a:srgbClr val="E1F0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DFB36-4268-FE1C-EA39-01D55020C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5078" y="934752"/>
            <a:ext cx="11207750" cy="3384514"/>
          </a:xfrm>
        </p:spPr>
        <p:txBody>
          <a:bodyPr>
            <a:normAutofit fontScale="77500" lnSpcReduction="20000"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Implement consumption through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Data Products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— governed, deployable units of data delivery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Align Data Products to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Enterprise Standard CDMs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to ensure consistency and reuse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Separate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Core Data Products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(CDM-aligned, reusable) from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Use Case Data Products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(purpose-built compositions)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Apply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Consumption Rules &amp; Configurable Functions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consistently across products (quality, filtering, aggregation, security)</a:t>
            </a:r>
          </a:p>
          <a:p>
            <a:pPr eaLnBrk="0" fontAlgn="base" hangingPunct="0">
              <a:spcBef>
                <a:spcPts val="1200"/>
              </a:spcBef>
              <a:spcAft>
                <a:spcPct val="0"/>
              </a:spcAft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Deliver fit-for-purpose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</a:rPr>
              <a:t>Consumables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 (</a:t>
            </a:r>
            <a:r>
              <a:rPr lang="en-US" altLang="en-US" err="1">
                <a:solidFill>
                  <a:schemeClr val="tx1"/>
                </a:solidFill>
                <a:latin typeface="Arial" panose="020B0604020202020204" pitchFamily="34" charset="0"/>
              </a:rPr>
              <a:t>datamarts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</a:rPr>
              <a:t>, extracts, APIs, AI-ready datasets)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AD9848-8D30-8DE3-A461-702E58517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to Implement a Consumption Architecture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2C22666-9EE4-90B3-9B45-31397BD7657D}"/>
              </a:ext>
            </a:extLst>
          </p:cNvPr>
          <p:cNvGrpSpPr/>
          <p:nvPr/>
        </p:nvGrpSpPr>
        <p:grpSpPr>
          <a:xfrm>
            <a:off x="868272" y="5178847"/>
            <a:ext cx="9676572" cy="1549382"/>
            <a:chOff x="1540076" y="4353187"/>
            <a:chExt cx="9676572" cy="2042587"/>
          </a:xfrm>
        </p:grpSpPr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CB4B4ED6-2583-E8CC-FFB0-5A5B37EC2BAD}"/>
                </a:ext>
              </a:extLst>
            </p:cNvPr>
            <p:cNvSpPr/>
            <p:nvPr/>
          </p:nvSpPr>
          <p:spPr>
            <a:xfrm>
              <a:off x="1856793" y="5066178"/>
              <a:ext cx="649436" cy="302786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2C464F3A-0175-7449-A1B8-2A9076E8F6F8}"/>
                </a:ext>
              </a:extLst>
            </p:cNvPr>
            <p:cNvSpPr/>
            <p:nvPr/>
          </p:nvSpPr>
          <p:spPr>
            <a:xfrm>
              <a:off x="1856793" y="5541823"/>
              <a:ext cx="649435" cy="302786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Source</a:t>
              </a:r>
            </a:p>
          </p:txBody>
        </p:sp>
        <p:sp>
          <p:nvSpPr>
            <p:cNvPr id="7" name="Cylinder 6">
              <a:extLst>
                <a:ext uri="{FF2B5EF4-FFF2-40B4-BE49-F238E27FC236}">
                  <a16:creationId xmlns:a16="http://schemas.microsoft.com/office/drawing/2014/main" id="{CBCE7367-BD2E-3843-0356-7F02A68462C9}"/>
                </a:ext>
              </a:extLst>
            </p:cNvPr>
            <p:cNvSpPr/>
            <p:nvPr/>
          </p:nvSpPr>
          <p:spPr>
            <a:xfrm>
              <a:off x="1856793" y="5982910"/>
              <a:ext cx="649435" cy="302786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Source</a:t>
              </a:r>
            </a:p>
          </p:txBody>
        </p:sp>
        <p:pic>
          <p:nvPicPr>
            <p:cNvPr id="8" name="Graphic 7" descr="Monitor with solid fill">
              <a:extLst>
                <a:ext uri="{FF2B5EF4-FFF2-40B4-BE49-F238E27FC236}">
                  <a16:creationId xmlns:a16="http://schemas.microsoft.com/office/drawing/2014/main" id="{DB7636DE-2D89-8F52-FDCF-EF44B4BE2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13999" y="5419016"/>
              <a:ext cx="548400" cy="548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B45490-D782-92BC-A1DE-C7E454AEB517}"/>
                </a:ext>
              </a:extLst>
            </p:cNvPr>
            <p:cNvSpPr txBox="1"/>
            <p:nvPr/>
          </p:nvSpPr>
          <p:spPr>
            <a:xfrm>
              <a:off x="1540076" y="4445521"/>
              <a:ext cx="1282867" cy="344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Segoe UI Semilight"/>
                  <a:ea typeface="+mn-ea"/>
                  <a:cs typeface="Segoe UI Semilight"/>
                </a:rPr>
                <a:t>Source Systems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10FACE-2CBF-3E21-07AC-BBCE74D2439F}"/>
                </a:ext>
              </a:extLst>
            </p:cNvPr>
            <p:cNvSpPr txBox="1"/>
            <p:nvPr/>
          </p:nvSpPr>
          <p:spPr>
            <a:xfrm>
              <a:off x="6576021" y="4353188"/>
              <a:ext cx="1660113" cy="56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Segoe UI Semilight"/>
                  <a:ea typeface="+mn-ea"/>
                  <a:cs typeface="Segoe UI Semilight"/>
                </a:rPr>
                <a:t>CDM Aligned Core Data Products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8285DE-FF60-2C38-ABFF-B2BF32FBE89C}"/>
                </a:ext>
              </a:extLst>
            </p:cNvPr>
            <p:cNvSpPr txBox="1"/>
            <p:nvPr/>
          </p:nvSpPr>
          <p:spPr>
            <a:xfrm>
              <a:off x="10263984" y="4445511"/>
              <a:ext cx="952664" cy="344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Segoe UI Semilight"/>
                  <a:ea typeface="+mn-ea"/>
                  <a:cs typeface="Segoe UI Semilight"/>
                </a:rPr>
                <a:t>Use Case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1FB259-0B93-AB0E-2BFE-AD6F1F9EDC56}"/>
                </a:ext>
              </a:extLst>
            </p:cNvPr>
            <p:cNvSpPr txBox="1"/>
            <p:nvPr/>
          </p:nvSpPr>
          <p:spPr>
            <a:xfrm>
              <a:off x="8471400" y="4353187"/>
              <a:ext cx="1271899" cy="56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Segoe UI Semilight"/>
                  <a:ea typeface="+mn-ea"/>
                  <a:cs typeface="Segoe UI Semilight"/>
                </a:rPr>
                <a:t>Use Case Data Product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13B5D18-62CF-C200-C34D-286EE0FA308D}"/>
                </a:ext>
              </a:extLst>
            </p:cNvPr>
            <p:cNvCxnSpPr>
              <a:cxnSpLocks/>
            </p:cNvCxnSpPr>
            <p:nvPr/>
          </p:nvCxnSpPr>
          <p:spPr>
            <a:xfrm>
              <a:off x="2643865" y="5269144"/>
              <a:ext cx="1412069" cy="3095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04FBA8-6E94-CCCA-3D50-4F8B5D9D1354}"/>
                </a:ext>
              </a:extLst>
            </p:cNvPr>
            <p:cNvCxnSpPr>
              <a:cxnSpLocks/>
            </p:cNvCxnSpPr>
            <p:nvPr/>
          </p:nvCxnSpPr>
          <p:spPr>
            <a:xfrm>
              <a:off x="2643865" y="5681869"/>
              <a:ext cx="1412069" cy="226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A47C62F-4BFA-7662-912F-58BFE9E2E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3153" y="5817544"/>
              <a:ext cx="1432781" cy="298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6E2A5F-B3E2-B645-6D02-FBB7BB54102C}"/>
                </a:ext>
              </a:extLst>
            </p:cNvPr>
            <p:cNvCxnSpPr>
              <a:cxnSpLocks/>
            </p:cNvCxnSpPr>
            <p:nvPr/>
          </p:nvCxnSpPr>
          <p:spPr>
            <a:xfrm>
              <a:off x="7607678" y="5123527"/>
              <a:ext cx="957014" cy="3724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8F3EE2-4AC9-0036-29FF-BE53CE46D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5807" y="5693216"/>
              <a:ext cx="918885" cy="4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AC940D-4447-FCF2-4FC1-C2701315DC00}"/>
                </a:ext>
              </a:extLst>
            </p:cNvPr>
            <p:cNvCxnSpPr>
              <a:cxnSpLocks/>
            </p:cNvCxnSpPr>
            <p:nvPr/>
          </p:nvCxnSpPr>
          <p:spPr>
            <a:xfrm>
              <a:off x="9694464" y="5687263"/>
              <a:ext cx="461481" cy="11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104">
              <a:extLst>
                <a:ext uri="{FF2B5EF4-FFF2-40B4-BE49-F238E27FC236}">
                  <a16:creationId xmlns:a16="http://schemas.microsoft.com/office/drawing/2014/main" id="{FB239CA3-A5BC-848D-4A15-3C6358547F7E}"/>
                </a:ext>
              </a:extLst>
            </p:cNvPr>
            <p:cNvSpPr/>
            <p:nvPr/>
          </p:nvSpPr>
          <p:spPr>
            <a:xfrm>
              <a:off x="6894048" y="4968006"/>
              <a:ext cx="608847" cy="394511"/>
            </a:xfrm>
            <a:custGeom>
              <a:avLst/>
              <a:gdLst>
                <a:gd name="connsiteX0" fmla="*/ 642796 w 1086416"/>
                <a:gd name="connsiteY0" fmla="*/ 334978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42796 w 1086416"/>
                <a:gd name="connsiteY7" fmla="*/ 334978 h 832919"/>
                <a:gd name="connsiteX0" fmla="*/ 679010 w 1086416"/>
                <a:gd name="connsiteY0" fmla="*/ 325925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25925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60903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60903 w 1086416"/>
                <a:gd name="connsiteY7" fmla="*/ 316872 h 832919"/>
                <a:gd name="connsiteX0" fmla="*/ 660903 w 1086416"/>
                <a:gd name="connsiteY0" fmla="*/ 289711 h 805758"/>
                <a:gd name="connsiteX1" fmla="*/ 651849 w 1086416"/>
                <a:gd name="connsiteY1" fmla="*/ 108641 h 805758"/>
                <a:gd name="connsiteX2" fmla="*/ 1086416 w 1086416"/>
                <a:gd name="connsiteY2" fmla="*/ 398352 h 805758"/>
                <a:gd name="connsiteX3" fmla="*/ 651850 w 1086416"/>
                <a:gd name="connsiteY3" fmla="*/ 805758 h 805758"/>
                <a:gd name="connsiteX4" fmla="*/ 642796 w 1086416"/>
                <a:gd name="connsiteY4" fmla="*/ 470780 h 805758"/>
                <a:gd name="connsiteX5" fmla="*/ 0 w 1086416"/>
                <a:gd name="connsiteY5" fmla="*/ 796705 h 805758"/>
                <a:gd name="connsiteX6" fmla="*/ 9053 w 1086416"/>
                <a:gd name="connsiteY6" fmla="*/ 0 h 805758"/>
                <a:gd name="connsiteX7" fmla="*/ 660903 w 1086416"/>
                <a:gd name="connsiteY7" fmla="*/ 289711 h 805758"/>
                <a:gd name="connsiteX0" fmla="*/ 660903 w 1086416"/>
                <a:gd name="connsiteY0" fmla="*/ 289711 h 796705"/>
                <a:gd name="connsiteX1" fmla="*/ 651849 w 1086416"/>
                <a:gd name="connsiteY1" fmla="*/ 108641 h 796705"/>
                <a:gd name="connsiteX2" fmla="*/ 1086416 w 1086416"/>
                <a:gd name="connsiteY2" fmla="*/ 398352 h 796705"/>
                <a:gd name="connsiteX3" fmla="*/ 642796 w 1086416"/>
                <a:gd name="connsiteY3" fmla="*/ 660903 h 796705"/>
                <a:gd name="connsiteX4" fmla="*/ 642796 w 1086416"/>
                <a:gd name="connsiteY4" fmla="*/ 470780 h 796705"/>
                <a:gd name="connsiteX5" fmla="*/ 0 w 1086416"/>
                <a:gd name="connsiteY5" fmla="*/ 796705 h 796705"/>
                <a:gd name="connsiteX6" fmla="*/ 9053 w 1086416"/>
                <a:gd name="connsiteY6" fmla="*/ 0 h 796705"/>
                <a:gd name="connsiteX7" fmla="*/ 660903 w 1086416"/>
                <a:gd name="connsiteY7" fmla="*/ 289711 h 796705"/>
                <a:gd name="connsiteX0" fmla="*/ 660903 w 905347"/>
                <a:gd name="connsiteY0" fmla="*/ 289711 h 796705"/>
                <a:gd name="connsiteX1" fmla="*/ 651849 w 905347"/>
                <a:gd name="connsiteY1" fmla="*/ 108641 h 796705"/>
                <a:gd name="connsiteX2" fmla="*/ 905347 w 905347"/>
                <a:gd name="connsiteY2" fmla="*/ 407405 h 796705"/>
                <a:gd name="connsiteX3" fmla="*/ 642796 w 905347"/>
                <a:gd name="connsiteY3" fmla="*/ 660903 h 796705"/>
                <a:gd name="connsiteX4" fmla="*/ 642796 w 905347"/>
                <a:gd name="connsiteY4" fmla="*/ 470780 h 796705"/>
                <a:gd name="connsiteX5" fmla="*/ 0 w 905347"/>
                <a:gd name="connsiteY5" fmla="*/ 796705 h 796705"/>
                <a:gd name="connsiteX6" fmla="*/ 9053 w 905347"/>
                <a:gd name="connsiteY6" fmla="*/ 0 h 796705"/>
                <a:gd name="connsiteX7" fmla="*/ 660903 w 905347"/>
                <a:gd name="connsiteY7" fmla="*/ 289711 h 796705"/>
                <a:gd name="connsiteX0" fmla="*/ 737371 w 981815"/>
                <a:gd name="connsiteY0" fmla="*/ 289711 h 807313"/>
                <a:gd name="connsiteX1" fmla="*/ 728317 w 981815"/>
                <a:gd name="connsiteY1" fmla="*/ 108641 h 807313"/>
                <a:gd name="connsiteX2" fmla="*/ 981815 w 981815"/>
                <a:gd name="connsiteY2" fmla="*/ 407405 h 807313"/>
                <a:gd name="connsiteX3" fmla="*/ 719264 w 981815"/>
                <a:gd name="connsiteY3" fmla="*/ 660903 h 807313"/>
                <a:gd name="connsiteX4" fmla="*/ 719264 w 981815"/>
                <a:gd name="connsiteY4" fmla="*/ 470780 h 807313"/>
                <a:gd name="connsiteX5" fmla="*/ 76468 w 981815"/>
                <a:gd name="connsiteY5" fmla="*/ 796705 h 807313"/>
                <a:gd name="connsiteX6" fmla="*/ 85521 w 981815"/>
                <a:gd name="connsiteY6" fmla="*/ 0 h 807313"/>
                <a:gd name="connsiteX7" fmla="*/ 737371 w 981815"/>
                <a:gd name="connsiteY7" fmla="*/ 289711 h 807313"/>
                <a:gd name="connsiteX0" fmla="*/ 696694 w 941138"/>
                <a:gd name="connsiteY0" fmla="*/ 289711 h 816582"/>
                <a:gd name="connsiteX1" fmla="*/ 687640 w 941138"/>
                <a:gd name="connsiteY1" fmla="*/ 108641 h 816582"/>
                <a:gd name="connsiteX2" fmla="*/ 941138 w 941138"/>
                <a:gd name="connsiteY2" fmla="*/ 407405 h 816582"/>
                <a:gd name="connsiteX3" fmla="*/ 678587 w 941138"/>
                <a:gd name="connsiteY3" fmla="*/ 660903 h 816582"/>
                <a:gd name="connsiteX4" fmla="*/ 678587 w 941138"/>
                <a:gd name="connsiteY4" fmla="*/ 470780 h 816582"/>
                <a:gd name="connsiteX5" fmla="*/ 35791 w 941138"/>
                <a:gd name="connsiteY5" fmla="*/ 796705 h 816582"/>
                <a:gd name="connsiteX6" fmla="*/ 44844 w 941138"/>
                <a:gd name="connsiteY6" fmla="*/ 0 h 816582"/>
                <a:gd name="connsiteX7" fmla="*/ 696694 w 941138"/>
                <a:gd name="connsiteY7" fmla="*/ 289711 h 816582"/>
                <a:gd name="connsiteX0" fmla="*/ 707101 w 951545"/>
                <a:gd name="connsiteY0" fmla="*/ 289711 h 797976"/>
                <a:gd name="connsiteX1" fmla="*/ 698047 w 951545"/>
                <a:gd name="connsiteY1" fmla="*/ 108641 h 797976"/>
                <a:gd name="connsiteX2" fmla="*/ 951545 w 951545"/>
                <a:gd name="connsiteY2" fmla="*/ 407405 h 797976"/>
                <a:gd name="connsiteX3" fmla="*/ 688994 w 951545"/>
                <a:gd name="connsiteY3" fmla="*/ 660903 h 797976"/>
                <a:gd name="connsiteX4" fmla="*/ 688994 w 951545"/>
                <a:gd name="connsiteY4" fmla="*/ 470780 h 797976"/>
                <a:gd name="connsiteX5" fmla="*/ 46198 w 951545"/>
                <a:gd name="connsiteY5" fmla="*/ 796705 h 797976"/>
                <a:gd name="connsiteX6" fmla="*/ 55251 w 951545"/>
                <a:gd name="connsiteY6" fmla="*/ 0 h 797976"/>
                <a:gd name="connsiteX7" fmla="*/ 707101 w 951545"/>
                <a:gd name="connsiteY7" fmla="*/ 289711 h 797976"/>
                <a:gd name="connsiteX0" fmla="*/ 707101 w 951545"/>
                <a:gd name="connsiteY0" fmla="*/ 289711 h 806997"/>
                <a:gd name="connsiteX1" fmla="*/ 698047 w 951545"/>
                <a:gd name="connsiteY1" fmla="*/ 108641 h 806997"/>
                <a:gd name="connsiteX2" fmla="*/ 951545 w 951545"/>
                <a:gd name="connsiteY2" fmla="*/ 407405 h 806997"/>
                <a:gd name="connsiteX3" fmla="*/ 688994 w 951545"/>
                <a:gd name="connsiteY3" fmla="*/ 660903 h 806997"/>
                <a:gd name="connsiteX4" fmla="*/ 688994 w 951545"/>
                <a:gd name="connsiteY4" fmla="*/ 470780 h 806997"/>
                <a:gd name="connsiteX5" fmla="*/ 46198 w 951545"/>
                <a:gd name="connsiteY5" fmla="*/ 805759 h 806997"/>
                <a:gd name="connsiteX6" fmla="*/ 55251 w 951545"/>
                <a:gd name="connsiteY6" fmla="*/ 0 h 806997"/>
                <a:gd name="connsiteX7" fmla="*/ 707101 w 951545"/>
                <a:gd name="connsiteY7" fmla="*/ 289711 h 806997"/>
                <a:gd name="connsiteX0" fmla="*/ 713534 w 957978"/>
                <a:gd name="connsiteY0" fmla="*/ 289711 h 825044"/>
                <a:gd name="connsiteX1" fmla="*/ 704480 w 957978"/>
                <a:gd name="connsiteY1" fmla="*/ 108641 h 825044"/>
                <a:gd name="connsiteX2" fmla="*/ 957978 w 957978"/>
                <a:gd name="connsiteY2" fmla="*/ 407405 h 825044"/>
                <a:gd name="connsiteX3" fmla="*/ 695427 w 957978"/>
                <a:gd name="connsiteY3" fmla="*/ 660903 h 825044"/>
                <a:gd name="connsiteX4" fmla="*/ 695427 w 957978"/>
                <a:gd name="connsiteY4" fmla="*/ 470780 h 825044"/>
                <a:gd name="connsiteX5" fmla="*/ 34524 w 957978"/>
                <a:gd name="connsiteY5" fmla="*/ 823866 h 825044"/>
                <a:gd name="connsiteX6" fmla="*/ 61684 w 957978"/>
                <a:gd name="connsiteY6" fmla="*/ 0 h 825044"/>
                <a:gd name="connsiteX7" fmla="*/ 713534 w 957978"/>
                <a:gd name="connsiteY7" fmla="*/ 289711 h 825044"/>
                <a:gd name="connsiteX0" fmla="*/ 837387 w 1081831"/>
                <a:gd name="connsiteY0" fmla="*/ 289711 h 876824"/>
                <a:gd name="connsiteX1" fmla="*/ 828333 w 1081831"/>
                <a:gd name="connsiteY1" fmla="*/ 108641 h 876824"/>
                <a:gd name="connsiteX2" fmla="*/ 1081831 w 1081831"/>
                <a:gd name="connsiteY2" fmla="*/ 407405 h 876824"/>
                <a:gd name="connsiteX3" fmla="*/ 819280 w 1081831"/>
                <a:gd name="connsiteY3" fmla="*/ 660903 h 876824"/>
                <a:gd name="connsiteX4" fmla="*/ 819280 w 1081831"/>
                <a:gd name="connsiteY4" fmla="*/ 470780 h 876824"/>
                <a:gd name="connsiteX5" fmla="*/ 158377 w 1081831"/>
                <a:gd name="connsiteY5" fmla="*/ 823866 h 876824"/>
                <a:gd name="connsiteX6" fmla="*/ 185537 w 1081831"/>
                <a:gd name="connsiteY6" fmla="*/ 0 h 876824"/>
                <a:gd name="connsiteX7" fmla="*/ 837387 w 1081831"/>
                <a:gd name="connsiteY7" fmla="*/ 289711 h 876824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42323 w 1086767"/>
                <a:gd name="connsiteY0" fmla="*/ 289711 h 823866"/>
                <a:gd name="connsiteX1" fmla="*/ 833269 w 1086767"/>
                <a:gd name="connsiteY1" fmla="*/ 108641 h 823866"/>
                <a:gd name="connsiteX2" fmla="*/ 1086767 w 1086767"/>
                <a:gd name="connsiteY2" fmla="*/ 407405 h 823866"/>
                <a:gd name="connsiteX3" fmla="*/ 824216 w 1086767"/>
                <a:gd name="connsiteY3" fmla="*/ 660903 h 823866"/>
                <a:gd name="connsiteX4" fmla="*/ 824216 w 1086767"/>
                <a:gd name="connsiteY4" fmla="*/ 470780 h 823866"/>
                <a:gd name="connsiteX5" fmla="*/ 163313 w 1086767"/>
                <a:gd name="connsiteY5" fmla="*/ 823866 h 823866"/>
                <a:gd name="connsiteX6" fmla="*/ 190473 w 1086767"/>
                <a:gd name="connsiteY6" fmla="*/ 0 h 823866"/>
                <a:gd name="connsiteX7" fmla="*/ 842323 w 1086767"/>
                <a:gd name="connsiteY7" fmla="*/ 289711 h 823866"/>
                <a:gd name="connsiteX0" fmla="*/ 858475 w 1102919"/>
                <a:gd name="connsiteY0" fmla="*/ 289711 h 823866"/>
                <a:gd name="connsiteX1" fmla="*/ 849421 w 1102919"/>
                <a:gd name="connsiteY1" fmla="*/ 108641 h 823866"/>
                <a:gd name="connsiteX2" fmla="*/ 1102919 w 1102919"/>
                <a:gd name="connsiteY2" fmla="*/ 407405 h 823866"/>
                <a:gd name="connsiteX3" fmla="*/ 840368 w 1102919"/>
                <a:gd name="connsiteY3" fmla="*/ 660903 h 823866"/>
                <a:gd name="connsiteX4" fmla="*/ 840368 w 1102919"/>
                <a:gd name="connsiteY4" fmla="*/ 470780 h 823866"/>
                <a:gd name="connsiteX5" fmla="*/ 179465 w 1102919"/>
                <a:gd name="connsiteY5" fmla="*/ 823866 h 823866"/>
                <a:gd name="connsiteX6" fmla="*/ 206625 w 1102919"/>
                <a:gd name="connsiteY6" fmla="*/ 0 h 823866"/>
                <a:gd name="connsiteX7" fmla="*/ 858475 w 1102919"/>
                <a:gd name="connsiteY7" fmla="*/ 289711 h 823866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68066 w 1112510"/>
                <a:gd name="connsiteY0" fmla="*/ 289711 h 760491"/>
                <a:gd name="connsiteX1" fmla="*/ 859012 w 1112510"/>
                <a:gd name="connsiteY1" fmla="*/ 108641 h 760491"/>
                <a:gd name="connsiteX2" fmla="*/ 1112510 w 1112510"/>
                <a:gd name="connsiteY2" fmla="*/ 407405 h 760491"/>
                <a:gd name="connsiteX3" fmla="*/ 849959 w 1112510"/>
                <a:gd name="connsiteY3" fmla="*/ 660903 h 760491"/>
                <a:gd name="connsiteX4" fmla="*/ 849959 w 1112510"/>
                <a:gd name="connsiteY4" fmla="*/ 470780 h 760491"/>
                <a:gd name="connsiteX5" fmla="*/ 170949 w 1112510"/>
                <a:gd name="connsiteY5" fmla="*/ 760491 h 760491"/>
                <a:gd name="connsiteX6" fmla="*/ 216216 w 1112510"/>
                <a:gd name="connsiteY6" fmla="*/ 0 h 760491"/>
                <a:gd name="connsiteX7" fmla="*/ 868066 w 1112510"/>
                <a:gd name="connsiteY7" fmla="*/ 289711 h 760491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49362 w 1093806"/>
                <a:gd name="connsiteY0" fmla="*/ 289711 h 769545"/>
                <a:gd name="connsiteX1" fmla="*/ 840308 w 1093806"/>
                <a:gd name="connsiteY1" fmla="*/ 108641 h 769545"/>
                <a:gd name="connsiteX2" fmla="*/ 1093806 w 1093806"/>
                <a:gd name="connsiteY2" fmla="*/ 407405 h 769545"/>
                <a:gd name="connsiteX3" fmla="*/ 831255 w 1093806"/>
                <a:gd name="connsiteY3" fmla="*/ 660903 h 769545"/>
                <a:gd name="connsiteX4" fmla="*/ 831255 w 1093806"/>
                <a:gd name="connsiteY4" fmla="*/ 470780 h 769545"/>
                <a:gd name="connsiteX5" fmla="*/ 188459 w 1093806"/>
                <a:gd name="connsiteY5" fmla="*/ 769545 h 769545"/>
                <a:gd name="connsiteX6" fmla="*/ 197512 w 1093806"/>
                <a:gd name="connsiteY6" fmla="*/ 0 h 769545"/>
                <a:gd name="connsiteX7" fmla="*/ 849362 w 1093806"/>
                <a:gd name="connsiteY7" fmla="*/ 289711 h 769545"/>
                <a:gd name="connsiteX0" fmla="*/ 840369 w 1084813"/>
                <a:gd name="connsiteY0" fmla="*/ 253497 h 733331"/>
                <a:gd name="connsiteX1" fmla="*/ 831315 w 1084813"/>
                <a:gd name="connsiteY1" fmla="*/ 72427 h 733331"/>
                <a:gd name="connsiteX2" fmla="*/ 1084813 w 1084813"/>
                <a:gd name="connsiteY2" fmla="*/ 371191 h 733331"/>
                <a:gd name="connsiteX3" fmla="*/ 822262 w 1084813"/>
                <a:gd name="connsiteY3" fmla="*/ 624689 h 733331"/>
                <a:gd name="connsiteX4" fmla="*/ 822262 w 1084813"/>
                <a:gd name="connsiteY4" fmla="*/ 434566 h 733331"/>
                <a:gd name="connsiteX5" fmla="*/ 179466 w 1084813"/>
                <a:gd name="connsiteY5" fmla="*/ 733331 h 733331"/>
                <a:gd name="connsiteX6" fmla="*/ 206626 w 1084813"/>
                <a:gd name="connsiteY6" fmla="*/ 0 h 733331"/>
                <a:gd name="connsiteX7" fmla="*/ 840369 w 1084813"/>
                <a:gd name="connsiteY7" fmla="*/ 253497 h 733331"/>
                <a:gd name="connsiteX0" fmla="*/ 850463 w 1094907"/>
                <a:gd name="connsiteY0" fmla="*/ 253497 h 733331"/>
                <a:gd name="connsiteX1" fmla="*/ 841409 w 1094907"/>
                <a:gd name="connsiteY1" fmla="*/ 72427 h 733331"/>
                <a:gd name="connsiteX2" fmla="*/ 1094907 w 1094907"/>
                <a:gd name="connsiteY2" fmla="*/ 371191 h 733331"/>
                <a:gd name="connsiteX3" fmla="*/ 832356 w 1094907"/>
                <a:gd name="connsiteY3" fmla="*/ 624689 h 733331"/>
                <a:gd name="connsiteX4" fmla="*/ 832356 w 1094907"/>
                <a:gd name="connsiteY4" fmla="*/ 434566 h 733331"/>
                <a:gd name="connsiteX5" fmla="*/ 189560 w 1094907"/>
                <a:gd name="connsiteY5" fmla="*/ 733331 h 733331"/>
                <a:gd name="connsiteX6" fmla="*/ 216720 w 1094907"/>
                <a:gd name="connsiteY6" fmla="*/ 0 h 733331"/>
                <a:gd name="connsiteX7" fmla="*/ 850463 w 1094907"/>
                <a:gd name="connsiteY7" fmla="*/ 253497 h 733331"/>
                <a:gd name="connsiteX0" fmla="*/ 847098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47098 w 1091542"/>
                <a:gd name="connsiteY7" fmla="*/ 253497 h 733331"/>
                <a:gd name="connsiteX0" fmla="*/ 838045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1993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4709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52396 w 1105893"/>
                <a:gd name="connsiteY0" fmla="*/ 289711 h 769545"/>
                <a:gd name="connsiteX1" fmla="*/ 861449 w 1105893"/>
                <a:gd name="connsiteY1" fmla="*/ 108641 h 769545"/>
                <a:gd name="connsiteX2" fmla="*/ 1105893 w 1105893"/>
                <a:gd name="connsiteY2" fmla="*/ 407405 h 769545"/>
                <a:gd name="connsiteX3" fmla="*/ 843342 w 1105893"/>
                <a:gd name="connsiteY3" fmla="*/ 660903 h 769545"/>
                <a:gd name="connsiteX4" fmla="*/ 843342 w 1105893"/>
                <a:gd name="connsiteY4" fmla="*/ 470780 h 769545"/>
                <a:gd name="connsiteX5" fmla="*/ 200546 w 1105893"/>
                <a:gd name="connsiteY5" fmla="*/ 769545 h 769545"/>
                <a:gd name="connsiteX6" fmla="*/ 200546 w 1105893"/>
                <a:gd name="connsiteY6" fmla="*/ 0 h 769545"/>
                <a:gd name="connsiteX7" fmla="*/ 852396 w 1105893"/>
                <a:gd name="connsiteY7" fmla="*/ 289711 h 769545"/>
                <a:gd name="connsiteX0" fmla="*/ 834715 w 1088212"/>
                <a:gd name="connsiteY0" fmla="*/ 289711 h 769545"/>
                <a:gd name="connsiteX1" fmla="*/ 843768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34715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23411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23411 w 1088212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60903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47581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6163 w 1074007"/>
                <a:gd name="connsiteY0" fmla="*/ 289711 h 756223"/>
                <a:gd name="connsiteX1" fmla="*/ 829563 w 1074007"/>
                <a:gd name="connsiteY1" fmla="*/ 108641 h 756223"/>
                <a:gd name="connsiteX2" fmla="*/ 1074007 w 1074007"/>
                <a:gd name="connsiteY2" fmla="*/ 380762 h 756223"/>
                <a:gd name="connsiteX3" fmla="*/ 828413 w 1074007"/>
                <a:gd name="connsiteY3" fmla="*/ 647581 h 756223"/>
                <a:gd name="connsiteX4" fmla="*/ 828413 w 1074007"/>
                <a:gd name="connsiteY4" fmla="*/ 470780 h 756223"/>
                <a:gd name="connsiteX5" fmla="*/ 179964 w 1074007"/>
                <a:gd name="connsiteY5" fmla="*/ 756223 h 756223"/>
                <a:gd name="connsiteX6" fmla="*/ 185617 w 1074007"/>
                <a:gd name="connsiteY6" fmla="*/ 0 h 756223"/>
                <a:gd name="connsiteX7" fmla="*/ 826163 w 1074007"/>
                <a:gd name="connsiteY7" fmla="*/ 289711 h 75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4007" h="756223">
                  <a:moveTo>
                    <a:pt x="826163" y="289711"/>
                  </a:moveTo>
                  <a:cubicBezTo>
                    <a:pt x="826163" y="229354"/>
                    <a:pt x="829563" y="168998"/>
                    <a:pt x="829563" y="108641"/>
                  </a:cubicBezTo>
                  <a:lnTo>
                    <a:pt x="1074007" y="380762"/>
                  </a:lnTo>
                  <a:lnTo>
                    <a:pt x="828413" y="647581"/>
                  </a:lnTo>
                  <a:lnTo>
                    <a:pt x="828413" y="470780"/>
                  </a:lnTo>
                  <a:cubicBezTo>
                    <a:pt x="721280" y="493414"/>
                    <a:pt x="510415" y="579680"/>
                    <a:pt x="179964" y="756223"/>
                  </a:cubicBezTo>
                  <a:cubicBezTo>
                    <a:pt x="-52409" y="505745"/>
                    <a:pt x="-69387" y="256515"/>
                    <a:pt x="185617" y="0"/>
                  </a:cubicBezTo>
                  <a:lnTo>
                    <a:pt x="826163" y="2897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kern="0">
                  <a:solidFill>
                    <a:schemeClr val="bg1"/>
                  </a:solidFill>
                  <a:latin typeface="Aptos" panose="020B0004020202020204" pitchFamily="34" charset="0"/>
                </a:rPr>
                <a:t>Core</a:t>
              </a: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22" name="Freeform 104">
              <a:extLst>
                <a:ext uri="{FF2B5EF4-FFF2-40B4-BE49-F238E27FC236}">
                  <a16:creationId xmlns:a16="http://schemas.microsoft.com/office/drawing/2014/main" id="{1862EDE7-0D3E-9FF1-F649-432FD27935D1}"/>
                </a:ext>
              </a:extLst>
            </p:cNvPr>
            <p:cNvSpPr/>
            <p:nvPr/>
          </p:nvSpPr>
          <p:spPr>
            <a:xfrm>
              <a:off x="8704670" y="5452482"/>
              <a:ext cx="805361" cy="504164"/>
            </a:xfrm>
            <a:custGeom>
              <a:avLst/>
              <a:gdLst>
                <a:gd name="connsiteX0" fmla="*/ 642796 w 1086416"/>
                <a:gd name="connsiteY0" fmla="*/ 334978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42796 w 1086416"/>
                <a:gd name="connsiteY7" fmla="*/ 334978 h 832919"/>
                <a:gd name="connsiteX0" fmla="*/ 679010 w 1086416"/>
                <a:gd name="connsiteY0" fmla="*/ 325925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25925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60903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60903 w 1086416"/>
                <a:gd name="connsiteY7" fmla="*/ 316872 h 832919"/>
                <a:gd name="connsiteX0" fmla="*/ 660903 w 1086416"/>
                <a:gd name="connsiteY0" fmla="*/ 289711 h 805758"/>
                <a:gd name="connsiteX1" fmla="*/ 651849 w 1086416"/>
                <a:gd name="connsiteY1" fmla="*/ 108641 h 805758"/>
                <a:gd name="connsiteX2" fmla="*/ 1086416 w 1086416"/>
                <a:gd name="connsiteY2" fmla="*/ 398352 h 805758"/>
                <a:gd name="connsiteX3" fmla="*/ 651850 w 1086416"/>
                <a:gd name="connsiteY3" fmla="*/ 805758 h 805758"/>
                <a:gd name="connsiteX4" fmla="*/ 642796 w 1086416"/>
                <a:gd name="connsiteY4" fmla="*/ 470780 h 805758"/>
                <a:gd name="connsiteX5" fmla="*/ 0 w 1086416"/>
                <a:gd name="connsiteY5" fmla="*/ 796705 h 805758"/>
                <a:gd name="connsiteX6" fmla="*/ 9053 w 1086416"/>
                <a:gd name="connsiteY6" fmla="*/ 0 h 805758"/>
                <a:gd name="connsiteX7" fmla="*/ 660903 w 1086416"/>
                <a:gd name="connsiteY7" fmla="*/ 289711 h 805758"/>
                <a:gd name="connsiteX0" fmla="*/ 660903 w 1086416"/>
                <a:gd name="connsiteY0" fmla="*/ 289711 h 796705"/>
                <a:gd name="connsiteX1" fmla="*/ 651849 w 1086416"/>
                <a:gd name="connsiteY1" fmla="*/ 108641 h 796705"/>
                <a:gd name="connsiteX2" fmla="*/ 1086416 w 1086416"/>
                <a:gd name="connsiteY2" fmla="*/ 398352 h 796705"/>
                <a:gd name="connsiteX3" fmla="*/ 642796 w 1086416"/>
                <a:gd name="connsiteY3" fmla="*/ 660903 h 796705"/>
                <a:gd name="connsiteX4" fmla="*/ 642796 w 1086416"/>
                <a:gd name="connsiteY4" fmla="*/ 470780 h 796705"/>
                <a:gd name="connsiteX5" fmla="*/ 0 w 1086416"/>
                <a:gd name="connsiteY5" fmla="*/ 796705 h 796705"/>
                <a:gd name="connsiteX6" fmla="*/ 9053 w 1086416"/>
                <a:gd name="connsiteY6" fmla="*/ 0 h 796705"/>
                <a:gd name="connsiteX7" fmla="*/ 660903 w 1086416"/>
                <a:gd name="connsiteY7" fmla="*/ 289711 h 796705"/>
                <a:gd name="connsiteX0" fmla="*/ 660903 w 905347"/>
                <a:gd name="connsiteY0" fmla="*/ 289711 h 796705"/>
                <a:gd name="connsiteX1" fmla="*/ 651849 w 905347"/>
                <a:gd name="connsiteY1" fmla="*/ 108641 h 796705"/>
                <a:gd name="connsiteX2" fmla="*/ 905347 w 905347"/>
                <a:gd name="connsiteY2" fmla="*/ 407405 h 796705"/>
                <a:gd name="connsiteX3" fmla="*/ 642796 w 905347"/>
                <a:gd name="connsiteY3" fmla="*/ 660903 h 796705"/>
                <a:gd name="connsiteX4" fmla="*/ 642796 w 905347"/>
                <a:gd name="connsiteY4" fmla="*/ 470780 h 796705"/>
                <a:gd name="connsiteX5" fmla="*/ 0 w 905347"/>
                <a:gd name="connsiteY5" fmla="*/ 796705 h 796705"/>
                <a:gd name="connsiteX6" fmla="*/ 9053 w 905347"/>
                <a:gd name="connsiteY6" fmla="*/ 0 h 796705"/>
                <a:gd name="connsiteX7" fmla="*/ 660903 w 905347"/>
                <a:gd name="connsiteY7" fmla="*/ 289711 h 796705"/>
                <a:gd name="connsiteX0" fmla="*/ 737371 w 981815"/>
                <a:gd name="connsiteY0" fmla="*/ 289711 h 807313"/>
                <a:gd name="connsiteX1" fmla="*/ 728317 w 981815"/>
                <a:gd name="connsiteY1" fmla="*/ 108641 h 807313"/>
                <a:gd name="connsiteX2" fmla="*/ 981815 w 981815"/>
                <a:gd name="connsiteY2" fmla="*/ 407405 h 807313"/>
                <a:gd name="connsiteX3" fmla="*/ 719264 w 981815"/>
                <a:gd name="connsiteY3" fmla="*/ 660903 h 807313"/>
                <a:gd name="connsiteX4" fmla="*/ 719264 w 981815"/>
                <a:gd name="connsiteY4" fmla="*/ 470780 h 807313"/>
                <a:gd name="connsiteX5" fmla="*/ 76468 w 981815"/>
                <a:gd name="connsiteY5" fmla="*/ 796705 h 807313"/>
                <a:gd name="connsiteX6" fmla="*/ 85521 w 981815"/>
                <a:gd name="connsiteY6" fmla="*/ 0 h 807313"/>
                <a:gd name="connsiteX7" fmla="*/ 737371 w 981815"/>
                <a:gd name="connsiteY7" fmla="*/ 289711 h 807313"/>
                <a:gd name="connsiteX0" fmla="*/ 696694 w 941138"/>
                <a:gd name="connsiteY0" fmla="*/ 289711 h 816582"/>
                <a:gd name="connsiteX1" fmla="*/ 687640 w 941138"/>
                <a:gd name="connsiteY1" fmla="*/ 108641 h 816582"/>
                <a:gd name="connsiteX2" fmla="*/ 941138 w 941138"/>
                <a:gd name="connsiteY2" fmla="*/ 407405 h 816582"/>
                <a:gd name="connsiteX3" fmla="*/ 678587 w 941138"/>
                <a:gd name="connsiteY3" fmla="*/ 660903 h 816582"/>
                <a:gd name="connsiteX4" fmla="*/ 678587 w 941138"/>
                <a:gd name="connsiteY4" fmla="*/ 470780 h 816582"/>
                <a:gd name="connsiteX5" fmla="*/ 35791 w 941138"/>
                <a:gd name="connsiteY5" fmla="*/ 796705 h 816582"/>
                <a:gd name="connsiteX6" fmla="*/ 44844 w 941138"/>
                <a:gd name="connsiteY6" fmla="*/ 0 h 816582"/>
                <a:gd name="connsiteX7" fmla="*/ 696694 w 941138"/>
                <a:gd name="connsiteY7" fmla="*/ 289711 h 816582"/>
                <a:gd name="connsiteX0" fmla="*/ 707101 w 951545"/>
                <a:gd name="connsiteY0" fmla="*/ 289711 h 797976"/>
                <a:gd name="connsiteX1" fmla="*/ 698047 w 951545"/>
                <a:gd name="connsiteY1" fmla="*/ 108641 h 797976"/>
                <a:gd name="connsiteX2" fmla="*/ 951545 w 951545"/>
                <a:gd name="connsiteY2" fmla="*/ 407405 h 797976"/>
                <a:gd name="connsiteX3" fmla="*/ 688994 w 951545"/>
                <a:gd name="connsiteY3" fmla="*/ 660903 h 797976"/>
                <a:gd name="connsiteX4" fmla="*/ 688994 w 951545"/>
                <a:gd name="connsiteY4" fmla="*/ 470780 h 797976"/>
                <a:gd name="connsiteX5" fmla="*/ 46198 w 951545"/>
                <a:gd name="connsiteY5" fmla="*/ 796705 h 797976"/>
                <a:gd name="connsiteX6" fmla="*/ 55251 w 951545"/>
                <a:gd name="connsiteY6" fmla="*/ 0 h 797976"/>
                <a:gd name="connsiteX7" fmla="*/ 707101 w 951545"/>
                <a:gd name="connsiteY7" fmla="*/ 289711 h 797976"/>
                <a:gd name="connsiteX0" fmla="*/ 707101 w 951545"/>
                <a:gd name="connsiteY0" fmla="*/ 289711 h 806997"/>
                <a:gd name="connsiteX1" fmla="*/ 698047 w 951545"/>
                <a:gd name="connsiteY1" fmla="*/ 108641 h 806997"/>
                <a:gd name="connsiteX2" fmla="*/ 951545 w 951545"/>
                <a:gd name="connsiteY2" fmla="*/ 407405 h 806997"/>
                <a:gd name="connsiteX3" fmla="*/ 688994 w 951545"/>
                <a:gd name="connsiteY3" fmla="*/ 660903 h 806997"/>
                <a:gd name="connsiteX4" fmla="*/ 688994 w 951545"/>
                <a:gd name="connsiteY4" fmla="*/ 470780 h 806997"/>
                <a:gd name="connsiteX5" fmla="*/ 46198 w 951545"/>
                <a:gd name="connsiteY5" fmla="*/ 805759 h 806997"/>
                <a:gd name="connsiteX6" fmla="*/ 55251 w 951545"/>
                <a:gd name="connsiteY6" fmla="*/ 0 h 806997"/>
                <a:gd name="connsiteX7" fmla="*/ 707101 w 951545"/>
                <a:gd name="connsiteY7" fmla="*/ 289711 h 806997"/>
                <a:gd name="connsiteX0" fmla="*/ 713534 w 957978"/>
                <a:gd name="connsiteY0" fmla="*/ 289711 h 825044"/>
                <a:gd name="connsiteX1" fmla="*/ 704480 w 957978"/>
                <a:gd name="connsiteY1" fmla="*/ 108641 h 825044"/>
                <a:gd name="connsiteX2" fmla="*/ 957978 w 957978"/>
                <a:gd name="connsiteY2" fmla="*/ 407405 h 825044"/>
                <a:gd name="connsiteX3" fmla="*/ 695427 w 957978"/>
                <a:gd name="connsiteY3" fmla="*/ 660903 h 825044"/>
                <a:gd name="connsiteX4" fmla="*/ 695427 w 957978"/>
                <a:gd name="connsiteY4" fmla="*/ 470780 h 825044"/>
                <a:gd name="connsiteX5" fmla="*/ 34524 w 957978"/>
                <a:gd name="connsiteY5" fmla="*/ 823866 h 825044"/>
                <a:gd name="connsiteX6" fmla="*/ 61684 w 957978"/>
                <a:gd name="connsiteY6" fmla="*/ 0 h 825044"/>
                <a:gd name="connsiteX7" fmla="*/ 713534 w 957978"/>
                <a:gd name="connsiteY7" fmla="*/ 289711 h 825044"/>
                <a:gd name="connsiteX0" fmla="*/ 837387 w 1081831"/>
                <a:gd name="connsiteY0" fmla="*/ 289711 h 876824"/>
                <a:gd name="connsiteX1" fmla="*/ 828333 w 1081831"/>
                <a:gd name="connsiteY1" fmla="*/ 108641 h 876824"/>
                <a:gd name="connsiteX2" fmla="*/ 1081831 w 1081831"/>
                <a:gd name="connsiteY2" fmla="*/ 407405 h 876824"/>
                <a:gd name="connsiteX3" fmla="*/ 819280 w 1081831"/>
                <a:gd name="connsiteY3" fmla="*/ 660903 h 876824"/>
                <a:gd name="connsiteX4" fmla="*/ 819280 w 1081831"/>
                <a:gd name="connsiteY4" fmla="*/ 470780 h 876824"/>
                <a:gd name="connsiteX5" fmla="*/ 158377 w 1081831"/>
                <a:gd name="connsiteY5" fmla="*/ 823866 h 876824"/>
                <a:gd name="connsiteX6" fmla="*/ 185537 w 1081831"/>
                <a:gd name="connsiteY6" fmla="*/ 0 h 876824"/>
                <a:gd name="connsiteX7" fmla="*/ 837387 w 1081831"/>
                <a:gd name="connsiteY7" fmla="*/ 289711 h 876824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42323 w 1086767"/>
                <a:gd name="connsiteY0" fmla="*/ 289711 h 823866"/>
                <a:gd name="connsiteX1" fmla="*/ 833269 w 1086767"/>
                <a:gd name="connsiteY1" fmla="*/ 108641 h 823866"/>
                <a:gd name="connsiteX2" fmla="*/ 1086767 w 1086767"/>
                <a:gd name="connsiteY2" fmla="*/ 407405 h 823866"/>
                <a:gd name="connsiteX3" fmla="*/ 824216 w 1086767"/>
                <a:gd name="connsiteY3" fmla="*/ 660903 h 823866"/>
                <a:gd name="connsiteX4" fmla="*/ 824216 w 1086767"/>
                <a:gd name="connsiteY4" fmla="*/ 470780 h 823866"/>
                <a:gd name="connsiteX5" fmla="*/ 163313 w 1086767"/>
                <a:gd name="connsiteY5" fmla="*/ 823866 h 823866"/>
                <a:gd name="connsiteX6" fmla="*/ 190473 w 1086767"/>
                <a:gd name="connsiteY6" fmla="*/ 0 h 823866"/>
                <a:gd name="connsiteX7" fmla="*/ 842323 w 1086767"/>
                <a:gd name="connsiteY7" fmla="*/ 289711 h 823866"/>
                <a:gd name="connsiteX0" fmla="*/ 858475 w 1102919"/>
                <a:gd name="connsiteY0" fmla="*/ 289711 h 823866"/>
                <a:gd name="connsiteX1" fmla="*/ 849421 w 1102919"/>
                <a:gd name="connsiteY1" fmla="*/ 108641 h 823866"/>
                <a:gd name="connsiteX2" fmla="*/ 1102919 w 1102919"/>
                <a:gd name="connsiteY2" fmla="*/ 407405 h 823866"/>
                <a:gd name="connsiteX3" fmla="*/ 840368 w 1102919"/>
                <a:gd name="connsiteY3" fmla="*/ 660903 h 823866"/>
                <a:gd name="connsiteX4" fmla="*/ 840368 w 1102919"/>
                <a:gd name="connsiteY4" fmla="*/ 470780 h 823866"/>
                <a:gd name="connsiteX5" fmla="*/ 179465 w 1102919"/>
                <a:gd name="connsiteY5" fmla="*/ 823866 h 823866"/>
                <a:gd name="connsiteX6" fmla="*/ 206625 w 1102919"/>
                <a:gd name="connsiteY6" fmla="*/ 0 h 823866"/>
                <a:gd name="connsiteX7" fmla="*/ 858475 w 1102919"/>
                <a:gd name="connsiteY7" fmla="*/ 289711 h 823866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68066 w 1112510"/>
                <a:gd name="connsiteY0" fmla="*/ 289711 h 760491"/>
                <a:gd name="connsiteX1" fmla="*/ 859012 w 1112510"/>
                <a:gd name="connsiteY1" fmla="*/ 108641 h 760491"/>
                <a:gd name="connsiteX2" fmla="*/ 1112510 w 1112510"/>
                <a:gd name="connsiteY2" fmla="*/ 407405 h 760491"/>
                <a:gd name="connsiteX3" fmla="*/ 849959 w 1112510"/>
                <a:gd name="connsiteY3" fmla="*/ 660903 h 760491"/>
                <a:gd name="connsiteX4" fmla="*/ 849959 w 1112510"/>
                <a:gd name="connsiteY4" fmla="*/ 470780 h 760491"/>
                <a:gd name="connsiteX5" fmla="*/ 170949 w 1112510"/>
                <a:gd name="connsiteY5" fmla="*/ 760491 h 760491"/>
                <a:gd name="connsiteX6" fmla="*/ 216216 w 1112510"/>
                <a:gd name="connsiteY6" fmla="*/ 0 h 760491"/>
                <a:gd name="connsiteX7" fmla="*/ 868066 w 1112510"/>
                <a:gd name="connsiteY7" fmla="*/ 289711 h 760491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49362 w 1093806"/>
                <a:gd name="connsiteY0" fmla="*/ 289711 h 769545"/>
                <a:gd name="connsiteX1" fmla="*/ 840308 w 1093806"/>
                <a:gd name="connsiteY1" fmla="*/ 108641 h 769545"/>
                <a:gd name="connsiteX2" fmla="*/ 1093806 w 1093806"/>
                <a:gd name="connsiteY2" fmla="*/ 407405 h 769545"/>
                <a:gd name="connsiteX3" fmla="*/ 831255 w 1093806"/>
                <a:gd name="connsiteY3" fmla="*/ 660903 h 769545"/>
                <a:gd name="connsiteX4" fmla="*/ 831255 w 1093806"/>
                <a:gd name="connsiteY4" fmla="*/ 470780 h 769545"/>
                <a:gd name="connsiteX5" fmla="*/ 188459 w 1093806"/>
                <a:gd name="connsiteY5" fmla="*/ 769545 h 769545"/>
                <a:gd name="connsiteX6" fmla="*/ 197512 w 1093806"/>
                <a:gd name="connsiteY6" fmla="*/ 0 h 769545"/>
                <a:gd name="connsiteX7" fmla="*/ 849362 w 1093806"/>
                <a:gd name="connsiteY7" fmla="*/ 289711 h 769545"/>
                <a:gd name="connsiteX0" fmla="*/ 840369 w 1084813"/>
                <a:gd name="connsiteY0" fmla="*/ 253497 h 733331"/>
                <a:gd name="connsiteX1" fmla="*/ 831315 w 1084813"/>
                <a:gd name="connsiteY1" fmla="*/ 72427 h 733331"/>
                <a:gd name="connsiteX2" fmla="*/ 1084813 w 1084813"/>
                <a:gd name="connsiteY2" fmla="*/ 371191 h 733331"/>
                <a:gd name="connsiteX3" fmla="*/ 822262 w 1084813"/>
                <a:gd name="connsiteY3" fmla="*/ 624689 h 733331"/>
                <a:gd name="connsiteX4" fmla="*/ 822262 w 1084813"/>
                <a:gd name="connsiteY4" fmla="*/ 434566 h 733331"/>
                <a:gd name="connsiteX5" fmla="*/ 179466 w 1084813"/>
                <a:gd name="connsiteY5" fmla="*/ 733331 h 733331"/>
                <a:gd name="connsiteX6" fmla="*/ 206626 w 1084813"/>
                <a:gd name="connsiteY6" fmla="*/ 0 h 733331"/>
                <a:gd name="connsiteX7" fmla="*/ 840369 w 1084813"/>
                <a:gd name="connsiteY7" fmla="*/ 253497 h 733331"/>
                <a:gd name="connsiteX0" fmla="*/ 850463 w 1094907"/>
                <a:gd name="connsiteY0" fmla="*/ 253497 h 733331"/>
                <a:gd name="connsiteX1" fmla="*/ 841409 w 1094907"/>
                <a:gd name="connsiteY1" fmla="*/ 72427 h 733331"/>
                <a:gd name="connsiteX2" fmla="*/ 1094907 w 1094907"/>
                <a:gd name="connsiteY2" fmla="*/ 371191 h 733331"/>
                <a:gd name="connsiteX3" fmla="*/ 832356 w 1094907"/>
                <a:gd name="connsiteY3" fmla="*/ 624689 h 733331"/>
                <a:gd name="connsiteX4" fmla="*/ 832356 w 1094907"/>
                <a:gd name="connsiteY4" fmla="*/ 434566 h 733331"/>
                <a:gd name="connsiteX5" fmla="*/ 189560 w 1094907"/>
                <a:gd name="connsiteY5" fmla="*/ 733331 h 733331"/>
                <a:gd name="connsiteX6" fmla="*/ 216720 w 1094907"/>
                <a:gd name="connsiteY6" fmla="*/ 0 h 733331"/>
                <a:gd name="connsiteX7" fmla="*/ 850463 w 1094907"/>
                <a:gd name="connsiteY7" fmla="*/ 253497 h 733331"/>
                <a:gd name="connsiteX0" fmla="*/ 847098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47098 w 1091542"/>
                <a:gd name="connsiteY7" fmla="*/ 253497 h 733331"/>
                <a:gd name="connsiteX0" fmla="*/ 838045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1993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4709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52396 w 1105893"/>
                <a:gd name="connsiteY0" fmla="*/ 289711 h 769545"/>
                <a:gd name="connsiteX1" fmla="*/ 861449 w 1105893"/>
                <a:gd name="connsiteY1" fmla="*/ 108641 h 769545"/>
                <a:gd name="connsiteX2" fmla="*/ 1105893 w 1105893"/>
                <a:gd name="connsiteY2" fmla="*/ 407405 h 769545"/>
                <a:gd name="connsiteX3" fmla="*/ 843342 w 1105893"/>
                <a:gd name="connsiteY3" fmla="*/ 660903 h 769545"/>
                <a:gd name="connsiteX4" fmla="*/ 843342 w 1105893"/>
                <a:gd name="connsiteY4" fmla="*/ 470780 h 769545"/>
                <a:gd name="connsiteX5" fmla="*/ 200546 w 1105893"/>
                <a:gd name="connsiteY5" fmla="*/ 769545 h 769545"/>
                <a:gd name="connsiteX6" fmla="*/ 200546 w 1105893"/>
                <a:gd name="connsiteY6" fmla="*/ 0 h 769545"/>
                <a:gd name="connsiteX7" fmla="*/ 852396 w 1105893"/>
                <a:gd name="connsiteY7" fmla="*/ 289711 h 769545"/>
                <a:gd name="connsiteX0" fmla="*/ 834715 w 1088212"/>
                <a:gd name="connsiteY0" fmla="*/ 289711 h 769545"/>
                <a:gd name="connsiteX1" fmla="*/ 843768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34715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23411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23411 w 1088212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60903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47581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6163 w 1074007"/>
                <a:gd name="connsiteY0" fmla="*/ 289711 h 756223"/>
                <a:gd name="connsiteX1" fmla="*/ 829563 w 1074007"/>
                <a:gd name="connsiteY1" fmla="*/ 108641 h 756223"/>
                <a:gd name="connsiteX2" fmla="*/ 1074007 w 1074007"/>
                <a:gd name="connsiteY2" fmla="*/ 380762 h 756223"/>
                <a:gd name="connsiteX3" fmla="*/ 828413 w 1074007"/>
                <a:gd name="connsiteY3" fmla="*/ 647581 h 756223"/>
                <a:gd name="connsiteX4" fmla="*/ 828413 w 1074007"/>
                <a:gd name="connsiteY4" fmla="*/ 470780 h 756223"/>
                <a:gd name="connsiteX5" fmla="*/ 179964 w 1074007"/>
                <a:gd name="connsiteY5" fmla="*/ 756223 h 756223"/>
                <a:gd name="connsiteX6" fmla="*/ 185617 w 1074007"/>
                <a:gd name="connsiteY6" fmla="*/ 0 h 756223"/>
                <a:gd name="connsiteX7" fmla="*/ 826163 w 1074007"/>
                <a:gd name="connsiteY7" fmla="*/ 289711 h 75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4007" h="756223">
                  <a:moveTo>
                    <a:pt x="826163" y="289711"/>
                  </a:moveTo>
                  <a:cubicBezTo>
                    <a:pt x="826163" y="229354"/>
                    <a:pt x="829563" y="168998"/>
                    <a:pt x="829563" y="108641"/>
                  </a:cubicBezTo>
                  <a:lnTo>
                    <a:pt x="1074007" y="380762"/>
                  </a:lnTo>
                  <a:lnTo>
                    <a:pt x="828413" y="647581"/>
                  </a:lnTo>
                  <a:lnTo>
                    <a:pt x="828413" y="470780"/>
                  </a:lnTo>
                  <a:cubicBezTo>
                    <a:pt x="721280" y="493414"/>
                    <a:pt x="510415" y="579680"/>
                    <a:pt x="179964" y="756223"/>
                  </a:cubicBezTo>
                  <a:cubicBezTo>
                    <a:pt x="-52409" y="505745"/>
                    <a:pt x="-69387" y="256515"/>
                    <a:pt x="185617" y="0"/>
                  </a:cubicBezTo>
                  <a:lnTo>
                    <a:pt x="826163" y="28971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 Case</a:t>
              </a:r>
            </a:p>
          </p:txBody>
        </p:sp>
        <p:sp>
          <p:nvSpPr>
            <p:cNvPr id="29" name="Cylinder 28">
              <a:extLst>
                <a:ext uri="{FF2B5EF4-FFF2-40B4-BE49-F238E27FC236}">
                  <a16:creationId xmlns:a16="http://schemas.microsoft.com/office/drawing/2014/main" id="{42F675FF-3689-21BF-D9F2-4ADE43C672E8}"/>
                </a:ext>
              </a:extLst>
            </p:cNvPr>
            <p:cNvSpPr/>
            <p:nvPr/>
          </p:nvSpPr>
          <p:spPr>
            <a:xfrm>
              <a:off x="4087987" y="5347588"/>
              <a:ext cx="1128507" cy="691256"/>
            </a:xfrm>
            <a:prstGeom prst="can">
              <a:avLst>
                <a:gd name="adj" fmla="val 18122"/>
              </a:avLst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CDMs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9DD8E72-B501-D116-3EFA-CD8B78C5C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0658" y="5103754"/>
              <a:ext cx="1402212" cy="4380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 104">
              <a:extLst>
                <a:ext uri="{FF2B5EF4-FFF2-40B4-BE49-F238E27FC236}">
                  <a16:creationId xmlns:a16="http://schemas.microsoft.com/office/drawing/2014/main" id="{7E3510C8-7D9F-1FD3-09B9-5AD658CF600E}"/>
                </a:ext>
              </a:extLst>
            </p:cNvPr>
            <p:cNvSpPr/>
            <p:nvPr/>
          </p:nvSpPr>
          <p:spPr>
            <a:xfrm>
              <a:off x="6907050" y="5495961"/>
              <a:ext cx="608847" cy="394511"/>
            </a:xfrm>
            <a:custGeom>
              <a:avLst/>
              <a:gdLst>
                <a:gd name="connsiteX0" fmla="*/ 642796 w 1086416"/>
                <a:gd name="connsiteY0" fmla="*/ 334978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42796 w 1086416"/>
                <a:gd name="connsiteY7" fmla="*/ 334978 h 832919"/>
                <a:gd name="connsiteX0" fmla="*/ 679010 w 1086416"/>
                <a:gd name="connsiteY0" fmla="*/ 325925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25925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60903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60903 w 1086416"/>
                <a:gd name="connsiteY7" fmla="*/ 316872 h 832919"/>
                <a:gd name="connsiteX0" fmla="*/ 660903 w 1086416"/>
                <a:gd name="connsiteY0" fmla="*/ 289711 h 805758"/>
                <a:gd name="connsiteX1" fmla="*/ 651849 w 1086416"/>
                <a:gd name="connsiteY1" fmla="*/ 108641 h 805758"/>
                <a:gd name="connsiteX2" fmla="*/ 1086416 w 1086416"/>
                <a:gd name="connsiteY2" fmla="*/ 398352 h 805758"/>
                <a:gd name="connsiteX3" fmla="*/ 651850 w 1086416"/>
                <a:gd name="connsiteY3" fmla="*/ 805758 h 805758"/>
                <a:gd name="connsiteX4" fmla="*/ 642796 w 1086416"/>
                <a:gd name="connsiteY4" fmla="*/ 470780 h 805758"/>
                <a:gd name="connsiteX5" fmla="*/ 0 w 1086416"/>
                <a:gd name="connsiteY5" fmla="*/ 796705 h 805758"/>
                <a:gd name="connsiteX6" fmla="*/ 9053 w 1086416"/>
                <a:gd name="connsiteY6" fmla="*/ 0 h 805758"/>
                <a:gd name="connsiteX7" fmla="*/ 660903 w 1086416"/>
                <a:gd name="connsiteY7" fmla="*/ 289711 h 805758"/>
                <a:gd name="connsiteX0" fmla="*/ 660903 w 1086416"/>
                <a:gd name="connsiteY0" fmla="*/ 289711 h 796705"/>
                <a:gd name="connsiteX1" fmla="*/ 651849 w 1086416"/>
                <a:gd name="connsiteY1" fmla="*/ 108641 h 796705"/>
                <a:gd name="connsiteX2" fmla="*/ 1086416 w 1086416"/>
                <a:gd name="connsiteY2" fmla="*/ 398352 h 796705"/>
                <a:gd name="connsiteX3" fmla="*/ 642796 w 1086416"/>
                <a:gd name="connsiteY3" fmla="*/ 660903 h 796705"/>
                <a:gd name="connsiteX4" fmla="*/ 642796 w 1086416"/>
                <a:gd name="connsiteY4" fmla="*/ 470780 h 796705"/>
                <a:gd name="connsiteX5" fmla="*/ 0 w 1086416"/>
                <a:gd name="connsiteY5" fmla="*/ 796705 h 796705"/>
                <a:gd name="connsiteX6" fmla="*/ 9053 w 1086416"/>
                <a:gd name="connsiteY6" fmla="*/ 0 h 796705"/>
                <a:gd name="connsiteX7" fmla="*/ 660903 w 1086416"/>
                <a:gd name="connsiteY7" fmla="*/ 289711 h 796705"/>
                <a:gd name="connsiteX0" fmla="*/ 660903 w 905347"/>
                <a:gd name="connsiteY0" fmla="*/ 289711 h 796705"/>
                <a:gd name="connsiteX1" fmla="*/ 651849 w 905347"/>
                <a:gd name="connsiteY1" fmla="*/ 108641 h 796705"/>
                <a:gd name="connsiteX2" fmla="*/ 905347 w 905347"/>
                <a:gd name="connsiteY2" fmla="*/ 407405 h 796705"/>
                <a:gd name="connsiteX3" fmla="*/ 642796 w 905347"/>
                <a:gd name="connsiteY3" fmla="*/ 660903 h 796705"/>
                <a:gd name="connsiteX4" fmla="*/ 642796 w 905347"/>
                <a:gd name="connsiteY4" fmla="*/ 470780 h 796705"/>
                <a:gd name="connsiteX5" fmla="*/ 0 w 905347"/>
                <a:gd name="connsiteY5" fmla="*/ 796705 h 796705"/>
                <a:gd name="connsiteX6" fmla="*/ 9053 w 905347"/>
                <a:gd name="connsiteY6" fmla="*/ 0 h 796705"/>
                <a:gd name="connsiteX7" fmla="*/ 660903 w 905347"/>
                <a:gd name="connsiteY7" fmla="*/ 289711 h 796705"/>
                <a:gd name="connsiteX0" fmla="*/ 737371 w 981815"/>
                <a:gd name="connsiteY0" fmla="*/ 289711 h 807313"/>
                <a:gd name="connsiteX1" fmla="*/ 728317 w 981815"/>
                <a:gd name="connsiteY1" fmla="*/ 108641 h 807313"/>
                <a:gd name="connsiteX2" fmla="*/ 981815 w 981815"/>
                <a:gd name="connsiteY2" fmla="*/ 407405 h 807313"/>
                <a:gd name="connsiteX3" fmla="*/ 719264 w 981815"/>
                <a:gd name="connsiteY3" fmla="*/ 660903 h 807313"/>
                <a:gd name="connsiteX4" fmla="*/ 719264 w 981815"/>
                <a:gd name="connsiteY4" fmla="*/ 470780 h 807313"/>
                <a:gd name="connsiteX5" fmla="*/ 76468 w 981815"/>
                <a:gd name="connsiteY5" fmla="*/ 796705 h 807313"/>
                <a:gd name="connsiteX6" fmla="*/ 85521 w 981815"/>
                <a:gd name="connsiteY6" fmla="*/ 0 h 807313"/>
                <a:gd name="connsiteX7" fmla="*/ 737371 w 981815"/>
                <a:gd name="connsiteY7" fmla="*/ 289711 h 807313"/>
                <a:gd name="connsiteX0" fmla="*/ 696694 w 941138"/>
                <a:gd name="connsiteY0" fmla="*/ 289711 h 816582"/>
                <a:gd name="connsiteX1" fmla="*/ 687640 w 941138"/>
                <a:gd name="connsiteY1" fmla="*/ 108641 h 816582"/>
                <a:gd name="connsiteX2" fmla="*/ 941138 w 941138"/>
                <a:gd name="connsiteY2" fmla="*/ 407405 h 816582"/>
                <a:gd name="connsiteX3" fmla="*/ 678587 w 941138"/>
                <a:gd name="connsiteY3" fmla="*/ 660903 h 816582"/>
                <a:gd name="connsiteX4" fmla="*/ 678587 w 941138"/>
                <a:gd name="connsiteY4" fmla="*/ 470780 h 816582"/>
                <a:gd name="connsiteX5" fmla="*/ 35791 w 941138"/>
                <a:gd name="connsiteY5" fmla="*/ 796705 h 816582"/>
                <a:gd name="connsiteX6" fmla="*/ 44844 w 941138"/>
                <a:gd name="connsiteY6" fmla="*/ 0 h 816582"/>
                <a:gd name="connsiteX7" fmla="*/ 696694 w 941138"/>
                <a:gd name="connsiteY7" fmla="*/ 289711 h 816582"/>
                <a:gd name="connsiteX0" fmla="*/ 707101 w 951545"/>
                <a:gd name="connsiteY0" fmla="*/ 289711 h 797976"/>
                <a:gd name="connsiteX1" fmla="*/ 698047 w 951545"/>
                <a:gd name="connsiteY1" fmla="*/ 108641 h 797976"/>
                <a:gd name="connsiteX2" fmla="*/ 951545 w 951545"/>
                <a:gd name="connsiteY2" fmla="*/ 407405 h 797976"/>
                <a:gd name="connsiteX3" fmla="*/ 688994 w 951545"/>
                <a:gd name="connsiteY3" fmla="*/ 660903 h 797976"/>
                <a:gd name="connsiteX4" fmla="*/ 688994 w 951545"/>
                <a:gd name="connsiteY4" fmla="*/ 470780 h 797976"/>
                <a:gd name="connsiteX5" fmla="*/ 46198 w 951545"/>
                <a:gd name="connsiteY5" fmla="*/ 796705 h 797976"/>
                <a:gd name="connsiteX6" fmla="*/ 55251 w 951545"/>
                <a:gd name="connsiteY6" fmla="*/ 0 h 797976"/>
                <a:gd name="connsiteX7" fmla="*/ 707101 w 951545"/>
                <a:gd name="connsiteY7" fmla="*/ 289711 h 797976"/>
                <a:gd name="connsiteX0" fmla="*/ 707101 w 951545"/>
                <a:gd name="connsiteY0" fmla="*/ 289711 h 806997"/>
                <a:gd name="connsiteX1" fmla="*/ 698047 w 951545"/>
                <a:gd name="connsiteY1" fmla="*/ 108641 h 806997"/>
                <a:gd name="connsiteX2" fmla="*/ 951545 w 951545"/>
                <a:gd name="connsiteY2" fmla="*/ 407405 h 806997"/>
                <a:gd name="connsiteX3" fmla="*/ 688994 w 951545"/>
                <a:gd name="connsiteY3" fmla="*/ 660903 h 806997"/>
                <a:gd name="connsiteX4" fmla="*/ 688994 w 951545"/>
                <a:gd name="connsiteY4" fmla="*/ 470780 h 806997"/>
                <a:gd name="connsiteX5" fmla="*/ 46198 w 951545"/>
                <a:gd name="connsiteY5" fmla="*/ 805759 h 806997"/>
                <a:gd name="connsiteX6" fmla="*/ 55251 w 951545"/>
                <a:gd name="connsiteY6" fmla="*/ 0 h 806997"/>
                <a:gd name="connsiteX7" fmla="*/ 707101 w 951545"/>
                <a:gd name="connsiteY7" fmla="*/ 289711 h 806997"/>
                <a:gd name="connsiteX0" fmla="*/ 713534 w 957978"/>
                <a:gd name="connsiteY0" fmla="*/ 289711 h 825044"/>
                <a:gd name="connsiteX1" fmla="*/ 704480 w 957978"/>
                <a:gd name="connsiteY1" fmla="*/ 108641 h 825044"/>
                <a:gd name="connsiteX2" fmla="*/ 957978 w 957978"/>
                <a:gd name="connsiteY2" fmla="*/ 407405 h 825044"/>
                <a:gd name="connsiteX3" fmla="*/ 695427 w 957978"/>
                <a:gd name="connsiteY3" fmla="*/ 660903 h 825044"/>
                <a:gd name="connsiteX4" fmla="*/ 695427 w 957978"/>
                <a:gd name="connsiteY4" fmla="*/ 470780 h 825044"/>
                <a:gd name="connsiteX5" fmla="*/ 34524 w 957978"/>
                <a:gd name="connsiteY5" fmla="*/ 823866 h 825044"/>
                <a:gd name="connsiteX6" fmla="*/ 61684 w 957978"/>
                <a:gd name="connsiteY6" fmla="*/ 0 h 825044"/>
                <a:gd name="connsiteX7" fmla="*/ 713534 w 957978"/>
                <a:gd name="connsiteY7" fmla="*/ 289711 h 825044"/>
                <a:gd name="connsiteX0" fmla="*/ 837387 w 1081831"/>
                <a:gd name="connsiteY0" fmla="*/ 289711 h 876824"/>
                <a:gd name="connsiteX1" fmla="*/ 828333 w 1081831"/>
                <a:gd name="connsiteY1" fmla="*/ 108641 h 876824"/>
                <a:gd name="connsiteX2" fmla="*/ 1081831 w 1081831"/>
                <a:gd name="connsiteY2" fmla="*/ 407405 h 876824"/>
                <a:gd name="connsiteX3" fmla="*/ 819280 w 1081831"/>
                <a:gd name="connsiteY3" fmla="*/ 660903 h 876824"/>
                <a:gd name="connsiteX4" fmla="*/ 819280 w 1081831"/>
                <a:gd name="connsiteY4" fmla="*/ 470780 h 876824"/>
                <a:gd name="connsiteX5" fmla="*/ 158377 w 1081831"/>
                <a:gd name="connsiteY5" fmla="*/ 823866 h 876824"/>
                <a:gd name="connsiteX6" fmla="*/ 185537 w 1081831"/>
                <a:gd name="connsiteY6" fmla="*/ 0 h 876824"/>
                <a:gd name="connsiteX7" fmla="*/ 837387 w 1081831"/>
                <a:gd name="connsiteY7" fmla="*/ 289711 h 876824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42323 w 1086767"/>
                <a:gd name="connsiteY0" fmla="*/ 289711 h 823866"/>
                <a:gd name="connsiteX1" fmla="*/ 833269 w 1086767"/>
                <a:gd name="connsiteY1" fmla="*/ 108641 h 823866"/>
                <a:gd name="connsiteX2" fmla="*/ 1086767 w 1086767"/>
                <a:gd name="connsiteY2" fmla="*/ 407405 h 823866"/>
                <a:gd name="connsiteX3" fmla="*/ 824216 w 1086767"/>
                <a:gd name="connsiteY3" fmla="*/ 660903 h 823866"/>
                <a:gd name="connsiteX4" fmla="*/ 824216 w 1086767"/>
                <a:gd name="connsiteY4" fmla="*/ 470780 h 823866"/>
                <a:gd name="connsiteX5" fmla="*/ 163313 w 1086767"/>
                <a:gd name="connsiteY5" fmla="*/ 823866 h 823866"/>
                <a:gd name="connsiteX6" fmla="*/ 190473 w 1086767"/>
                <a:gd name="connsiteY6" fmla="*/ 0 h 823866"/>
                <a:gd name="connsiteX7" fmla="*/ 842323 w 1086767"/>
                <a:gd name="connsiteY7" fmla="*/ 289711 h 823866"/>
                <a:gd name="connsiteX0" fmla="*/ 858475 w 1102919"/>
                <a:gd name="connsiteY0" fmla="*/ 289711 h 823866"/>
                <a:gd name="connsiteX1" fmla="*/ 849421 w 1102919"/>
                <a:gd name="connsiteY1" fmla="*/ 108641 h 823866"/>
                <a:gd name="connsiteX2" fmla="*/ 1102919 w 1102919"/>
                <a:gd name="connsiteY2" fmla="*/ 407405 h 823866"/>
                <a:gd name="connsiteX3" fmla="*/ 840368 w 1102919"/>
                <a:gd name="connsiteY3" fmla="*/ 660903 h 823866"/>
                <a:gd name="connsiteX4" fmla="*/ 840368 w 1102919"/>
                <a:gd name="connsiteY4" fmla="*/ 470780 h 823866"/>
                <a:gd name="connsiteX5" fmla="*/ 179465 w 1102919"/>
                <a:gd name="connsiteY5" fmla="*/ 823866 h 823866"/>
                <a:gd name="connsiteX6" fmla="*/ 206625 w 1102919"/>
                <a:gd name="connsiteY6" fmla="*/ 0 h 823866"/>
                <a:gd name="connsiteX7" fmla="*/ 858475 w 1102919"/>
                <a:gd name="connsiteY7" fmla="*/ 289711 h 823866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68066 w 1112510"/>
                <a:gd name="connsiteY0" fmla="*/ 289711 h 760491"/>
                <a:gd name="connsiteX1" fmla="*/ 859012 w 1112510"/>
                <a:gd name="connsiteY1" fmla="*/ 108641 h 760491"/>
                <a:gd name="connsiteX2" fmla="*/ 1112510 w 1112510"/>
                <a:gd name="connsiteY2" fmla="*/ 407405 h 760491"/>
                <a:gd name="connsiteX3" fmla="*/ 849959 w 1112510"/>
                <a:gd name="connsiteY3" fmla="*/ 660903 h 760491"/>
                <a:gd name="connsiteX4" fmla="*/ 849959 w 1112510"/>
                <a:gd name="connsiteY4" fmla="*/ 470780 h 760491"/>
                <a:gd name="connsiteX5" fmla="*/ 170949 w 1112510"/>
                <a:gd name="connsiteY5" fmla="*/ 760491 h 760491"/>
                <a:gd name="connsiteX6" fmla="*/ 216216 w 1112510"/>
                <a:gd name="connsiteY6" fmla="*/ 0 h 760491"/>
                <a:gd name="connsiteX7" fmla="*/ 868066 w 1112510"/>
                <a:gd name="connsiteY7" fmla="*/ 289711 h 760491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49362 w 1093806"/>
                <a:gd name="connsiteY0" fmla="*/ 289711 h 769545"/>
                <a:gd name="connsiteX1" fmla="*/ 840308 w 1093806"/>
                <a:gd name="connsiteY1" fmla="*/ 108641 h 769545"/>
                <a:gd name="connsiteX2" fmla="*/ 1093806 w 1093806"/>
                <a:gd name="connsiteY2" fmla="*/ 407405 h 769545"/>
                <a:gd name="connsiteX3" fmla="*/ 831255 w 1093806"/>
                <a:gd name="connsiteY3" fmla="*/ 660903 h 769545"/>
                <a:gd name="connsiteX4" fmla="*/ 831255 w 1093806"/>
                <a:gd name="connsiteY4" fmla="*/ 470780 h 769545"/>
                <a:gd name="connsiteX5" fmla="*/ 188459 w 1093806"/>
                <a:gd name="connsiteY5" fmla="*/ 769545 h 769545"/>
                <a:gd name="connsiteX6" fmla="*/ 197512 w 1093806"/>
                <a:gd name="connsiteY6" fmla="*/ 0 h 769545"/>
                <a:gd name="connsiteX7" fmla="*/ 849362 w 1093806"/>
                <a:gd name="connsiteY7" fmla="*/ 289711 h 769545"/>
                <a:gd name="connsiteX0" fmla="*/ 840369 w 1084813"/>
                <a:gd name="connsiteY0" fmla="*/ 253497 h 733331"/>
                <a:gd name="connsiteX1" fmla="*/ 831315 w 1084813"/>
                <a:gd name="connsiteY1" fmla="*/ 72427 h 733331"/>
                <a:gd name="connsiteX2" fmla="*/ 1084813 w 1084813"/>
                <a:gd name="connsiteY2" fmla="*/ 371191 h 733331"/>
                <a:gd name="connsiteX3" fmla="*/ 822262 w 1084813"/>
                <a:gd name="connsiteY3" fmla="*/ 624689 h 733331"/>
                <a:gd name="connsiteX4" fmla="*/ 822262 w 1084813"/>
                <a:gd name="connsiteY4" fmla="*/ 434566 h 733331"/>
                <a:gd name="connsiteX5" fmla="*/ 179466 w 1084813"/>
                <a:gd name="connsiteY5" fmla="*/ 733331 h 733331"/>
                <a:gd name="connsiteX6" fmla="*/ 206626 w 1084813"/>
                <a:gd name="connsiteY6" fmla="*/ 0 h 733331"/>
                <a:gd name="connsiteX7" fmla="*/ 840369 w 1084813"/>
                <a:gd name="connsiteY7" fmla="*/ 253497 h 733331"/>
                <a:gd name="connsiteX0" fmla="*/ 850463 w 1094907"/>
                <a:gd name="connsiteY0" fmla="*/ 253497 h 733331"/>
                <a:gd name="connsiteX1" fmla="*/ 841409 w 1094907"/>
                <a:gd name="connsiteY1" fmla="*/ 72427 h 733331"/>
                <a:gd name="connsiteX2" fmla="*/ 1094907 w 1094907"/>
                <a:gd name="connsiteY2" fmla="*/ 371191 h 733331"/>
                <a:gd name="connsiteX3" fmla="*/ 832356 w 1094907"/>
                <a:gd name="connsiteY3" fmla="*/ 624689 h 733331"/>
                <a:gd name="connsiteX4" fmla="*/ 832356 w 1094907"/>
                <a:gd name="connsiteY4" fmla="*/ 434566 h 733331"/>
                <a:gd name="connsiteX5" fmla="*/ 189560 w 1094907"/>
                <a:gd name="connsiteY5" fmla="*/ 733331 h 733331"/>
                <a:gd name="connsiteX6" fmla="*/ 216720 w 1094907"/>
                <a:gd name="connsiteY6" fmla="*/ 0 h 733331"/>
                <a:gd name="connsiteX7" fmla="*/ 850463 w 1094907"/>
                <a:gd name="connsiteY7" fmla="*/ 253497 h 733331"/>
                <a:gd name="connsiteX0" fmla="*/ 847098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47098 w 1091542"/>
                <a:gd name="connsiteY7" fmla="*/ 253497 h 733331"/>
                <a:gd name="connsiteX0" fmla="*/ 838045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1993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4709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52396 w 1105893"/>
                <a:gd name="connsiteY0" fmla="*/ 289711 h 769545"/>
                <a:gd name="connsiteX1" fmla="*/ 861449 w 1105893"/>
                <a:gd name="connsiteY1" fmla="*/ 108641 h 769545"/>
                <a:gd name="connsiteX2" fmla="*/ 1105893 w 1105893"/>
                <a:gd name="connsiteY2" fmla="*/ 407405 h 769545"/>
                <a:gd name="connsiteX3" fmla="*/ 843342 w 1105893"/>
                <a:gd name="connsiteY3" fmla="*/ 660903 h 769545"/>
                <a:gd name="connsiteX4" fmla="*/ 843342 w 1105893"/>
                <a:gd name="connsiteY4" fmla="*/ 470780 h 769545"/>
                <a:gd name="connsiteX5" fmla="*/ 200546 w 1105893"/>
                <a:gd name="connsiteY5" fmla="*/ 769545 h 769545"/>
                <a:gd name="connsiteX6" fmla="*/ 200546 w 1105893"/>
                <a:gd name="connsiteY6" fmla="*/ 0 h 769545"/>
                <a:gd name="connsiteX7" fmla="*/ 852396 w 1105893"/>
                <a:gd name="connsiteY7" fmla="*/ 289711 h 769545"/>
                <a:gd name="connsiteX0" fmla="*/ 834715 w 1088212"/>
                <a:gd name="connsiteY0" fmla="*/ 289711 h 769545"/>
                <a:gd name="connsiteX1" fmla="*/ 843768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34715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23411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23411 w 1088212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60903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47581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6163 w 1074007"/>
                <a:gd name="connsiteY0" fmla="*/ 289711 h 756223"/>
                <a:gd name="connsiteX1" fmla="*/ 829563 w 1074007"/>
                <a:gd name="connsiteY1" fmla="*/ 108641 h 756223"/>
                <a:gd name="connsiteX2" fmla="*/ 1074007 w 1074007"/>
                <a:gd name="connsiteY2" fmla="*/ 380762 h 756223"/>
                <a:gd name="connsiteX3" fmla="*/ 828413 w 1074007"/>
                <a:gd name="connsiteY3" fmla="*/ 647581 h 756223"/>
                <a:gd name="connsiteX4" fmla="*/ 828413 w 1074007"/>
                <a:gd name="connsiteY4" fmla="*/ 470780 h 756223"/>
                <a:gd name="connsiteX5" fmla="*/ 179964 w 1074007"/>
                <a:gd name="connsiteY5" fmla="*/ 756223 h 756223"/>
                <a:gd name="connsiteX6" fmla="*/ 185617 w 1074007"/>
                <a:gd name="connsiteY6" fmla="*/ 0 h 756223"/>
                <a:gd name="connsiteX7" fmla="*/ 826163 w 1074007"/>
                <a:gd name="connsiteY7" fmla="*/ 289711 h 75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4007" h="756223">
                  <a:moveTo>
                    <a:pt x="826163" y="289711"/>
                  </a:moveTo>
                  <a:cubicBezTo>
                    <a:pt x="826163" y="229354"/>
                    <a:pt x="829563" y="168998"/>
                    <a:pt x="829563" y="108641"/>
                  </a:cubicBezTo>
                  <a:lnTo>
                    <a:pt x="1074007" y="380762"/>
                  </a:lnTo>
                  <a:lnTo>
                    <a:pt x="828413" y="647581"/>
                  </a:lnTo>
                  <a:lnTo>
                    <a:pt x="828413" y="470780"/>
                  </a:lnTo>
                  <a:cubicBezTo>
                    <a:pt x="721280" y="493414"/>
                    <a:pt x="510415" y="579680"/>
                    <a:pt x="179964" y="756223"/>
                  </a:cubicBezTo>
                  <a:cubicBezTo>
                    <a:pt x="-52409" y="505745"/>
                    <a:pt x="-69387" y="256515"/>
                    <a:pt x="185617" y="0"/>
                  </a:cubicBezTo>
                  <a:lnTo>
                    <a:pt x="826163" y="2897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kern="0">
                  <a:solidFill>
                    <a:schemeClr val="bg1"/>
                  </a:solidFill>
                  <a:latin typeface="Aptos" panose="020B0004020202020204" pitchFamily="34" charset="0"/>
                </a:rPr>
                <a:t>Core</a:t>
              </a: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4" name="Freeform 104">
              <a:extLst>
                <a:ext uri="{FF2B5EF4-FFF2-40B4-BE49-F238E27FC236}">
                  <a16:creationId xmlns:a16="http://schemas.microsoft.com/office/drawing/2014/main" id="{EDF224A8-6D78-A7BF-B075-45A8C73AE843}"/>
                </a:ext>
              </a:extLst>
            </p:cNvPr>
            <p:cNvSpPr/>
            <p:nvPr/>
          </p:nvSpPr>
          <p:spPr>
            <a:xfrm>
              <a:off x="6907049" y="6001263"/>
              <a:ext cx="608847" cy="394511"/>
            </a:xfrm>
            <a:custGeom>
              <a:avLst/>
              <a:gdLst>
                <a:gd name="connsiteX0" fmla="*/ 642796 w 1086416"/>
                <a:gd name="connsiteY0" fmla="*/ 334978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42796 w 1086416"/>
                <a:gd name="connsiteY7" fmla="*/ 334978 h 832919"/>
                <a:gd name="connsiteX0" fmla="*/ 679010 w 1086416"/>
                <a:gd name="connsiteY0" fmla="*/ 325925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25925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88887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79010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79010 w 1086416"/>
                <a:gd name="connsiteY7" fmla="*/ 316872 h 832919"/>
                <a:gd name="connsiteX0" fmla="*/ 660903 w 1086416"/>
                <a:gd name="connsiteY0" fmla="*/ 316872 h 832919"/>
                <a:gd name="connsiteX1" fmla="*/ 660903 w 1086416"/>
                <a:gd name="connsiteY1" fmla="*/ 0 h 832919"/>
                <a:gd name="connsiteX2" fmla="*/ 1086416 w 1086416"/>
                <a:gd name="connsiteY2" fmla="*/ 425513 h 832919"/>
                <a:gd name="connsiteX3" fmla="*/ 651850 w 1086416"/>
                <a:gd name="connsiteY3" fmla="*/ 832919 h 832919"/>
                <a:gd name="connsiteX4" fmla="*/ 642796 w 1086416"/>
                <a:gd name="connsiteY4" fmla="*/ 497941 h 832919"/>
                <a:gd name="connsiteX5" fmla="*/ 0 w 1086416"/>
                <a:gd name="connsiteY5" fmla="*/ 823866 h 832919"/>
                <a:gd name="connsiteX6" fmla="*/ 9053 w 1086416"/>
                <a:gd name="connsiteY6" fmla="*/ 27161 h 832919"/>
                <a:gd name="connsiteX7" fmla="*/ 660903 w 1086416"/>
                <a:gd name="connsiteY7" fmla="*/ 316872 h 832919"/>
                <a:gd name="connsiteX0" fmla="*/ 660903 w 1086416"/>
                <a:gd name="connsiteY0" fmla="*/ 289711 h 805758"/>
                <a:gd name="connsiteX1" fmla="*/ 651849 w 1086416"/>
                <a:gd name="connsiteY1" fmla="*/ 108641 h 805758"/>
                <a:gd name="connsiteX2" fmla="*/ 1086416 w 1086416"/>
                <a:gd name="connsiteY2" fmla="*/ 398352 h 805758"/>
                <a:gd name="connsiteX3" fmla="*/ 651850 w 1086416"/>
                <a:gd name="connsiteY3" fmla="*/ 805758 h 805758"/>
                <a:gd name="connsiteX4" fmla="*/ 642796 w 1086416"/>
                <a:gd name="connsiteY4" fmla="*/ 470780 h 805758"/>
                <a:gd name="connsiteX5" fmla="*/ 0 w 1086416"/>
                <a:gd name="connsiteY5" fmla="*/ 796705 h 805758"/>
                <a:gd name="connsiteX6" fmla="*/ 9053 w 1086416"/>
                <a:gd name="connsiteY6" fmla="*/ 0 h 805758"/>
                <a:gd name="connsiteX7" fmla="*/ 660903 w 1086416"/>
                <a:gd name="connsiteY7" fmla="*/ 289711 h 805758"/>
                <a:gd name="connsiteX0" fmla="*/ 660903 w 1086416"/>
                <a:gd name="connsiteY0" fmla="*/ 289711 h 796705"/>
                <a:gd name="connsiteX1" fmla="*/ 651849 w 1086416"/>
                <a:gd name="connsiteY1" fmla="*/ 108641 h 796705"/>
                <a:gd name="connsiteX2" fmla="*/ 1086416 w 1086416"/>
                <a:gd name="connsiteY2" fmla="*/ 398352 h 796705"/>
                <a:gd name="connsiteX3" fmla="*/ 642796 w 1086416"/>
                <a:gd name="connsiteY3" fmla="*/ 660903 h 796705"/>
                <a:gd name="connsiteX4" fmla="*/ 642796 w 1086416"/>
                <a:gd name="connsiteY4" fmla="*/ 470780 h 796705"/>
                <a:gd name="connsiteX5" fmla="*/ 0 w 1086416"/>
                <a:gd name="connsiteY5" fmla="*/ 796705 h 796705"/>
                <a:gd name="connsiteX6" fmla="*/ 9053 w 1086416"/>
                <a:gd name="connsiteY6" fmla="*/ 0 h 796705"/>
                <a:gd name="connsiteX7" fmla="*/ 660903 w 1086416"/>
                <a:gd name="connsiteY7" fmla="*/ 289711 h 796705"/>
                <a:gd name="connsiteX0" fmla="*/ 660903 w 905347"/>
                <a:gd name="connsiteY0" fmla="*/ 289711 h 796705"/>
                <a:gd name="connsiteX1" fmla="*/ 651849 w 905347"/>
                <a:gd name="connsiteY1" fmla="*/ 108641 h 796705"/>
                <a:gd name="connsiteX2" fmla="*/ 905347 w 905347"/>
                <a:gd name="connsiteY2" fmla="*/ 407405 h 796705"/>
                <a:gd name="connsiteX3" fmla="*/ 642796 w 905347"/>
                <a:gd name="connsiteY3" fmla="*/ 660903 h 796705"/>
                <a:gd name="connsiteX4" fmla="*/ 642796 w 905347"/>
                <a:gd name="connsiteY4" fmla="*/ 470780 h 796705"/>
                <a:gd name="connsiteX5" fmla="*/ 0 w 905347"/>
                <a:gd name="connsiteY5" fmla="*/ 796705 h 796705"/>
                <a:gd name="connsiteX6" fmla="*/ 9053 w 905347"/>
                <a:gd name="connsiteY6" fmla="*/ 0 h 796705"/>
                <a:gd name="connsiteX7" fmla="*/ 660903 w 905347"/>
                <a:gd name="connsiteY7" fmla="*/ 289711 h 796705"/>
                <a:gd name="connsiteX0" fmla="*/ 737371 w 981815"/>
                <a:gd name="connsiteY0" fmla="*/ 289711 h 807313"/>
                <a:gd name="connsiteX1" fmla="*/ 728317 w 981815"/>
                <a:gd name="connsiteY1" fmla="*/ 108641 h 807313"/>
                <a:gd name="connsiteX2" fmla="*/ 981815 w 981815"/>
                <a:gd name="connsiteY2" fmla="*/ 407405 h 807313"/>
                <a:gd name="connsiteX3" fmla="*/ 719264 w 981815"/>
                <a:gd name="connsiteY3" fmla="*/ 660903 h 807313"/>
                <a:gd name="connsiteX4" fmla="*/ 719264 w 981815"/>
                <a:gd name="connsiteY4" fmla="*/ 470780 h 807313"/>
                <a:gd name="connsiteX5" fmla="*/ 76468 w 981815"/>
                <a:gd name="connsiteY5" fmla="*/ 796705 h 807313"/>
                <a:gd name="connsiteX6" fmla="*/ 85521 w 981815"/>
                <a:gd name="connsiteY6" fmla="*/ 0 h 807313"/>
                <a:gd name="connsiteX7" fmla="*/ 737371 w 981815"/>
                <a:gd name="connsiteY7" fmla="*/ 289711 h 807313"/>
                <a:gd name="connsiteX0" fmla="*/ 696694 w 941138"/>
                <a:gd name="connsiteY0" fmla="*/ 289711 h 816582"/>
                <a:gd name="connsiteX1" fmla="*/ 687640 w 941138"/>
                <a:gd name="connsiteY1" fmla="*/ 108641 h 816582"/>
                <a:gd name="connsiteX2" fmla="*/ 941138 w 941138"/>
                <a:gd name="connsiteY2" fmla="*/ 407405 h 816582"/>
                <a:gd name="connsiteX3" fmla="*/ 678587 w 941138"/>
                <a:gd name="connsiteY3" fmla="*/ 660903 h 816582"/>
                <a:gd name="connsiteX4" fmla="*/ 678587 w 941138"/>
                <a:gd name="connsiteY4" fmla="*/ 470780 h 816582"/>
                <a:gd name="connsiteX5" fmla="*/ 35791 w 941138"/>
                <a:gd name="connsiteY5" fmla="*/ 796705 h 816582"/>
                <a:gd name="connsiteX6" fmla="*/ 44844 w 941138"/>
                <a:gd name="connsiteY6" fmla="*/ 0 h 816582"/>
                <a:gd name="connsiteX7" fmla="*/ 696694 w 941138"/>
                <a:gd name="connsiteY7" fmla="*/ 289711 h 816582"/>
                <a:gd name="connsiteX0" fmla="*/ 707101 w 951545"/>
                <a:gd name="connsiteY0" fmla="*/ 289711 h 797976"/>
                <a:gd name="connsiteX1" fmla="*/ 698047 w 951545"/>
                <a:gd name="connsiteY1" fmla="*/ 108641 h 797976"/>
                <a:gd name="connsiteX2" fmla="*/ 951545 w 951545"/>
                <a:gd name="connsiteY2" fmla="*/ 407405 h 797976"/>
                <a:gd name="connsiteX3" fmla="*/ 688994 w 951545"/>
                <a:gd name="connsiteY3" fmla="*/ 660903 h 797976"/>
                <a:gd name="connsiteX4" fmla="*/ 688994 w 951545"/>
                <a:gd name="connsiteY4" fmla="*/ 470780 h 797976"/>
                <a:gd name="connsiteX5" fmla="*/ 46198 w 951545"/>
                <a:gd name="connsiteY5" fmla="*/ 796705 h 797976"/>
                <a:gd name="connsiteX6" fmla="*/ 55251 w 951545"/>
                <a:gd name="connsiteY6" fmla="*/ 0 h 797976"/>
                <a:gd name="connsiteX7" fmla="*/ 707101 w 951545"/>
                <a:gd name="connsiteY7" fmla="*/ 289711 h 797976"/>
                <a:gd name="connsiteX0" fmla="*/ 707101 w 951545"/>
                <a:gd name="connsiteY0" fmla="*/ 289711 h 806997"/>
                <a:gd name="connsiteX1" fmla="*/ 698047 w 951545"/>
                <a:gd name="connsiteY1" fmla="*/ 108641 h 806997"/>
                <a:gd name="connsiteX2" fmla="*/ 951545 w 951545"/>
                <a:gd name="connsiteY2" fmla="*/ 407405 h 806997"/>
                <a:gd name="connsiteX3" fmla="*/ 688994 w 951545"/>
                <a:gd name="connsiteY3" fmla="*/ 660903 h 806997"/>
                <a:gd name="connsiteX4" fmla="*/ 688994 w 951545"/>
                <a:gd name="connsiteY4" fmla="*/ 470780 h 806997"/>
                <a:gd name="connsiteX5" fmla="*/ 46198 w 951545"/>
                <a:gd name="connsiteY5" fmla="*/ 805759 h 806997"/>
                <a:gd name="connsiteX6" fmla="*/ 55251 w 951545"/>
                <a:gd name="connsiteY6" fmla="*/ 0 h 806997"/>
                <a:gd name="connsiteX7" fmla="*/ 707101 w 951545"/>
                <a:gd name="connsiteY7" fmla="*/ 289711 h 806997"/>
                <a:gd name="connsiteX0" fmla="*/ 713534 w 957978"/>
                <a:gd name="connsiteY0" fmla="*/ 289711 h 825044"/>
                <a:gd name="connsiteX1" fmla="*/ 704480 w 957978"/>
                <a:gd name="connsiteY1" fmla="*/ 108641 h 825044"/>
                <a:gd name="connsiteX2" fmla="*/ 957978 w 957978"/>
                <a:gd name="connsiteY2" fmla="*/ 407405 h 825044"/>
                <a:gd name="connsiteX3" fmla="*/ 695427 w 957978"/>
                <a:gd name="connsiteY3" fmla="*/ 660903 h 825044"/>
                <a:gd name="connsiteX4" fmla="*/ 695427 w 957978"/>
                <a:gd name="connsiteY4" fmla="*/ 470780 h 825044"/>
                <a:gd name="connsiteX5" fmla="*/ 34524 w 957978"/>
                <a:gd name="connsiteY5" fmla="*/ 823866 h 825044"/>
                <a:gd name="connsiteX6" fmla="*/ 61684 w 957978"/>
                <a:gd name="connsiteY6" fmla="*/ 0 h 825044"/>
                <a:gd name="connsiteX7" fmla="*/ 713534 w 957978"/>
                <a:gd name="connsiteY7" fmla="*/ 289711 h 825044"/>
                <a:gd name="connsiteX0" fmla="*/ 837387 w 1081831"/>
                <a:gd name="connsiteY0" fmla="*/ 289711 h 876824"/>
                <a:gd name="connsiteX1" fmla="*/ 828333 w 1081831"/>
                <a:gd name="connsiteY1" fmla="*/ 108641 h 876824"/>
                <a:gd name="connsiteX2" fmla="*/ 1081831 w 1081831"/>
                <a:gd name="connsiteY2" fmla="*/ 407405 h 876824"/>
                <a:gd name="connsiteX3" fmla="*/ 819280 w 1081831"/>
                <a:gd name="connsiteY3" fmla="*/ 660903 h 876824"/>
                <a:gd name="connsiteX4" fmla="*/ 819280 w 1081831"/>
                <a:gd name="connsiteY4" fmla="*/ 470780 h 876824"/>
                <a:gd name="connsiteX5" fmla="*/ 158377 w 1081831"/>
                <a:gd name="connsiteY5" fmla="*/ 823866 h 876824"/>
                <a:gd name="connsiteX6" fmla="*/ 185537 w 1081831"/>
                <a:gd name="connsiteY6" fmla="*/ 0 h 876824"/>
                <a:gd name="connsiteX7" fmla="*/ 837387 w 1081831"/>
                <a:gd name="connsiteY7" fmla="*/ 289711 h 876824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997563 w 1242007"/>
                <a:gd name="connsiteY0" fmla="*/ 289711 h 886568"/>
                <a:gd name="connsiteX1" fmla="*/ 988509 w 1242007"/>
                <a:gd name="connsiteY1" fmla="*/ 108641 h 886568"/>
                <a:gd name="connsiteX2" fmla="*/ 1242007 w 1242007"/>
                <a:gd name="connsiteY2" fmla="*/ 407405 h 886568"/>
                <a:gd name="connsiteX3" fmla="*/ 979456 w 1242007"/>
                <a:gd name="connsiteY3" fmla="*/ 660903 h 886568"/>
                <a:gd name="connsiteX4" fmla="*/ 979456 w 1242007"/>
                <a:gd name="connsiteY4" fmla="*/ 470780 h 886568"/>
                <a:gd name="connsiteX5" fmla="*/ 318553 w 1242007"/>
                <a:gd name="connsiteY5" fmla="*/ 823866 h 886568"/>
                <a:gd name="connsiteX6" fmla="*/ 345713 w 1242007"/>
                <a:gd name="connsiteY6" fmla="*/ 0 h 886568"/>
                <a:gd name="connsiteX7" fmla="*/ 997563 w 1242007"/>
                <a:gd name="connsiteY7" fmla="*/ 289711 h 886568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05624 w 1050068"/>
                <a:gd name="connsiteY0" fmla="*/ 289711 h 823866"/>
                <a:gd name="connsiteX1" fmla="*/ 796570 w 1050068"/>
                <a:gd name="connsiteY1" fmla="*/ 108641 h 823866"/>
                <a:gd name="connsiteX2" fmla="*/ 1050068 w 1050068"/>
                <a:gd name="connsiteY2" fmla="*/ 407405 h 823866"/>
                <a:gd name="connsiteX3" fmla="*/ 787517 w 1050068"/>
                <a:gd name="connsiteY3" fmla="*/ 660903 h 823866"/>
                <a:gd name="connsiteX4" fmla="*/ 787517 w 1050068"/>
                <a:gd name="connsiteY4" fmla="*/ 470780 h 823866"/>
                <a:gd name="connsiteX5" fmla="*/ 126614 w 1050068"/>
                <a:gd name="connsiteY5" fmla="*/ 823866 h 823866"/>
                <a:gd name="connsiteX6" fmla="*/ 153774 w 1050068"/>
                <a:gd name="connsiteY6" fmla="*/ 0 h 823866"/>
                <a:gd name="connsiteX7" fmla="*/ 805624 w 1050068"/>
                <a:gd name="connsiteY7" fmla="*/ 289711 h 823866"/>
                <a:gd name="connsiteX0" fmla="*/ 842323 w 1086767"/>
                <a:gd name="connsiteY0" fmla="*/ 289711 h 823866"/>
                <a:gd name="connsiteX1" fmla="*/ 833269 w 1086767"/>
                <a:gd name="connsiteY1" fmla="*/ 108641 h 823866"/>
                <a:gd name="connsiteX2" fmla="*/ 1086767 w 1086767"/>
                <a:gd name="connsiteY2" fmla="*/ 407405 h 823866"/>
                <a:gd name="connsiteX3" fmla="*/ 824216 w 1086767"/>
                <a:gd name="connsiteY3" fmla="*/ 660903 h 823866"/>
                <a:gd name="connsiteX4" fmla="*/ 824216 w 1086767"/>
                <a:gd name="connsiteY4" fmla="*/ 470780 h 823866"/>
                <a:gd name="connsiteX5" fmla="*/ 163313 w 1086767"/>
                <a:gd name="connsiteY5" fmla="*/ 823866 h 823866"/>
                <a:gd name="connsiteX6" fmla="*/ 190473 w 1086767"/>
                <a:gd name="connsiteY6" fmla="*/ 0 h 823866"/>
                <a:gd name="connsiteX7" fmla="*/ 842323 w 1086767"/>
                <a:gd name="connsiteY7" fmla="*/ 289711 h 823866"/>
                <a:gd name="connsiteX0" fmla="*/ 858475 w 1102919"/>
                <a:gd name="connsiteY0" fmla="*/ 289711 h 823866"/>
                <a:gd name="connsiteX1" fmla="*/ 849421 w 1102919"/>
                <a:gd name="connsiteY1" fmla="*/ 108641 h 823866"/>
                <a:gd name="connsiteX2" fmla="*/ 1102919 w 1102919"/>
                <a:gd name="connsiteY2" fmla="*/ 407405 h 823866"/>
                <a:gd name="connsiteX3" fmla="*/ 840368 w 1102919"/>
                <a:gd name="connsiteY3" fmla="*/ 660903 h 823866"/>
                <a:gd name="connsiteX4" fmla="*/ 840368 w 1102919"/>
                <a:gd name="connsiteY4" fmla="*/ 470780 h 823866"/>
                <a:gd name="connsiteX5" fmla="*/ 179465 w 1102919"/>
                <a:gd name="connsiteY5" fmla="*/ 823866 h 823866"/>
                <a:gd name="connsiteX6" fmla="*/ 206625 w 1102919"/>
                <a:gd name="connsiteY6" fmla="*/ 0 h 823866"/>
                <a:gd name="connsiteX7" fmla="*/ 858475 w 1102919"/>
                <a:gd name="connsiteY7" fmla="*/ 289711 h 823866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68066 w 1112510"/>
                <a:gd name="connsiteY0" fmla="*/ 289711 h 760491"/>
                <a:gd name="connsiteX1" fmla="*/ 859012 w 1112510"/>
                <a:gd name="connsiteY1" fmla="*/ 108641 h 760491"/>
                <a:gd name="connsiteX2" fmla="*/ 1112510 w 1112510"/>
                <a:gd name="connsiteY2" fmla="*/ 407405 h 760491"/>
                <a:gd name="connsiteX3" fmla="*/ 849959 w 1112510"/>
                <a:gd name="connsiteY3" fmla="*/ 660903 h 760491"/>
                <a:gd name="connsiteX4" fmla="*/ 849959 w 1112510"/>
                <a:gd name="connsiteY4" fmla="*/ 470780 h 760491"/>
                <a:gd name="connsiteX5" fmla="*/ 170949 w 1112510"/>
                <a:gd name="connsiteY5" fmla="*/ 760491 h 760491"/>
                <a:gd name="connsiteX6" fmla="*/ 216216 w 1112510"/>
                <a:gd name="connsiteY6" fmla="*/ 0 h 760491"/>
                <a:gd name="connsiteX7" fmla="*/ 868066 w 1112510"/>
                <a:gd name="connsiteY7" fmla="*/ 289711 h 760491"/>
                <a:gd name="connsiteX0" fmla="*/ 836584 w 1081028"/>
                <a:gd name="connsiteY0" fmla="*/ 289711 h 760491"/>
                <a:gd name="connsiteX1" fmla="*/ 827530 w 1081028"/>
                <a:gd name="connsiteY1" fmla="*/ 108641 h 760491"/>
                <a:gd name="connsiteX2" fmla="*/ 1081028 w 1081028"/>
                <a:gd name="connsiteY2" fmla="*/ 407405 h 760491"/>
                <a:gd name="connsiteX3" fmla="*/ 818477 w 1081028"/>
                <a:gd name="connsiteY3" fmla="*/ 660903 h 760491"/>
                <a:gd name="connsiteX4" fmla="*/ 818477 w 1081028"/>
                <a:gd name="connsiteY4" fmla="*/ 470780 h 760491"/>
                <a:gd name="connsiteX5" fmla="*/ 202841 w 1081028"/>
                <a:gd name="connsiteY5" fmla="*/ 760491 h 760491"/>
                <a:gd name="connsiteX6" fmla="*/ 184734 w 1081028"/>
                <a:gd name="connsiteY6" fmla="*/ 0 h 760491"/>
                <a:gd name="connsiteX7" fmla="*/ 836584 w 1081028"/>
                <a:gd name="connsiteY7" fmla="*/ 289711 h 760491"/>
                <a:gd name="connsiteX0" fmla="*/ 849362 w 1093806"/>
                <a:gd name="connsiteY0" fmla="*/ 289711 h 769545"/>
                <a:gd name="connsiteX1" fmla="*/ 840308 w 1093806"/>
                <a:gd name="connsiteY1" fmla="*/ 108641 h 769545"/>
                <a:gd name="connsiteX2" fmla="*/ 1093806 w 1093806"/>
                <a:gd name="connsiteY2" fmla="*/ 407405 h 769545"/>
                <a:gd name="connsiteX3" fmla="*/ 831255 w 1093806"/>
                <a:gd name="connsiteY3" fmla="*/ 660903 h 769545"/>
                <a:gd name="connsiteX4" fmla="*/ 831255 w 1093806"/>
                <a:gd name="connsiteY4" fmla="*/ 470780 h 769545"/>
                <a:gd name="connsiteX5" fmla="*/ 188459 w 1093806"/>
                <a:gd name="connsiteY5" fmla="*/ 769545 h 769545"/>
                <a:gd name="connsiteX6" fmla="*/ 197512 w 1093806"/>
                <a:gd name="connsiteY6" fmla="*/ 0 h 769545"/>
                <a:gd name="connsiteX7" fmla="*/ 849362 w 1093806"/>
                <a:gd name="connsiteY7" fmla="*/ 289711 h 769545"/>
                <a:gd name="connsiteX0" fmla="*/ 840369 w 1084813"/>
                <a:gd name="connsiteY0" fmla="*/ 253497 h 733331"/>
                <a:gd name="connsiteX1" fmla="*/ 831315 w 1084813"/>
                <a:gd name="connsiteY1" fmla="*/ 72427 h 733331"/>
                <a:gd name="connsiteX2" fmla="*/ 1084813 w 1084813"/>
                <a:gd name="connsiteY2" fmla="*/ 371191 h 733331"/>
                <a:gd name="connsiteX3" fmla="*/ 822262 w 1084813"/>
                <a:gd name="connsiteY3" fmla="*/ 624689 h 733331"/>
                <a:gd name="connsiteX4" fmla="*/ 822262 w 1084813"/>
                <a:gd name="connsiteY4" fmla="*/ 434566 h 733331"/>
                <a:gd name="connsiteX5" fmla="*/ 179466 w 1084813"/>
                <a:gd name="connsiteY5" fmla="*/ 733331 h 733331"/>
                <a:gd name="connsiteX6" fmla="*/ 206626 w 1084813"/>
                <a:gd name="connsiteY6" fmla="*/ 0 h 733331"/>
                <a:gd name="connsiteX7" fmla="*/ 840369 w 1084813"/>
                <a:gd name="connsiteY7" fmla="*/ 253497 h 733331"/>
                <a:gd name="connsiteX0" fmla="*/ 850463 w 1094907"/>
                <a:gd name="connsiteY0" fmla="*/ 253497 h 733331"/>
                <a:gd name="connsiteX1" fmla="*/ 841409 w 1094907"/>
                <a:gd name="connsiteY1" fmla="*/ 72427 h 733331"/>
                <a:gd name="connsiteX2" fmla="*/ 1094907 w 1094907"/>
                <a:gd name="connsiteY2" fmla="*/ 371191 h 733331"/>
                <a:gd name="connsiteX3" fmla="*/ 832356 w 1094907"/>
                <a:gd name="connsiteY3" fmla="*/ 624689 h 733331"/>
                <a:gd name="connsiteX4" fmla="*/ 832356 w 1094907"/>
                <a:gd name="connsiteY4" fmla="*/ 434566 h 733331"/>
                <a:gd name="connsiteX5" fmla="*/ 189560 w 1094907"/>
                <a:gd name="connsiteY5" fmla="*/ 733331 h 733331"/>
                <a:gd name="connsiteX6" fmla="*/ 216720 w 1094907"/>
                <a:gd name="connsiteY6" fmla="*/ 0 h 733331"/>
                <a:gd name="connsiteX7" fmla="*/ 850463 w 1094907"/>
                <a:gd name="connsiteY7" fmla="*/ 253497 h 733331"/>
                <a:gd name="connsiteX0" fmla="*/ 847098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47098 w 1091542"/>
                <a:gd name="connsiteY7" fmla="*/ 253497 h 733331"/>
                <a:gd name="connsiteX0" fmla="*/ 838045 w 1091542"/>
                <a:gd name="connsiteY0" fmla="*/ 253497 h 733331"/>
                <a:gd name="connsiteX1" fmla="*/ 838044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1993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38045 w 1091542"/>
                <a:gd name="connsiteY0" fmla="*/ 253497 h 733331"/>
                <a:gd name="connsiteX1" fmla="*/ 847098 w 1091542"/>
                <a:gd name="connsiteY1" fmla="*/ 72427 h 733331"/>
                <a:gd name="connsiteX2" fmla="*/ 1091542 w 1091542"/>
                <a:gd name="connsiteY2" fmla="*/ 371191 h 733331"/>
                <a:gd name="connsiteX3" fmla="*/ 828991 w 1091542"/>
                <a:gd name="connsiteY3" fmla="*/ 624689 h 733331"/>
                <a:gd name="connsiteX4" fmla="*/ 828991 w 1091542"/>
                <a:gd name="connsiteY4" fmla="*/ 434566 h 733331"/>
                <a:gd name="connsiteX5" fmla="*/ 186195 w 1091542"/>
                <a:gd name="connsiteY5" fmla="*/ 733331 h 733331"/>
                <a:gd name="connsiteX6" fmla="*/ 213355 w 1091542"/>
                <a:gd name="connsiteY6" fmla="*/ 0 h 733331"/>
                <a:gd name="connsiteX7" fmla="*/ 838045 w 1091542"/>
                <a:gd name="connsiteY7" fmla="*/ 253497 h 733331"/>
                <a:gd name="connsiteX0" fmla="*/ 852396 w 1105893"/>
                <a:gd name="connsiteY0" fmla="*/ 289711 h 769545"/>
                <a:gd name="connsiteX1" fmla="*/ 861449 w 1105893"/>
                <a:gd name="connsiteY1" fmla="*/ 108641 h 769545"/>
                <a:gd name="connsiteX2" fmla="*/ 1105893 w 1105893"/>
                <a:gd name="connsiteY2" fmla="*/ 407405 h 769545"/>
                <a:gd name="connsiteX3" fmla="*/ 843342 w 1105893"/>
                <a:gd name="connsiteY3" fmla="*/ 660903 h 769545"/>
                <a:gd name="connsiteX4" fmla="*/ 843342 w 1105893"/>
                <a:gd name="connsiteY4" fmla="*/ 470780 h 769545"/>
                <a:gd name="connsiteX5" fmla="*/ 200546 w 1105893"/>
                <a:gd name="connsiteY5" fmla="*/ 769545 h 769545"/>
                <a:gd name="connsiteX6" fmla="*/ 200546 w 1105893"/>
                <a:gd name="connsiteY6" fmla="*/ 0 h 769545"/>
                <a:gd name="connsiteX7" fmla="*/ 852396 w 1105893"/>
                <a:gd name="connsiteY7" fmla="*/ 289711 h 769545"/>
                <a:gd name="connsiteX0" fmla="*/ 834715 w 1088212"/>
                <a:gd name="connsiteY0" fmla="*/ 289711 h 769545"/>
                <a:gd name="connsiteX1" fmla="*/ 843768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34715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34715 w 1088212"/>
                <a:gd name="connsiteY7" fmla="*/ 289711 h 769545"/>
                <a:gd name="connsiteX0" fmla="*/ 823411 w 1088212"/>
                <a:gd name="connsiteY0" fmla="*/ 289711 h 769545"/>
                <a:gd name="connsiteX1" fmla="*/ 826811 w 1088212"/>
                <a:gd name="connsiteY1" fmla="*/ 108641 h 769545"/>
                <a:gd name="connsiteX2" fmla="*/ 1088212 w 1088212"/>
                <a:gd name="connsiteY2" fmla="*/ 407405 h 769545"/>
                <a:gd name="connsiteX3" fmla="*/ 825661 w 1088212"/>
                <a:gd name="connsiteY3" fmla="*/ 660903 h 769545"/>
                <a:gd name="connsiteX4" fmla="*/ 825661 w 1088212"/>
                <a:gd name="connsiteY4" fmla="*/ 470780 h 769545"/>
                <a:gd name="connsiteX5" fmla="*/ 182865 w 1088212"/>
                <a:gd name="connsiteY5" fmla="*/ 769545 h 769545"/>
                <a:gd name="connsiteX6" fmla="*/ 182865 w 1088212"/>
                <a:gd name="connsiteY6" fmla="*/ 0 h 769545"/>
                <a:gd name="connsiteX7" fmla="*/ 823411 w 1088212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60903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3411 w 1071255"/>
                <a:gd name="connsiteY0" fmla="*/ 289711 h 769545"/>
                <a:gd name="connsiteX1" fmla="*/ 826811 w 1071255"/>
                <a:gd name="connsiteY1" fmla="*/ 108641 h 769545"/>
                <a:gd name="connsiteX2" fmla="*/ 1071255 w 1071255"/>
                <a:gd name="connsiteY2" fmla="*/ 380762 h 769545"/>
                <a:gd name="connsiteX3" fmla="*/ 825661 w 1071255"/>
                <a:gd name="connsiteY3" fmla="*/ 647581 h 769545"/>
                <a:gd name="connsiteX4" fmla="*/ 825661 w 1071255"/>
                <a:gd name="connsiteY4" fmla="*/ 470780 h 769545"/>
                <a:gd name="connsiteX5" fmla="*/ 182865 w 1071255"/>
                <a:gd name="connsiteY5" fmla="*/ 769545 h 769545"/>
                <a:gd name="connsiteX6" fmla="*/ 182865 w 1071255"/>
                <a:gd name="connsiteY6" fmla="*/ 0 h 769545"/>
                <a:gd name="connsiteX7" fmla="*/ 823411 w 1071255"/>
                <a:gd name="connsiteY7" fmla="*/ 289711 h 769545"/>
                <a:gd name="connsiteX0" fmla="*/ 826163 w 1074007"/>
                <a:gd name="connsiteY0" fmla="*/ 289711 h 756223"/>
                <a:gd name="connsiteX1" fmla="*/ 829563 w 1074007"/>
                <a:gd name="connsiteY1" fmla="*/ 108641 h 756223"/>
                <a:gd name="connsiteX2" fmla="*/ 1074007 w 1074007"/>
                <a:gd name="connsiteY2" fmla="*/ 380762 h 756223"/>
                <a:gd name="connsiteX3" fmla="*/ 828413 w 1074007"/>
                <a:gd name="connsiteY3" fmla="*/ 647581 h 756223"/>
                <a:gd name="connsiteX4" fmla="*/ 828413 w 1074007"/>
                <a:gd name="connsiteY4" fmla="*/ 470780 h 756223"/>
                <a:gd name="connsiteX5" fmla="*/ 179964 w 1074007"/>
                <a:gd name="connsiteY5" fmla="*/ 756223 h 756223"/>
                <a:gd name="connsiteX6" fmla="*/ 185617 w 1074007"/>
                <a:gd name="connsiteY6" fmla="*/ 0 h 756223"/>
                <a:gd name="connsiteX7" fmla="*/ 826163 w 1074007"/>
                <a:gd name="connsiteY7" fmla="*/ 289711 h 75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4007" h="756223">
                  <a:moveTo>
                    <a:pt x="826163" y="289711"/>
                  </a:moveTo>
                  <a:cubicBezTo>
                    <a:pt x="826163" y="229354"/>
                    <a:pt x="829563" y="168998"/>
                    <a:pt x="829563" y="108641"/>
                  </a:cubicBezTo>
                  <a:lnTo>
                    <a:pt x="1074007" y="380762"/>
                  </a:lnTo>
                  <a:lnTo>
                    <a:pt x="828413" y="647581"/>
                  </a:lnTo>
                  <a:lnTo>
                    <a:pt x="828413" y="470780"/>
                  </a:lnTo>
                  <a:cubicBezTo>
                    <a:pt x="721280" y="493414"/>
                    <a:pt x="510415" y="579680"/>
                    <a:pt x="179964" y="756223"/>
                  </a:cubicBezTo>
                  <a:cubicBezTo>
                    <a:pt x="-52409" y="505745"/>
                    <a:pt x="-69387" y="256515"/>
                    <a:pt x="185617" y="0"/>
                  </a:cubicBezTo>
                  <a:lnTo>
                    <a:pt x="826163" y="2897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50" b="1" kern="0">
                  <a:solidFill>
                    <a:schemeClr val="bg1"/>
                  </a:solidFill>
                  <a:latin typeface="Aptos" panose="020B0004020202020204" pitchFamily="34" charset="0"/>
                </a:rPr>
                <a:t>Core</a:t>
              </a: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F711EE-8DD0-95E2-F625-1813D92FB597}"/>
                </a:ext>
              </a:extLst>
            </p:cNvPr>
            <p:cNvSpPr txBox="1"/>
            <p:nvPr/>
          </p:nvSpPr>
          <p:spPr>
            <a:xfrm>
              <a:off x="3813593" y="4353188"/>
              <a:ext cx="1677293" cy="56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Segoe UI Semilight"/>
                  <a:ea typeface="+mn-ea"/>
                  <a:cs typeface="Segoe UI Semilight"/>
                </a:rPr>
                <a:t>Enterprise Standard CDMs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4B498C2-E4CE-B822-C3B4-FEAA61820879}"/>
                </a:ext>
              </a:extLst>
            </p:cNvPr>
            <p:cNvCxnSpPr>
              <a:cxnSpLocks/>
            </p:cNvCxnSpPr>
            <p:nvPr/>
          </p:nvCxnSpPr>
          <p:spPr>
            <a:xfrm>
              <a:off x="5340658" y="5693216"/>
              <a:ext cx="1414705" cy="11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086DD15-A83B-D6F5-6AA8-0EC91EAE04D1}"/>
                </a:ext>
              </a:extLst>
            </p:cNvPr>
            <p:cNvCxnSpPr>
              <a:cxnSpLocks/>
            </p:cNvCxnSpPr>
            <p:nvPr/>
          </p:nvCxnSpPr>
          <p:spPr>
            <a:xfrm>
              <a:off x="5340658" y="5810413"/>
              <a:ext cx="1402212" cy="449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A5BAA17-D3EA-D57D-BB2A-B738A4320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3682" y="5890472"/>
              <a:ext cx="931010" cy="3695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552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7318-2587-BE31-15A5-352D3042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5EA8-9E9F-BDC5-7655-CB866465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Target-State Lakehouse Consumption Architecture: </a:t>
            </a:r>
            <a:endParaRPr lang="en-US" sz="2000">
              <a:latin typeface="Segoe UI Semibold"/>
              <a:cs typeface="Segoe UI Semibol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E36982-4A2D-DADC-1926-3117F26570AE}"/>
              </a:ext>
            </a:extLst>
          </p:cNvPr>
          <p:cNvGrpSpPr/>
          <p:nvPr/>
        </p:nvGrpSpPr>
        <p:grpSpPr>
          <a:xfrm>
            <a:off x="3713388" y="1720606"/>
            <a:ext cx="8351044" cy="4148551"/>
            <a:chOff x="362272" y="1780876"/>
            <a:chExt cx="11636850" cy="41900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0FEA70-8124-9C7A-CA2F-DA17CB09C2F9}"/>
                </a:ext>
              </a:extLst>
            </p:cNvPr>
            <p:cNvSpPr/>
            <p:nvPr/>
          </p:nvSpPr>
          <p:spPr>
            <a:xfrm>
              <a:off x="8456306" y="5614508"/>
              <a:ext cx="1347337" cy="1753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FEE5A90-8010-3EBC-A15D-E9DA6E312E08}"/>
                </a:ext>
              </a:extLst>
            </p:cNvPr>
            <p:cNvSpPr/>
            <p:nvPr/>
          </p:nvSpPr>
          <p:spPr>
            <a:xfrm>
              <a:off x="362272" y="1813849"/>
              <a:ext cx="3042139" cy="4149804"/>
            </a:xfrm>
            <a:prstGeom prst="roundRect">
              <a:avLst>
                <a:gd name="adj" fmla="val 6551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13A53A-4202-D206-95E6-C73D1EAA484C}"/>
                </a:ext>
              </a:extLst>
            </p:cNvPr>
            <p:cNvSpPr txBox="1"/>
            <p:nvPr/>
          </p:nvSpPr>
          <p:spPr>
            <a:xfrm>
              <a:off x="362272" y="1780876"/>
              <a:ext cx="30421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accent6">
                      <a:lumMod val="10000"/>
                    </a:schemeClr>
                  </a:solidFill>
                </a:rPr>
                <a:t>CDM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844123-88E7-676F-2518-37C10C65C01B}"/>
                </a:ext>
              </a:extLst>
            </p:cNvPr>
            <p:cNvSpPr/>
            <p:nvPr/>
          </p:nvSpPr>
          <p:spPr>
            <a:xfrm>
              <a:off x="774563" y="2385485"/>
              <a:ext cx="2312377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Claims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D1E131-8DA0-F3B5-8FEE-07D433E8EBAA}"/>
                </a:ext>
              </a:extLst>
            </p:cNvPr>
            <p:cNvSpPr/>
            <p:nvPr/>
          </p:nvSpPr>
          <p:spPr>
            <a:xfrm>
              <a:off x="774563" y="2901988"/>
              <a:ext cx="2312377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Eligibility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1D6664-1247-23C7-71B6-9927F81FDA66}"/>
                </a:ext>
              </a:extLst>
            </p:cNvPr>
            <p:cNvSpPr/>
            <p:nvPr/>
          </p:nvSpPr>
          <p:spPr>
            <a:xfrm>
              <a:off x="774562" y="3418491"/>
              <a:ext cx="2312377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Plan &amp; Benefit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AE700D-8AF4-2F84-63F1-21021889FA87}"/>
                </a:ext>
              </a:extLst>
            </p:cNvPr>
            <p:cNvSpPr/>
            <p:nvPr/>
          </p:nvSpPr>
          <p:spPr>
            <a:xfrm>
              <a:off x="774562" y="3934994"/>
              <a:ext cx="2312377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Formulary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9A1082-1740-D9DC-4BE6-631781DC99B3}"/>
                </a:ext>
              </a:extLst>
            </p:cNvPr>
            <p:cNvSpPr/>
            <p:nvPr/>
          </p:nvSpPr>
          <p:spPr>
            <a:xfrm>
              <a:off x="774562" y="4488992"/>
              <a:ext cx="2312377" cy="3693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Utilization </a:t>
              </a:r>
              <a:r>
                <a:rPr lang="en-US" sz="1600" err="1"/>
                <a:t>Mgmt</a:t>
              </a:r>
              <a:endParaRPr lang="en-US" sz="16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69B9F6A-35C3-BE74-6227-F5DC3A8AA36B}"/>
                </a:ext>
              </a:extLst>
            </p:cNvPr>
            <p:cNvSpPr/>
            <p:nvPr/>
          </p:nvSpPr>
          <p:spPr>
            <a:xfrm>
              <a:off x="1782748" y="5058291"/>
              <a:ext cx="149469" cy="14946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D3A75B9-3408-F7EE-1D07-A3AB5B0F0A3C}"/>
                </a:ext>
              </a:extLst>
            </p:cNvPr>
            <p:cNvSpPr/>
            <p:nvPr/>
          </p:nvSpPr>
          <p:spPr>
            <a:xfrm>
              <a:off x="1782748" y="5320860"/>
              <a:ext cx="149469" cy="14946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E9C1AF6-2BE6-C519-97DF-57079F7F5705}"/>
                </a:ext>
              </a:extLst>
            </p:cNvPr>
            <p:cNvSpPr/>
            <p:nvPr/>
          </p:nvSpPr>
          <p:spPr>
            <a:xfrm>
              <a:off x="1782748" y="5583428"/>
              <a:ext cx="149469" cy="14946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48C7657-A999-C89C-3798-72775D5F3B53}"/>
                </a:ext>
              </a:extLst>
            </p:cNvPr>
            <p:cNvSpPr/>
            <p:nvPr/>
          </p:nvSpPr>
          <p:spPr>
            <a:xfrm>
              <a:off x="8951593" y="1817291"/>
              <a:ext cx="3042139" cy="4149804"/>
            </a:xfrm>
            <a:prstGeom prst="roundRect">
              <a:avLst>
                <a:gd name="adj" fmla="val 6551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F49F63-966E-21A2-30D3-D3C0EE3A601B}"/>
                </a:ext>
              </a:extLst>
            </p:cNvPr>
            <p:cNvSpPr txBox="1"/>
            <p:nvPr/>
          </p:nvSpPr>
          <p:spPr>
            <a:xfrm>
              <a:off x="8956983" y="1793632"/>
              <a:ext cx="30421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accent6">
                      <a:lumMod val="10000"/>
                    </a:schemeClr>
                  </a:solidFill>
                </a:rPr>
                <a:t>Consumables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C62987E-1AFF-6A1A-006B-7C990159E1F5}"/>
                </a:ext>
              </a:extLst>
            </p:cNvPr>
            <p:cNvGrpSpPr/>
            <p:nvPr/>
          </p:nvGrpSpPr>
          <p:grpSpPr>
            <a:xfrm>
              <a:off x="4143633" y="1793632"/>
              <a:ext cx="4156305" cy="3676697"/>
              <a:chOff x="4143633" y="1793631"/>
              <a:chExt cx="4156305" cy="476678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ED12C298-6F94-F8AF-59AE-22EC7911F0EB}"/>
                  </a:ext>
                </a:extLst>
              </p:cNvPr>
              <p:cNvSpPr/>
              <p:nvPr/>
            </p:nvSpPr>
            <p:spPr>
              <a:xfrm>
                <a:off x="4149021" y="1793631"/>
                <a:ext cx="4150917" cy="4149804"/>
              </a:xfrm>
              <a:prstGeom prst="roundRect">
                <a:avLst>
                  <a:gd name="adj" fmla="val 339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5758A0-3F56-F1A5-A09E-2FA4D7C423E1}"/>
                  </a:ext>
                </a:extLst>
              </p:cNvPr>
              <p:cNvSpPr txBox="1"/>
              <p:nvPr/>
            </p:nvSpPr>
            <p:spPr>
              <a:xfrm>
                <a:off x="4607169" y="1793688"/>
                <a:ext cx="30421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10000"/>
                      </a:schemeClr>
                    </a:solidFill>
                  </a:rPr>
                  <a:t>Data Products</a:t>
                </a:r>
              </a:p>
            </p:txBody>
          </p:sp>
          <p:sp>
            <p:nvSpPr>
              <p:cNvPr id="48" name="Freeform 104">
                <a:extLst>
                  <a:ext uri="{FF2B5EF4-FFF2-40B4-BE49-F238E27FC236}">
                    <a16:creationId xmlns:a16="http://schemas.microsoft.com/office/drawing/2014/main" id="{F566865F-4C61-8168-CA35-9B7998A9F493}"/>
                  </a:ext>
                </a:extLst>
              </p:cNvPr>
              <p:cNvSpPr/>
              <p:nvPr/>
            </p:nvSpPr>
            <p:spPr>
              <a:xfrm>
                <a:off x="6736184" y="3312813"/>
                <a:ext cx="1130960" cy="570467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TextBox 105">
                <a:extLst>
                  <a:ext uri="{FF2B5EF4-FFF2-40B4-BE49-F238E27FC236}">
                    <a16:creationId xmlns:a16="http://schemas.microsoft.com/office/drawing/2014/main" id="{D42391B0-7D38-F8A2-C9CD-C2640550825D}"/>
                  </a:ext>
                </a:extLst>
              </p:cNvPr>
              <p:cNvSpPr txBox="1"/>
              <p:nvPr/>
            </p:nvSpPr>
            <p:spPr>
              <a:xfrm>
                <a:off x="6683225" y="3433632"/>
                <a:ext cx="1304940" cy="322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Datamart Dim</a:t>
                </a:r>
              </a:p>
            </p:txBody>
          </p:sp>
          <p:sp>
            <p:nvSpPr>
              <p:cNvPr id="51" name="Freeform 81">
                <a:extLst>
                  <a:ext uri="{FF2B5EF4-FFF2-40B4-BE49-F238E27FC236}">
                    <a16:creationId xmlns:a16="http://schemas.microsoft.com/office/drawing/2014/main" id="{E380D675-A9F4-B3DD-390E-4AE56D488FE2}"/>
                  </a:ext>
                </a:extLst>
              </p:cNvPr>
              <p:cNvSpPr/>
              <p:nvPr/>
            </p:nvSpPr>
            <p:spPr>
              <a:xfrm>
                <a:off x="6736184" y="4133515"/>
                <a:ext cx="1130960" cy="504189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TextBox 82">
                <a:extLst>
                  <a:ext uri="{FF2B5EF4-FFF2-40B4-BE49-F238E27FC236}">
                    <a16:creationId xmlns:a16="http://schemas.microsoft.com/office/drawing/2014/main" id="{BFF1E48E-E8E4-9DE5-94B2-628052080B86}"/>
                  </a:ext>
                </a:extLst>
              </p:cNvPr>
              <p:cNvSpPr txBox="1"/>
              <p:nvPr/>
            </p:nvSpPr>
            <p:spPr>
              <a:xfrm>
                <a:off x="6735907" y="4186600"/>
                <a:ext cx="672796" cy="322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Claim</a:t>
                </a:r>
              </a:p>
            </p:txBody>
          </p:sp>
          <p:sp>
            <p:nvSpPr>
              <p:cNvPr id="54" name="Freeform 84">
                <a:extLst>
                  <a:ext uri="{FF2B5EF4-FFF2-40B4-BE49-F238E27FC236}">
                    <a16:creationId xmlns:a16="http://schemas.microsoft.com/office/drawing/2014/main" id="{116ACE3F-4AE7-A9A9-CCAF-5E651DA69536}"/>
                  </a:ext>
                </a:extLst>
              </p:cNvPr>
              <p:cNvSpPr/>
              <p:nvPr/>
            </p:nvSpPr>
            <p:spPr>
              <a:xfrm>
                <a:off x="6712889" y="4853482"/>
                <a:ext cx="1163047" cy="484507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TextBox 85">
                <a:extLst>
                  <a:ext uri="{FF2B5EF4-FFF2-40B4-BE49-F238E27FC236}">
                    <a16:creationId xmlns:a16="http://schemas.microsoft.com/office/drawing/2014/main" id="{4A9F7820-7099-CACD-C74B-9685B3BD3324}"/>
                  </a:ext>
                </a:extLst>
              </p:cNvPr>
              <p:cNvSpPr txBox="1"/>
              <p:nvPr/>
            </p:nvSpPr>
            <p:spPr>
              <a:xfrm>
                <a:off x="6705962" y="4920076"/>
                <a:ext cx="896169" cy="322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Member</a:t>
                </a:r>
              </a:p>
            </p:txBody>
          </p:sp>
          <p:sp>
            <p:nvSpPr>
              <p:cNvPr id="58" name="TextBox 88">
                <a:extLst>
                  <a:ext uri="{FF2B5EF4-FFF2-40B4-BE49-F238E27FC236}">
                    <a16:creationId xmlns:a16="http://schemas.microsoft.com/office/drawing/2014/main" id="{38EC3491-403B-C2AE-DE5C-30082C846837}"/>
                  </a:ext>
                </a:extLst>
              </p:cNvPr>
              <p:cNvSpPr txBox="1"/>
              <p:nvPr/>
            </p:nvSpPr>
            <p:spPr>
              <a:xfrm>
                <a:off x="6856067" y="5394317"/>
                <a:ext cx="18473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 104">
                <a:extLst>
                  <a:ext uri="{FF2B5EF4-FFF2-40B4-BE49-F238E27FC236}">
                    <a16:creationId xmlns:a16="http://schemas.microsoft.com/office/drawing/2014/main" id="{EE4DAFFD-003C-9BA6-1C79-609B0DCBB40A}"/>
                  </a:ext>
                </a:extLst>
              </p:cNvPr>
              <p:cNvSpPr/>
              <p:nvPr/>
            </p:nvSpPr>
            <p:spPr>
              <a:xfrm>
                <a:off x="4653978" y="3134145"/>
                <a:ext cx="1061335" cy="633803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TextBox 105">
                <a:extLst>
                  <a:ext uri="{FF2B5EF4-FFF2-40B4-BE49-F238E27FC236}">
                    <a16:creationId xmlns:a16="http://schemas.microsoft.com/office/drawing/2014/main" id="{97E4507E-0A1A-29E1-82F7-D2B619985925}"/>
                  </a:ext>
                </a:extLst>
              </p:cNvPr>
              <p:cNvSpPr txBox="1"/>
              <p:nvPr/>
            </p:nvSpPr>
            <p:spPr>
              <a:xfrm>
                <a:off x="4635090" y="3273601"/>
                <a:ext cx="7729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Eligibility</a:t>
                </a:r>
              </a:p>
            </p:txBody>
          </p:sp>
          <p:sp>
            <p:nvSpPr>
              <p:cNvPr id="65" name="Freeform 81">
                <a:extLst>
                  <a:ext uri="{FF2B5EF4-FFF2-40B4-BE49-F238E27FC236}">
                    <a16:creationId xmlns:a16="http://schemas.microsoft.com/office/drawing/2014/main" id="{C82A55DE-FE16-E2F8-1C33-FF91AB414B34}"/>
                  </a:ext>
                </a:extLst>
              </p:cNvPr>
              <p:cNvSpPr/>
              <p:nvPr/>
            </p:nvSpPr>
            <p:spPr>
              <a:xfrm>
                <a:off x="4653978" y="3821604"/>
                <a:ext cx="1061335" cy="633803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TextBox 82">
                <a:extLst>
                  <a:ext uri="{FF2B5EF4-FFF2-40B4-BE49-F238E27FC236}">
                    <a16:creationId xmlns:a16="http://schemas.microsoft.com/office/drawing/2014/main" id="{A280458E-5C9E-B818-6D02-FB3935E142A6}"/>
                  </a:ext>
                </a:extLst>
              </p:cNvPr>
              <p:cNvSpPr txBox="1"/>
              <p:nvPr/>
            </p:nvSpPr>
            <p:spPr>
              <a:xfrm>
                <a:off x="4651802" y="3963775"/>
                <a:ext cx="4635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kern="0">
                    <a:solidFill>
                      <a:schemeClr val="bg1"/>
                    </a:solidFill>
                    <a:latin typeface="Calibri" panose="020F0502020204030204"/>
                  </a:rPr>
                  <a:t>Plan</a:t>
                </a: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Freeform 84">
                <a:extLst>
                  <a:ext uri="{FF2B5EF4-FFF2-40B4-BE49-F238E27FC236}">
                    <a16:creationId xmlns:a16="http://schemas.microsoft.com/office/drawing/2014/main" id="{D0F4A5D0-CE44-7B6A-38FF-DF7EC1582757}"/>
                  </a:ext>
                </a:extLst>
              </p:cNvPr>
              <p:cNvSpPr/>
              <p:nvPr/>
            </p:nvSpPr>
            <p:spPr>
              <a:xfrm>
                <a:off x="4653978" y="4509065"/>
                <a:ext cx="1061335" cy="633803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TextBox 85">
                <a:extLst>
                  <a:ext uri="{FF2B5EF4-FFF2-40B4-BE49-F238E27FC236}">
                    <a16:creationId xmlns:a16="http://schemas.microsoft.com/office/drawing/2014/main" id="{FEFBC5F2-22C7-D43C-6190-A737A3130A03}"/>
                  </a:ext>
                </a:extLst>
              </p:cNvPr>
              <p:cNvSpPr txBox="1"/>
              <p:nvPr/>
            </p:nvSpPr>
            <p:spPr>
              <a:xfrm>
                <a:off x="4651802" y="4642441"/>
                <a:ext cx="6479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Benefit</a:t>
                </a:r>
              </a:p>
            </p:txBody>
          </p:sp>
          <p:sp>
            <p:nvSpPr>
              <p:cNvPr id="69" name="Freeform 87">
                <a:extLst>
                  <a:ext uri="{FF2B5EF4-FFF2-40B4-BE49-F238E27FC236}">
                    <a16:creationId xmlns:a16="http://schemas.microsoft.com/office/drawing/2014/main" id="{5020003D-0960-05AF-B3B8-B2C56D257210}"/>
                  </a:ext>
                </a:extLst>
              </p:cNvPr>
              <p:cNvSpPr/>
              <p:nvPr/>
            </p:nvSpPr>
            <p:spPr>
              <a:xfrm>
                <a:off x="4698613" y="5196523"/>
                <a:ext cx="1061334" cy="633803"/>
              </a:xfrm>
              <a:custGeom>
                <a:avLst/>
                <a:gdLst>
                  <a:gd name="connsiteX0" fmla="*/ 642796 w 1086416"/>
                  <a:gd name="connsiteY0" fmla="*/ 334978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42796 w 1086416"/>
                  <a:gd name="connsiteY7" fmla="*/ 334978 h 832919"/>
                  <a:gd name="connsiteX0" fmla="*/ 679010 w 1086416"/>
                  <a:gd name="connsiteY0" fmla="*/ 325925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25925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88887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79010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79010 w 1086416"/>
                  <a:gd name="connsiteY7" fmla="*/ 316872 h 832919"/>
                  <a:gd name="connsiteX0" fmla="*/ 660903 w 1086416"/>
                  <a:gd name="connsiteY0" fmla="*/ 316872 h 832919"/>
                  <a:gd name="connsiteX1" fmla="*/ 660903 w 1086416"/>
                  <a:gd name="connsiteY1" fmla="*/ 0 h 832919"/>
                  <a:gd name="connsiteX2" fmla="*/ 1086416 w 1086416"/>
                  <a:gd name="connsiteY2" fmla="*/ 425513 h 832919"/>
                  <a:gd name="connsiteX3" fmla="*/ 651850 w 1086416"/>
                  <a:gd name="connsiteY3" fmla="*/ 832919 h 832919"/>
                  <a:gd name="connsiteX4" fmla="*/ 642796 w 1086416"/>
                  <a:gd name="connsiteY4" fmla="*/ 497941 h 832919"/>
                  <a:gd name="connsiteX5" fmla="*/ 0 w 1086416"/>
                  <a:gd name="connsiteY5" fmla="*/ 823866 h 832919"/>
                  <a:gd name="connsiteX6" fmla="*/ 9053 w 1086416"/>
                  <a:gd name="connsiteY6" fmla="*/ 27161 h 832919"/>
                  <a:gd name="connsiteX7" fmla="*/ 660903 w 1086416"/>
                  <a:gd name="connsiteY7" fmla="*/ 316872 h 832919"/>
                  <a:gd name="connsiteX0" fmla="*/ 660903 w 1086416"/>
                  <a:gd name="connsiteY0" fmla="*/ 289711 h 805758"/>
                  <a:gd name="connsiteX1" fmla="*/ 651849 w 1086416"/>
                  <a:gd name="connsiteY1" fmla="*/ 108641 h 805758"/>
                  <a:gd name="connsiteX2" fmla="*/ 1086416 w 1086416"/>
                  <a:gd name="connsiteY2" fmla="*/ 398352 h 805758"/>
                  <a:gd name="connsiteX3" fmla="*/ 651850 w 1086416"/>
                  <a:gd name="connsiteY3" fmla="*/ 805758 h 805758"/>
                  <a:gd name="connsiteX4" fmla="*/ 642796 w 1086416"/>
                  <a:gd name="connsiteY4" fmla="*/ 470780 h 805758"/>
                  <a:gd name="connsiteX5" fmla="*/ 0 w 1086416"/>
                  <a:gd name="connsiteY5" fmla="*/ 796705 h 805758"/>
                  <a:gd name="connsiteX6" fmla="*/ 9053 w 1086416"/>
                  <a:gd name="connsiteY6" fmla="*/ 0 h 805758"/>
                  <a:gd name="connsiteX7" fmla="*/ 660903 w 1086416"/>
                  <a:gd name="connsiteY7" fmla="*/ 289711 h 805758"/>
                  <a:gd name="connsiteX0" fmla="*/ 660903 w 1086416"/>
                  <a:gd name="connsiteY0" fmla="*/ 289711 h 796705"/>
                  <a:gd name="connsiteX1" fmla="*/ 651849 w 1086416"/>
                  <a:gd name="connsiteY1" fmla="*/ 108641 h 796705"/>
                  <a:gd name="connsiteX2" fmla="*/ 1086416 w 1086416"/>
                  <a:gd name="connsiteY2" fmla="*/ 398352 h 796705"/>
                  <a:gd name="connsiteX3" fmla="*/ 642796 w 1086416"/>
                  <a:gd name="connsiteY3" fmla="*/ 660903 h 796705"/>
                  <a:gd name="connsiteX4" fmla="*/ 642796 w 1086416"/>
                  <a:gd name="connsiteY4" fmla="*/ 470780 h 796705"/>
                  <a:gd name="connsiteX5" fmla="*/ 0 w 1086416"/>
                  <a:gd name="connsiteY5" fmla="*/ 796705 h 796705"/>
                  <a:gd name="connsiteX6" fmla="*/ 9053 w 1086416"/>
                  <a:gd name="connsiteY6" fmla="*/ 0 h 796705"/>
                  <a:gd name="connsiteX7" fmla="*/ 660903 w 1086416"/>
                  <a:gd name="connsiteY7" fmla="*/ 289711 h 796705"/>
                  <a:gd name="connsiteX0" fmla="*/ 660903 w 905347"/>
                  <a:gd name="connsiteY0" fmla="*/ 289711 h 796705"/>
                  <a:gd name="connsiteX1" fmla="*/ 651849 w 905347"/>
                  <a:gd name="connsiteY1" fmla="*/ 108641 h 796705"/>
                  <a:gd name="connsiteX2" fmla="*/ 905347 w 905347"/>
                  <a:gd name="connsiteY2" fmla="*/ 407405 h 796705"/>
                  <a:gd name="connsiteX3" fmla="*/ 642796 w 905347"/>
                  <a:gd name="connsiteY3" fmla="*/ 660903 h 796705"/>
                  <a:gd name="connsiteX4" fmla="*/ 642796 w 905347"/>
                  <a:gd name="connsiteY4" fmla="*/ 470780 h 796705"/>
                  <a:gd name="connsiteX5" fmla="*/ 0 w 905347"/>
                  <a:gd name="connsiteY5" fmla="*/ 796705 h 796705"/>
                  <a:gd name="connsiteX6" fmla="*/ 9053 w 905347"/>
                  <a:gd name="connsiteY6" fmla="*/ 0 h 796705"/>
                  <a:gd name="connsiteX7" fmla="*/ 660903 w 905347"/>
                  <a:gd name="connsiteY7" fmla="*/ 289711 h 796705"/>
                  <a:gd name="connsiteX0" fmla="*/ 737371 w 981815"/>
                  <a:gd name="connsiteY0" fmla="*/ 289711 h 807313"/>
                  <a:gd name="connsiteX1" fmla="*/ 728317 w 981815"/>
                  <a:gd name="connsiteY1" fmla="*/ 108641 h 807313"/>
                  <a:gd name="connsiteX2" fmla="*/ 981815 w 981815"/>
                  <a:gd name="connsiteY2" fmla="*/ 407405 h 807313"/>
                  <a:gd name="connsiteX3" fmla="*/ 719264 w 981815"/>
                  <a:gd name="connsiteY3" fmla="*/ 660903 h 807313"/>
                  <a:gd name="connsiteX4" fmla="*/ 719264 w 981815"/>
                  <a:gd name="connsiteY4" fmla="*/ 470780 h 807313"/>
                  <a:gd name="connsiteX5" fmla="*/ 76468 w 981815"/>
                  <a:gd name="connsiteY5" fmla="*/ 796705 h 807313"/>
                  <a:gd name="connsiteX6" fmla="*/ 85521 w 981815"/>
                  <a:gd name="connsiteY6" fmla="*/ 0 h 807313"/>
                  <a:gd name="connsiteX7" fmla="*/ 737371 w 981815"/>
                  <a:gd name="connsiteY7" fmla="*/ 289711 h 807313"/>
                  <a:gd name="connsiteX0" fmla="*/ 696694 w 941138"/>
                  <a:gd name="connsiteY0" fmla="*/ 289711 h 816582"/>
                  <a:gd name="connsiteX1" fmla="*/ 687640 w 941138"/>
                  <a:gd name="connsiteY1" fmla="*/ 108641 h 816582"/>
                  <a:gd name="connsiteX2" fmla="*/ 941138 w 941138"/>
                  <a:gd name="connsiteY2" fmla="*/ 407405 h 816582"/>
                  <a:gd name="connsiteX3" fmla="*/ 678587 w 941138"/>
                  <a:gd name="connsiteY3" fmla="*/ 660903 h 816582"/>
                  <a:gd name="connsiteX4" fmla="*/ 678587 w 941138"/>
                  <a:gd name="connsiteY4" fmla="*/ 470780 h 816582"/>
                  <a:gd name="connsiteX5" fmla="*/ 35791 w 941138"/>
                  <a:gd name="connsiteY5" fmla="*/ 796705 h 816582"/>
                  <a:gd name="connsiteX6" fmla="*/ 44844 w 941138"/>
                  <a:gd name="connsiteY6" fmla="*/ 0 h 816582"/>
                  <a:gd name="connsiteX7" fmla="*/ 696694 w 941138"/>
                  <a:gd name="connsiteY7" fmla="*/ 289711 h 816582"/>
                  <a:gd name="connsiteX0" fmla="*/ 707101 w 951545"/>
                  <a:gd name="connsiteY0" fmla="*/ 289711 h 797976"/>
                  <a:gd name="connsiteX1" fmla="*/ 698047 w 951545"/>
                  <a:gd name="connsiteY1" fmla="*/ 108641 h 797976"/>
                  <a:gd name="connsiteX2" fmla="*/ 951545 w 951545"/>
                  <a:gd name="connsiteY2" fmla="*/ 407405 h 797976"/>
                  <a:gd name="connsiteX3" fmla="*/ 688994 w 951545"/>
                  <a:gd name="connsiteY3" fmla="*/ 660903 h 797976"/>
                  <a:gd name="connsiteX4" fmla="*/ 688994 w 951545"/>
                  <a:gd name="connsiteY4" fmla="*/ 470780 h 797976"/>
                  <a:gd name="connsiteX5" fmla="*/ 46198 w 951545"/>
                  <a:gd name="connsiteY5" fmla="*/ 796705 h 797976"/>
                  <a:gd name="connsiteX6" fmla="*/ 55251 w 951545"/>
                  <a:gd name="connsiteY6" fmla="*/ 0 h 797976"/>
                  <a:gd name="connsiteX7" fmla="*/ 707101 w 951545"/>
                  <a:gd name="connsiteY7" fmla="*/ 289711 h 797976"/>
                  <a:gd name="connsiteX0" fmla="*/ 707101 w 951545"/>
                  <a:gd name="connsiteY0" fmla="*/ 289711 h 806997"/>
                  <a:gd name="connsiteX1" fmla="*/ 698047 w 951545"/>
                  <a:gd name="connsiteY1" fmla="*/ 108641 h 806997"/>
                  <a:gd name="connsiteX2" fmla="*/ 951545 w 951545"/>
                  <a:gd name="connsiteY2" fmla="*/ 407405 h 806997"/>
                  <a:gd name="connsiteX3" fmla="*/ 688994 w 951545"/>
                  <a:gd name="connsiteY3" fmla="*/ 660903 h 806997"/>
                  <a:gd name="connsiteX4" fmla="*/ 688994 w 951545"/>
                  <a:gd name="connsiteY4" fmla="*/ 470780 h 806997"/>
                  <a:gd name="connsiteX5" fmla="*/ 46198 w 951545"/>
                  <a:gd name="connsiteY5" fmla="*/ 805759 h 806997"/>
                  <a:gd name="connsiteX6" fmla="*/ 55251 w 951545"/>
                  <a:gd name="connsiteY6" fmla="*/ 0 h 806997"/>
                  <a:gd name="connsiteX7" fmla="*/ 707101 w 951545"/>
                  <a:gd name="connsiteY7" fmla="*/ 289711 h 806997"/>
                  <a:gd name="connsiteX0" fmla="*/ 713534 w 957978"/>
                  <a:gd name="connsiteY0" fmla="*/ 289711 h 825044"/>
                  <a:gd name="connsiteX1" fmla="*/ 704480 w 957978"/>
                  <a:gd name="connsiteY1" fmla="*/ 108641 h 825044"/>
                  <a:gd name="connsiteX2" fmla="*/ 957978 w 957978"/>
                  <a:gd name="connsiteY2" fmla="*/ 407405 h 825044"/>
                  <a:gd name="connsiteX3" fmla="*/ 695427 w 957978"/>
                  <a:gd name="connsiteY3" fmla="*/ 660903 h 825044"/>
                  <a:gd name="connsiteX4" fmla="*/ 695427 w 957978"/>
                  <a:gd name="connsiteY4" fmla="*/ 470780 h 825044"/>
                  <a:gd name="connsiteX5" fmla="*/ 34524 w 957978"/>
                  <a:gd name="connsiteY5" fmla="*/ 823866 h 825044"/>
                  <a:gd name="connsiteX6" fmla="*/ 61684 w 957978"/>
                  <a:gd name="connsiteY6" fmla="*/ 0 h 825044"/>
                  <a:gd name="connsiteX7" fmla="*/ 713534 w 957978"/>
                  <a:gd name="connsiteY7" fmla="*/ 289711 h 825044"/>
                  <a:gd name="connsiteX0" fmla="*/ 837387 w 1081831"/>
                  <a:gd name="connsiteY0" fmla="*/ 289711 h 876824"/>
                  <a:gd name="connsiteX1" fmla="*/ 828333 w 1081831"/>
                  <a:gd name="connsiteY1" fmla="*/ 108641 h 876824"/>
                  <a:gd name="connsiteX2" fmla="*/ 1081831 w 1081831"/>
                  <a:gd name="connsiteY2" fmla="*/ 407405 h 876824"/>
                  <a:gd name="connsiteX3" fmla="*/ 819280 w 1081831"/>
                  <a:gd name="connsiteY3" fmla="*/ 660903 h 876824"/>
                  <a:gd name="connsiteX4" fmla="*/ 819280 w 1081831"/>
                  <a:gd name="connsiteY4" fmla="*/ 470780 h 876824"/>
                  <a:gd name="connsiteX5" fmla="*/ 158377 w 1081831"/>
                  <a:gd name="connsiteY5" fmla="*/ 823866 h 876824"/>
                  <a:gd name="connsiteX6" fmla="*/ 185537 w 1081831"/>
                  <a:gd name="connsiteY6" fmla="*/ 0 h 876824"/>
                  <a:gd name="connsiteX7" fmla="*/ 837387 w 1081831"/>
                  <a:gd name="connsiteY7" fmla="*/ 289711 h 876824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997563 w 1242007"/>
                  <a:gd name="connsiteY0" fmla="*/ 289711 h 886568"/>
                  <a:gd name="connsiteX1" fmla="*/ 988509 w 1242007"/>
                  <a:gd name="connsiteY1" fmla="*/ 108641 h 886568"/>
                  <a:gd name="connsiteX2" fmla="*/ 1242007 w 1242007"/>
                  <a:gd name="connsiteY2" fmla="*/ 407405 h 886568"/>
                  <a:gd name="connsiteX3" fmla="*/ 979456 w 1242007"/>
                  <a:gd name="connsiteY3" fmla="*/ 660903 h 886568"/>
                  <a:gd name="connsiteX4" fmla="*/ 979456 w 1242007"/>
                  <a:gd name="connsiteY4" fmla="*/ 470780 h 886568"/>
                  <a:gd name="connsiteX5" fmla="*/ 318553 w 1242007"/>
                  <a:gd name="connsiteY5" fmla="*/ 823866 h 886568"/>
                  <a:gd name="connsiteX6" fmla="*/ 345713 w 1242007"/>
                  <a:gd name="connsiteY6" fmla="*/ 0 h 886568"/>
                  <a:gd name="connsiteX7" fmla="*/ 997563 w 1242007"/>
                  <a:gd name="connsiteY7" fmla="*/ 289711 h 886568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05624 w 1050068"/>
                  <a:gd name="connsiteY0" fmla="*/ 289711 h 823866"/>
                  <a:gd name="connsiteX1" fmla="*/ 796570 w 1050068"/>
                  <a:gd name="connsiteY1" fmla="*/ 108641 h 823866"/>
                  <a:gd name="connsiteX2" fmla="*/ 1050068 w 1050068"/>
                  <a:gd name="connsiteY2" fmla="*/ 407405 h 823866"/>
                  <a:gd name="connsiteX3" fmla="*/ 787517 w 1050068"/>
                  <a:gd name="connsiteY3" fmla="*/ 660903 h 823866"/>
                  <a:gd name="connsiteX4" fmla="*/ 787517 w 1050068"/>
                  <a:gd name="connsiteY4" fmla="*/ 470780 h 823866"/>
                  <a:gd name="connsiteX5" fmla="*/ 126614 w 1050068"/>
                  <a:gd name="connsiteY5" fmla="*/ 823866 h 823866"/>
                  <a:gd name="connsiteX6" fmla="*/ 153774 w 1050068"/>
                  <a:gd name="connsiteY6" fmla="*/ 0 h 823866"/>
                  <a:gd name="connsiteX7" fmla="*/ 805624 w 1050068"/>
                  <a:gd name="connsiteY7" fmla="*/ 289711 h 823866"/>
                  <a:gd name="connsiteX0" fmla="*/ 842323 w 1086767"/>
                  <a:gd name="connsiteY0" fmla="*/ 289711 h 823866"/>
                  <a:gd name="connsiteX1" fmla="*/ 833269 w 1086767"/>
                  <a:gd name="connsiteY1" fmla="*/ 108641 h 823866"/>
                  <a:gd name="connsiteX2" fmla="*/ 1086767 w 1086767"/>
                  <a:gd name="connsiteY2" fmla="*/ 407405 h 823866"/>
                  <a:gd name="connsiteX3" fmla="*/ 824216 w 1086767"/>
                  <a:gd name="connsiteY3" fmla="*/ 660903 h 823866"/>
                  <a:gd name="connsiteX4" fmla="*/ 824216 w 1086767"/>
                  <a:gd name="connsiteY4" fmla="*/ 470780 h 823866"/>
                  <a:gd name="connsiteX5" fmla="*/ 163313 w 1086767"/>
                  <a:gd name="connsiteY5" fmla="*/ 823866 h 823866"/>
                  <a:gd name="connsiteX6" fmla="*/ 190473 w 1086767"/>
                  <a:gd name="connsiteY6" fmla="*/ 0 h 823866"/>
                  <a:gd name="connsiteX7" fmla="*/ 842323 w 1086767"/>
                  <a:gd name="connsiteY7" fmla="*/ 289711 h 823866"/>
                  <a:gd name="connsiteX0" fmla="*/ 858475 w 1102919"/>
                  <a:gd name="connsiteY0" fmla="*/ 289711 h 823866"/>
                  <a:gd name="connsiteX1" fmla="*/ 849421 w 1102919"/>
                  <a:gd name="connsiteY1" fmla="*/ 108641 h 823866"/>
                  <a:gd name="connsiteX2" fmla="*/ 1102919 w 1102919"/>
                  <a:gd name="connsiteY2" fmla="*/ 407405 h 823866"/>
                  <a:gd name="connsiteX3" fmla="*/ 840368 w 1102919"/>
                  <a:gd name="connsiteY3" fmla="*/ 660903 h 823866"/>
                  <a:gd name="connsiteX4" fmla="*/ 840368 w 1102919"/>
                  <a:gd name="connsiteY4" fmla="*/ 470780 h 823866"/>
                  <a:gd name="connsiteX5" fmla="*/ 179465 w 1102919"/>
                  <a:gd name="connsiteY5" fmla="*/ 823866 h 823866"/>
                  <a:gd name="connsiteX6" fmla="*/ 206625 w 1102919"/>
                  <a:gd name="connsiteY6" fmla="*/ 0 h 823866"/>
                  <a:gd name="connsiteX7" fmla="*/ 858475 w 1102919"/>
                  <a:gd name="connsiteY7" fmla="*/ 289711 h 823866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68066 w 1112510"/>
                  <a:gd name="connsiteY0" fmla="*/ 289711 h 760491"/>
                  <a:gd name="connsiteX1" fmla="*/ 859012 w 1112510"/>
                  <a:gd name="connsiteY1" fmla="*/ 108641 h 760491"/>
                  <a:gd name="connsiteX2" fmla="*/ 1112510 w 1112510"/>
                  <a:gd name="connsiteY2" fmla="*/ 407405 h 760491"/>
                  <a:gd name="connsiteX3" fmla="*/ 849959 w 1112510"/>
                  <a:gd name="connsiteY3" fmla="*/ 660903 h 760491"/>
                  <a:gd name="connsiteX4" fmla="*/ 849959 w 1112510"/>
                  <a:gd name="connsiteY4" fmla="*/ 470780 h 760491"/>
                  <a:gd name="connsiteX5" fmla="*/ 170949 w 1112510"/>
                  <a:gd name="connsiteY5" fmla="*/ 760491 h 760491"/>
                  <a:gd name="connsiteX6" fmla="*/ 216216 w 1112510"/>
                  <a:gd name="connsiteY6" fmla="*/ 0 h 760491"/>
                  <a:gd name="connsiteX7" fmla="*/ 868066 w 1112510"/>
                  <a:gd name="connsiteY7" fmla="*/ 289711 h 760491"/>
                  <a:gd name="connsiteX0" fmla="*/ 836584 w 1081028"/>
                  <a:gd name="connsiteY0" fmla="*/ 289711 h 760491"/>
                  <a:gd name="connsiteX1" fmla="*/ 827530 w 1081028"/>
                  <a:gd name="connsiteY1" fmla="*/ 108641 h 760491"/>
                  <a:gd name="connsiteX2" fmla="*/ 1081028 w 1081028"/>
                  <a:gd name="connsiteY2" fmla="*/ 407405 h 760491"/>
                  <a:gd name="connsiteX3" fmla="*/ 818477 w 1081028"/>
                  <a:gd name="connsiteY3" fmla="*/ 660903 h 760491"/>
                  <a:gd name="connsiteX4" fmla="*/ 818477 w 1081028"/>
                  <a:gd name="connsiteY4" fmla="*/ 470780 h 760491"/>
                  <a:gd name="connsiteX5" fmla="*/ 202841 w 1081028"/>
                  <a:gd name="connsiteY5" fmla="*/ 760491 h 760491"/>
                  <a:gd name="connsiteX6" fmla="*/ 184734 w 1081028"/>
                  <a:gd name="connsiteY6" fmla="*/ 0 h 760491"/>
                  <a:gd name="connsiteX7" fmla="*/ 836584 w 1081028"/>
                  <a:gd name="connsiteY7" fmla="*/ 289711 h 760491"/>
                  <a:gd name="connsiteX0" fmla="*/ 849362 w 1093806"/>
                  <a:gd name="connsiteY0" fmla="*/ 289711 h 769545"/>
                  <a:gd name="connsiteX1" fmla="*/ 840308 w 1093806"/>
                  <a:gd name="connsiteY1" fmla="*/ 108641 h 769545"/>
                  <a:gd name="connsiteX2" fmla="*/ 1093806 w 1093806"/>
                  <a:gd name="connsiteY2" fmla="*/ 407405 h 769545"/>
                  <a:gd name="connsiteX3" fmla="*/ 831255 w 1093806"/>
                  <a:gd name="connsiteY3" fmla="*/ 660903 h 769545"/>
                  <a:gd name="connsiteX4" fmla="*/ 831255 w 1093806"/>
                  <a:gd name="connsiteY4" fmla="*/ 470780 h 769545"/>
                  <a:gd name="connsiteX5" fmla="*/ 188459 w 1093806"/>
                  <a:gd name="connsiteY5" fmla="*/ 769545 h 769545"/>
                  <a:gd name="connsiteX6" fmla="*/ 197512 w 1093806"/>
                  <a:gd name="connsiteY6" fmla="*/ 0 h 769545"/>
                  <a:gd name="connsiteX7" fmla="*/ 849362 w 1093806"/>
                  <a:gd name="connsiteY7" fmla="*/ 289711 h 769545"/>
                  <a:gd name="connsiteX0" fmla="*/ 840369 w 1084813"/>
                  <a:gd name="connsiteY0" fmla="*/ 253497 h 733331"/>
                  <a:gd name="connsiteX1" fmla="*/ 831315 w 1084813"/>
                  <a:gd name="connsiteY1" fmla="*/ 72427 h 733331"/>
                  <a:gd name="connsiteX2" fmla="*/ 1084813 w 1084813"/>
                  <a:gd name="connsiteY2" fmla="*/ 371191 h 733331"/>
                  <a:gd name="connsiteX3" fmla="*/ 822262 w 1084813"/>
                  <a:gd name="connsiteY3" fmla="*/ 624689 h 733331"/>
                  <a:gd name="connsiteX4" fmla="*/ 822262 w 1084813"/>
                  <a:gd name="connsiteY4" fmla="*/ 434566 h 733331"/>
                  <a:gd name="connsiteX5" fmla="*/ 179466 w 1084813"/>
                  <a:gd name="connsiteY5" fmla="*/ 733331 h 733331"/>
                  <a:gd name="connsiteX6" fmla="*/ 206626 w 1084813"/>
                  <a:gd name="connsiteY6" fmla="*/ 0 h 733331"/>
                  <a:gd name="connsiteX7" fmla="*/ 840369 w 1084813"/>
                  <a:gd name="connsiteY7" fmla="*/ 253497 h 733331"/>
                  <a:gd name="connsiteX0" fmla="*/ 850463 w 1094907"/>
                  <a:gd name="connsiteY0" fmla="*/ 253497 h 733331"/>
                  <a:gd name="connsiteX1" fmla="*/ 841409 w 1094907"/>
                  <a:gd name="connsiteY1" fmla="*/ 72427 h 733331"/>
                  <a:gd name="connsiteX2" fmla="*/ 1094907 w 1094907"/>
                  <a:gd name="connsiteY2" fmla="*/ 371191 h 733331"/>
                  <a:gd name="connsiteX3" fmla="*/ 832356 w 1094907"/>
                  <a:gd name="connsiteY3" fmla="*/ 624689 h 733331"/>
                  <a:gd name="connsiteX4" fmla="*/ 832356 w 1094907"/>
                  <a:gd name="connsiteY4" fmla="*/ 434566 h 733331"/>
                  <a:gd name="connsiteX5" fmla="*/ 189560 w 1094907"/>
                  <a:gd name="connsiteY5" fmla="*/ 733331 h 733331"/>
                  <a:gd name="connsiteX6" fmla="*/ 216720 w 1094907"/>
                  <a:gd name="connsiteY6" fmla="*/ 0 h 733331"/>
                  <a:gd name="connsiteX7" fmla="*/ 850463 w 1094907"/>
                  <a:gd name="connsiteY7" fmla="*/ 253497 h 733331"/>
                  <a:gd name="connsiteX0" fmla="*/ 847098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47098 w 1091542"/>
                  <a:gd name="connsiteY7" fmla="*/ 253497 h 733331"/>
                  <a:gd name="connsiteX0" fmla="*/ 838045 w 1091542"/>
                  <a:gd name="connsiteY0" fmla="*/ 253497 h 733331"/>
                  <a:gd name="connsiteX1" fmla="*/ 838044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1993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38045 w 1091542"/>
                  <a:gd name="connsiteY0" fmla="*/ 253497 h 733331"/>
                  <a:gd name="connsiteX1" fmla="*/ 847098 w 1091542"/>
                  <a:gd name="connsiteY1" fmla="*/ 72427 h 733331"/>
                  <a:gd name="connsiteX2" fmla="*/ 1091542 w 1091542"/>
                  <a:gd name="connsiteY2" fmla="*/ 371191 h 733331"/>
                  <a:gd name="connsiteX3" fmla="*/ 828991 w 1091542"/>
                  <a:gd name="connsiteY3" fmla="*/ 624689 h 733331"/>
                  <a:gd name="connsiteX4" fmla="*/ 828991 w 1091542"/>
                  <a:gd name="connsiteY4" fmla="*/ 434566 h 733331"/>
                  <a:gd name="connsiteX5" fmla="*/ 186195 w 1091542"/>
                  <a:gd name="connsiteY5" fmla="*/ 733331 h 733331"/>
                  <a:gd name="connsiteX6" fmla="*/ 213355 w 1091542"/>
                  <a:gd name="connsiteY6" fmla="*/ 0 h 733331"/>
                  <a:gd name="connsiteX7" fmla="*/ 838045 w 1091542"/>
                  <a:gd name="connsiteY7" fmla="*/ 253497 h 733331"/>
                  <a:gd name="connsiteX0" fmla="*/ 852396 w 1105893"/>
                  <a:gd name="connsiteY0" fmla="*/ 289711 h 769545"/>
                  <a:gd name="connsiteX1" fmla="*/ 861449 w 1105893"/>
                  <a:gd name="connsiteY1" fmla="*/ 108641 h 769545"/>
                  <a:gd name="connsiteX2" fmla="*/ 1105893 w 1105893"/>
                  <a:gd name="connsiteY2" fmla="*/ 407405 h 769545"/>
                  <a:gd name="connsiteX3" fmla="*/ 843342 w 1105893"/>
                  <a:gd name="connsiteY3" fmla="*/ 660903 h 769545"/>
                  <a:gd name="connsiteX4" fmla="*/ 843342 w 1105893"/>
                  <a:gd name="connsiteY4" fmla="*/ 470780 h 769545"/>
                  <a:gd name="connsiteX5" fmla="*/ 200546 w 1105893"/>
                  <a:gd name="connsiteY5" fmla="*/ 769545 h 769545"/>
                  <a:gd name="connsiteX6" fmla="*/ 200546 w 1105893"/>
                  <a:gd name="connsiteY6" fmla="*/ 0 h 769545"/>
                  <a:gd name="connsiteX7" fmla="*/ 852396 w 1105893"/>
                  <a:gd name="connsiteY7" fmla="*/ 289711 h 769545"/>
                  <a:gd name="connsiteX0" fmla="*/ 834715 w 1088212"/>
                  <a:gd name="connsiteY0" fmla="*/ 289711 h 769545"/>
                  <a:gd name="connsiteX1" fmla="*/ 843768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34715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34715 w 1088212"/>
                  <a:gd name="connsiteY7" fmla="*/ 289711 h 769545"/>
                  <a:gd name="connsiteX0" fmla="*/ 823411 w 1088212"/>
                  <a:gd name="connsiteY0" fmla="*/ 289711 h 769545"/>
                  <a:gd name="connsiteX1" fmla="*/ 826811 w 1088212"/>
                  <a:gd name="connsiteY1" fmla="*/ 108641 h 769545"/>
                  <a:gd name="connsiteX2" fmla="*/ 1088212 w 1088212"/>
                  <a:gd name="connsiteY2" fmla="*/ 407405 h 769545"/>
                  <a:gd name="connsiteX3" fmla="*/ 825661 w 1088212"/>
                  <a:gd name="connsiteY3" fmla="*/ 660903 h 769545"/>
                  <a:gd name="connsiteX4" fmla="*/ 825661 w 1088212"/>
                  <a:gd name="connsiteY4" fmla="*/ 470780 h 769545"/>
                  <a:gd name="connsiteX5" fmla="*/ 182865 w 1088212"/>
                  <a:gd name="connsiteY5" fmla="*/ 769545 h 769545"/>
                  <a:gd name="connsiteX6" fmla="*/ 182865 w 1088212"/>
                  <a:gd name="connsiteY6" fmla="*/ 0 h 769545"/>
                  <a:gd name="connsiteX7" fmla="*/ 823411 w 1088212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60903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3411 w 1071255"/>
                  <a:gd name="connsiteY0" fmla="*/ 289711 h 769545"/>
                  <a:gd name="connsiteX1" fmla="*/ 826811 w 1071255"/>
                  <a:gd name="connsiteY1" fmla="*/ 108641 h 769545"/>
                  <a:gd name="connsiteX2" fmla="*/ 1071255 w 1071255"/>
                  <a:gd name="connsiteY2" fmla="*/ 380762 h 769545"/>
                  <a:gd name="connsiteX3" fmla="*/ 825661 w 1071255"/>
                  <a:gd name="connsiteY3" fmla="*/ 647581 h 769545"/>
                  <a:gd name="connsiteX4" fmla="*/ 825661 w 1071255"/>
                  <a:gd name="connsiteY4" fmla="*/ 470780 h 769545"/>
                  <a:gd name="connsiteX5" fmla="*/ 182865 w 1071255"/>
                  <a:gd name="connsiteY5" fmla="*/ 769545 h 769545"/>
                  <a:gd name="connsiteX6" fmla="*/ 182865 w 1071255"/>
                  <a:gd name="connsiteY6" fmla="*/ 0 h 769545"/>
                  <a:gd name="connsiteX7" fmla="*/ 823411 w 1071255"/>
                  <a:gd name="connsiteY7" fmla="*/ 289711 h 769545"/>
                  <a:gd name="connsiteX0" fmla="*/ 826163 w 1074007"/>
                  <a:gd name="connsiteY0" fmla="*/ 289711 h 756223"/>
                  <a:gd name="connsiteX1" fmla="*/ 829563 w 1074007"/>
                  <a:gd name="connsiteY1" fmla="*/ 108641 h 756223"/>
                  <a:gd name="connsiteX2" fmla="*/ 1074007 w 1074007"/>
                  <a:gd name="connsiteY2" fmla="*/ 380762 h 756223"/>
                  <a:gd name="connsiteX3" fmla="*/ 828413 w 1074007"/>
                  <a:gd name="connsiteY3" fmla="*/ 647581 h 756223"/>
                  <a:gd name="connsiteX4" fmla="*/ 828413 w 1074007"/>
                  <a:gd name="connsiteY4" fmla="*/ 470780 h 756223"/>
                  <a:gd name="connsiteX5" fmla="*/ 179964 w 1074007"/>
                  <a:gd name="connsiteY5" fmla="*/ 756223 h 756223"/>
                  <a:gd name="connsiteX6" fmla="*/ 185617 w 1074007"/>
                  <a:gd name="connsiteY6" fmla="*/ 0 h 756223"/>
                  <a:gd name="connsiteX7" fmla="*/ 826163 w 1074007"/>
                  <a:gd name="connsiteY7" fmla="*/ 289711 h 756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74007" h="756223">
                    <a:moveTo>
                      <a:pt x="826163" y="289711"/>
                    </a:moveTo>
                    <a:cubicBezTo>
                      <a:pt x="826163" y="229354"/>
                      <a:pt x="829563" y="168998"/>
                      <a:pt x="829563" y="108641"/>
                    </a:cubicBezTo>
                    <a:lnTo>
                      <a:pt x="1074007" y="380762"/>
                    </a:lnTo>
                    <a:lnTo>
                      <a:pt x="828413" y="647581"/>
                    </a:lnTo>
                    <a:lnTo>
                      <a:pt x="828413" y="470780"/>
                    </a:lnTo>
                    <a:cubicBezTo>
                      <a:pt x="721280" y="493414"/>
                      <a:pt x="510415" y="579680"/>
                      <a:pt x="179964" y="756223"/>
                    </a:cubicBezTo>
                    <a:cubicBezTo>
                      <a:pt x="-52409" y="505745"/>
                      <a:pt x="-69387" y="256515"/>
                      <a:pt x="185617" y="0"/>
                    </a:cubicBezTo>
                    <a:lnTo>
                      <a:pt x="826163" y="289711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TextBox 88">
                <a:extLst>
                  <a:ext uri="{FF2B5EF4-FFF2-40B4-BE49-F238E27FC236}">
                    <a16:creationId xmlns:a16="http://schemas.microsoft.com/office/drawing/2014/main" id="{D1E9B7D3-40C7-3BB0-C405-9936150C0B42}"/>
                  </a:ext>
                </a:extLst>
              </p:cNvPr>
              <p:cNvSpPr txBox="1"/>
              <p:nvPr/>
            </p:nvSpPr>
            <p:spPr>
              <a:xfrm>
                <a:off x="4607169" y="5356277"/>
                <a:ext cx="1847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TextBox 85">
                <a:extLst>
                  <a:ext uri="{FF2B5EF4-FFF2-40B4-BE49-F238E27FC236}">
                    <a16:creationId xmlns:a16="http://schemas.microsoft.com/office/drawing/2014/main" id="{4F6398D8-594D-A153-801A-69FD7C051DCB}"/>
                  </a:ext>
                </a:extLst>
              </p:cNvPr>
              <p:cNvSpPr txBox="1"/>
              <p:nvPr/>
            </p:nvSpPr>
            <p:spPr>
              <a:xfrm>
                <a:off x="4663550" y="5337957"/>
                <a:ext cx="8370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Util </a:t>
                </a:r>
                <a:r>
                  <a:rPr kumimoji="0" lang="en-US" sz="1200" b="1" i="0" u="none" strike="noStrike" kern="0" cap="none" spc="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Mgmt</a:t>
                </a:r>
                <a:endPara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176BCA56-D4A2-9728-CAB9-D83BF362721D}"/>
                  </a:ext>
                </a:extLst>
              </p:cNvPr>
              <p:cNvSpPr/>
              <p:nvPr/>
            </p:nvSpPr>
            <p:spPr>
              <a:xfrm>
                <a:off x="4143633" y="6047376"/>
                <a:ext cx="4150917" cy="513040"/>
              </a:xfrm>
              <a:prstGeom prst="roundRect">
                <a:avLst>
                  <a:gd name="adj" fmla="val 12003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2"/>
                    </a:solidFill>
                  </a:rPr>
                  <a:t>Configurable Functions 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A2DE12-208B-B0CC-A803-025CD9650742}"/>
                  </a:ext>
                </a:extLst>
              </p:cNvPr>
              <p:cNvSpPr txBox="1"/>
              <p:nvPr/>
            </p:nvSpPr>
            <p:spPr>
              <a:xfrm>
                <a:off x="4710335" y="2549033"/>
                <a:ext cx="6224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chemeClr val="tx2"/>
                    </a:solidFill>
                  </a:rPr>
                  <a:t>Core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B4BB074-919A-28C4-15C1-F9712137147A}"/>
                  </a:ext>
                </a:extLst>
              </p:cNvPr>
              <p:cNvSpPr txBox="1"/>
              <p:nvPr/>
            </p:nvSpPr>
            <p:spPr>
              <a:xfrm>
                <a:off x="6866570" y="2578202"/>
                <a:ext cx="1037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chemeClr val="accent1"/>
                    </a:solidFill>
                  </a:rPr>
                  <a:t>Use Case</a:t>
                </a: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6A4F472-54BB-3053-F1D3-7C9D0E2C4F2A}"/>
                  </a:ext>
                </a:extLst>
              </p:cNvPr>
              <p:cNvCxnSpPr/>
              <p:nvPr/>
            </p:nvCxnSpPr>
            <p:spPr>
              <a:xfrm>
                <a:off x="6241589" y="2505406"/>
                <a:ext cx="0" cy="3268009"/>
              </a:xfrm>
              <a:prstGeom prst="line">
                <a:avLst/>
              </a:prstGeom>
              <a:ln>
                <a:solidFill>
                  <a:schemeClr val="tx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Cylinder 77">
              <a:extLst>
                <a:ext uri="{FF2B5EF4-FFF2-40B4-BE49-F238E27FC236}">
                  <a16:creationId xmlns:a16="http://schemas.microsoft.com/office/drawing/2014/main" id="{99B38BCC-324D-BC12-EE92-7D8B9CA36B28}"/>
                </a:ext>
              </a:extLst>
            </p:cNvPr>
            <p:cNvSpPr/>
            <p:nvPr/>
          </p:nvSpPr>
          <p:spPr>
            <a:xfrm>
              <a:off x="9413407" y="2342022"/>
              <a:ext cx="2312377" cy="681188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Finance Datamart</a:t>
              </a:r>
            </a:p>
          </p:txBody>
        </p:sp>
        <p:sp>
          <p:nvSpPr>
            <p:cNvPr id="79" name="Flowchart: Document 78">
              <a:extLst>
                <a:ext uri="{FF2B5EF4-FFF2-40B4-BE49-F238E27FC236}">
                  <a16:creationId xmlns:a16="http://schemas.microsoft.com/office/drawing/2014/main" id="{17ED29C1-B7EE-AAB4-F41A-A96455C54FCF}"/>
                </a:ext>
              </a:extLst>
            </p:cNvPr>
            <p:cNvSpPr/>
            <p:nvPr/>
          </p:nvSpPr>
          <p:spPr>
            <a:xfrm>
              <a:off x="9401210" y="3257827"/>
              <a:ext cx="2312377" cy="681188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Claims Extract</a:t>
              </a: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A687CF3D-EB75-A0B0-2181-E9CAEE5D3E63}"/>
                </a:ext>
              </a:extLst>
            </p:cNvPr>
            <p:cNvSpPr/>
            <p:nvPr/>
          </p:nvSpPr>
          <p:spPr>
            <a:xfrm>
              <a:off x="9401210" y="4214403"/>
              <a:ext cx="2312377" cy="681188"/>
            </a:xfrm>
            <a:prstGeom prst="roundRect">
              <a:avLst>
                <a:gd name="adj" fmla="val 2618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Member API</a:t>
              </a:r>
            </a:p>
          </p:txBody>
        </p: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91865A24-9E59-85EE-A281-C469F7512E73}"/>
                </a:ext>
              </a:extLst>
            </p:cNvPr>
            <p:cNvSpPr/>
            <p:nvPr/>
          </p:nvSpPr>
          <p:spPr>
            <a:xfrm>
              <a:off x="3560779" y="3501471"/>
              <a:ext cx="476546" cy="484632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AD5D1DCE-62F8-7EC0-C2C2-B27B0DCC58E4}"/>
                </a:ext>
              </a:extLst>
            </p:cNvPr>
            <p:cNvSpPr/>
            <p:nvPr/>
          </p:nvSpPr>
          <p:spPr>
            <a:xfrm>
              <a:off x="8433175" y="3501471"/>
              <a:ext cx="476546" cy="484632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A81C0010-1E78-93C9-63A6-0A905C4EE9AA}"/>
                </a:ext>
              </a:extLst>
            </p:cNvPr>
            <p:cNvSpPr/>
            <p:nvPr/>
          </p:nvSpPr>
          <p:spPr>
            <a:xfrm>
              <a:off x="4143632" y="5575218"/>
              <a:ext cx="4150917" cy="395716"/>
            </a:xfrm>
            <a:prstGeom prst="roundRect">
              <a:avLst>
                <a:gd name="adj" fmla="val 12003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2"/>
                  </a:solidFill>
                </a:rPr>
                <a:t>Consumption Rules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374AFF0-00D8-A469-F2BB-0AAAE3802E20}"/>
              </a:ext>
            </a:extLst>
          </p:cNvPr>
          <p:cNvSpPr/>
          <p:nvPr/>
        </p:nvSpPr>
        <p:spPr>
          <a:xfrm>
            <a:off x="6929" y="877078"/>
            <a:ext cx="3492546" cy="5663681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>
              <a:spcBef>
                <a:spcPts val="1200"/>
              </a:spcBef>
            </a:pPr>
            <a:endParaRPr lang="en-US" sz="80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</a:rPr>
              <a:t>Consumption Architecture</a:t>
            </a:r>
          </a:p>
          <a:p>
            <a:endParaRPr lang="en-US" sz="160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Navitus’s consumption architecture should support: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Clear ownership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Alignment with CDMs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Abstraction from CDMs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Governance and the Consistent Application of Consumption Rules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Versioning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SLAs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Discoverability &amp; Reusability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Self Service for Consumers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Support for AI Integration</a:t>
            </a:r>
          </a:p>
          <a:p>
            <a:pPr>
              <a:spcBef>
                <a:spcPts val="600"/>
              </a:spcBef>
            </a:pP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The </a:t>
            </a:r>
            <a:r>
              <a:rPr lang="en-US" sz="1600" b="1">
                <a:solidFill>
                  <a:schemeClr val="accent6">
                    <a:lumMod val="10000"/>
                  </a:schemeClr>
                </a:solidFill>
              </a:rPr>
              <a:t>data product construct</a:t>
            </a:r>
            <a:r>
              <a:rPr lang="en-US" sz="1600">
                <a:solidFill>
                  <a:schemeClr val="accent6">
                    <a:lumMod val="10000"/>
                  </a:schemeClr>
                </a:solidFill>
              </a:rPr>
              <a:t> naturally bundles those into a deployable unit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0DEA26-1981-35D5-C2CC-218715C63383}"/>
              </a:ext>
            </a:extLst>
          </p:cNvPr>
          <p:cNvCxnSpPr>
            <a:cxnSpLocks/>
          </p:cNvCxnSpPr>
          <p:nvPr/>
        </p:nvCxnSpPr>
        <p:spPr>
          <a:xfrm>
            <a:off x="74645" y="1351448"/>
            <a:ext cx="328468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089F773-6563-96D9-AFC3-EAD54179B913}"/>
              </a:ext>
            </a:extLst>
          </p:cNvPr>
          <p:cNvSpPr/>
          <p:nvPr/>
        </p:nvSpPr>
        <p:spPr>
          <a:xfrm>
            <a:off x="10200074" y="5011356"/>
            <a:ext cx="1659450" cy="674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AI MCP </a:t>
            </a:r>
          </a:p>
          <a:p>
            <a:pPr algn="ctr"/>
            <a:r>
              <a:rPr lang="en-US" sz="1600"/>
              <a:t>Data Store</a:t>
            </a:r>
          </a:p>
        </p:txBody>
      </p:sp>
    </p:spTree>
    <p:extLst>
      <p:ext uri="{BB962C8B-B14F-4D97-AF65-F5344CB8AC3E}">
        <p14:creationId xmlns:p14="http://schemas.microsoft.com/office/powerpoint/2010/main" val="48178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C5B16-4E3C-0BA6-F018-D355C851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4A9C8-DE5D-1DB2-6F7C-8AF4DC32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AI Components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4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8A691-59EC-314B-F263-6F37331E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1E3391-D2C8-3565-9F60-290916FDA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85" y="1290599"/>
            <a:ext cx="7831452" cy="481094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A956321-86F4-16BB-2FFF-4BAC94C9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>
                <a:latin typeface="Segoe UI Semibold"/>
                <a:cs typeface="Segoe UI Semibold"/>
              </a:rPr>
              <a:t>DLH Platform – AI Augmentation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A8D8D9-9764-75C0-198C-2734373FCD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42088"/>
            <a:ext cx="474663" cy="15557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386E00-FEB9-4948-8786-D40D5ED0BD9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Tenorite" pitchFamily="2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D87822E-D641-32AF-7DC8-2F4A4E58636B}"/>
              </a:ext>
            </a:extLst>
          </p:cNvPr>
          <p:cNvSpPr/>
          <p:nvPr/>
        </p:nvSpPr>
        <p:spPr>
          <a:xfrm>
            <a:off x="14516083" y="-149024"/>
            <a:ext cx="34342" cy="383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5A16BD3-2918-C2B6-A14A-BEAEB2BB2B55}"/>
              </a:ext>
            </a:extLst>
          </p:cNvPr>
          <p:cNvSpPr/>
          <p:nvPr/>
        </p:nvSpPr>
        <p:spPr>
          <a:xfrm>
            <a:off x="14516083" y="203981"/>
            <a:ext cx="34342" cy="383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15BFB0D5-F13A-BAC9-8A1E-2C4DB03C10E1}"/>
              </a:ext>
            </a:extLst>
          </p:cNvPr>
          <p:cNvSpPr/>
          <p:nvPr/>
        </p:nvSpPr>
        <p:spPr>
          <a:xfrm>
            <a:off x="8339037" y="1006783"/>
            <a:ext cx="3852963" cy="5781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Key Benefits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Quick &amp; Low-Cost Deployment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– Using AI new sources can be evaluated, deployed and tested in hours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Reduced Human Error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– Using automation to do jobs that humans find repetitive or time consuming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Self-Healing Pipelines and Integration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– Failures and errors drive a feedback look that self-correct modules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Data Catalog, Lineage, and other Governance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 – Humans, Developer AI and Data Steward AI cooperate to ensure governance practices and policies are supported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Automated Change Control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– As AI generates code, it follows a change control process to deploy new modules and updates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Human Oversite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– AI will identify many possible actions to take; the organization determines where human approval or action is required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enorite" panose="00000500000000000000" pitchFamily="2" charset="0"/>
              <a:ea typeface="+mn-ea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Open Integration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norite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rPr>
              <a:t>– Reduces need to migrate from existing tools all at once or at all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1816BEA3-EBEC-0289-9242-E938702F77A9}"/>
              </a:ext>
            </a:extLst>
          </p:cNvPr>
          <p:cNvSpPr/>
          <p:nvPr/>
        </p:nvSpPr>
        <p:spPr>
          <a:xfrm>
            <a:off x="667789" y="1955376"/>
            <a:ext cx="144780" cy="1209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61098701-B4D1-91AC-1CAA-A267B11586C6}"/>
              </a:ext>
            </a:extLst>
          </p:cNvPr>
          <p:cNvSpPr/>
          <p:nvPr/>
        </p:nvSpPr>
        <p:spPr>
          <a:xfrm>
            <a:off x="1989054" y="2370070"/>
            <a:ext cx="144780" cy="1209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F88D866C-C3FE-F4FC-8CBC-7BB468A07655}"/>
              </a:ext>
            </a:extLst>
          </p:cNvPr>
          <p:cNvSpPr/>
          <p:nvPr/>
        </p:nvSpPr>
        <p:spPr>
          <a:xfrm>
            <a:off x="2047936" y="3806115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08802CC0-694E-CB21-23C9-A22D094710C7}"/>
              </a:ext>
            </a:extLst>
          </p:cNvPr>
          <p:cNvSpPr/>
          <p:nvPr/>
        </p:nvSpPr>
        <p:spPr>
          <a:xfrm>
            <a:off x="155595" y="1319225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0EA1FA51-6E70-0B87-7EE6-13AEFF325EC8}"/>
              </a:ext>
            </a:extLst>
          </p:cNvPr>
          <p:cNvSpPr/>
          <p:nvPr/>
        </p:nvSpPr>
        <p:spPr>
          <a:xfrm>
            <a:off x="2047936" y="2526154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556547A1-75F5-0677-C2C7-7F3A715F6CE2}"/>
              </a:ext>
            </a:extLst>
          </p:cNvPr>
          <p:cNvSpPr/>
          <p:nvPr/>
        </p:nvSpPr>
        <p:spPr>
          <a:xfrm>
            <a:off x="4565055" y="4525461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6CC50A7E-B093-555E-5BB3-A9DF13D0974A}"/>
              </a:ext>
            </a:extLst>
          </p:cNvPr>
          <p:cNvSpPr/>
          <p:nvPr/>
        </p:nvSpPr>
        <p:spPr>
          <a:xfrm>
            <a:off x="6790699" y="4525461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8DF6C897-AC34-CCA4-DCD8-FB8E920650A3}"/>
              </a:ext>
            </a:extLst>
          </p:cNvPr>
          <p:cNvSpPr/>
          <p:nvPr/>
        </p:nvSpPr>
        <p:spPr>
          <a:xfrm>
            <a:off x="4247316" y="2278630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5FF7DA01-656B-8904-994F-7B944F6C9476}"/>
              </a:ext>
            </a:extLst>
          </p:cNvPr>
          <p:cNvSpPr/>
          <p:nvPr/>
        </p:nvSpPr>
        <p:spPr>
          <a:xfrm>
            <a:off x="1476059" y="2971688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33F518E-2FE7-A403-CDEA-BC29F74D0363}"/>
              </a:ext>
            </a:extLst>
          </p:cNvPr>
          <p:cNvSpPr/>
          <p:nvPr/>
        </p:nvSpPr>
        <p:spPr>
          <a:xfrm>
            <a:off x="3629275" y="1358662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49AE45C9-6F40-9CAD-3293-0ADE6CA79277}"/>
              </a:ext>
            </a:extLst>
          </p:cNvPr>
          <p:cNvSpPr/>
          <p:nvPr/>
        </p:nvSpPr>
        <p:spPr>
          <a:xfrm>
            <a:off x="5298624" y="1385485"/>
            <a:ext cx="171796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4296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10C3-D55F-E6CC-FA96-BDBDC395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18B93B3-6E83-9C61-DA63-2BC5E1C1D1A7}"/>
              </a:ext>
            </a:extLst>
          </p:cNvPr>
          <p:cNvSpPr/>
          <p:nvPr/>
        </p:nvSpPr>
        <p:spPr>
          <a:xfrm>
            <a:off x="235491" y="547940"/>
            <a:ext cx="11956509" cy="6054090"/>
          </a:xfrm>
          <a:prstGeom prst="rect">
            <a:avLst/>
          </a:pr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73FA4E-FE1A-C64B-1645-C185B609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AI Integration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9BA7C-0E90-2E62-F309-BCB8EF8CB3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42088"/>
            <a:ext cx="473075" cy="155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253715-E021-499C-A0B4-4B79CC9D2C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02033">
                    <a:tint val="82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02033">
                  <a:tint val="82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42FFA-D690-ABE2-8054-A971889B2504}"/>
              </a:ext>
            </a:extLst>
          </p:cNvPr>
          <p:cNvSpPr txBox="1">
            <a:spLocks/>
          </p:cNvSpPr>
          <p:nvPr/>
        </p:nvSpPr>
        <p:spPr>
          <a:xfrm>
            <a:off x="0" y="71140"/>
            <a:ext cx="10972800" cy="523220"/>
          </a:xfrm>
          <a:noFill/>
        </p:spPr>
        <p:txBody>
          <a:bodyPr lIns="91440" tIns="45720" rIns="91440" bIns="45720" anchor="t"/>
          <a:lstStyle>
            <a:lvl1pPr marL="228389" indent="-228389" algn="l" defTabSz="913554" rtl="0" eaLnBrk="1" latinLnBrk="0" hangingPunct="1">
              <a:lnSpc>
                <a:spcPct val="90000"/>
              </a:lnSpc>
              <a:spcBef>
                <a:spcPts val="999"/>
              </a:spcBef>
              <a:buFont typeface="Arial" panose="020B0604020202020204" pitchFamily="34" charset="0"/>
              <a:buChar char="•"/>
              <a:defRPr sz="27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160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937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715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486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2269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9040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5812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2595" indent="-228389" algn="l" defTabSz="9135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554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3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462E5-1543-CC10-4783-5DEE851F0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17" y="844755"/>
            <a:ext cx="9340358" cy="528569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1DEC81-FDA3-05E7-9815-51F5E35B74FD}"/>
              </a:ext>
            </a:extLst>
          </p:cNvPr>
          <p:cNvSpPr/>
          <p:nvPr/>
        </p:nvSpPr>
        <p:spPr>
          <a:xfrm>
            <a:off x="9989091" y="1790700"/>
            <a:ext cx="1967418" cy="433974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olid"/>
            <a:headEnd w="sm" len="sm"/>
            <a:tailEnd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Human Oversite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9791E4-9CF4-EB20-7FC9-F61D009F8BC4}"/>
              </a:ext>
            </a:extLst>
          </p:cNvPr>
          <p:cNvSpPr/>
          <p:nvPr/>
        </p:nvSpPr>
        <p:spPr>
          <a:xfrm>
            <a:off x="10122188" y="3753003"/>
            <a:ext cx="1701224" cy="971549"/>
          </a:xfrm>
          <a:prstGeom prst="roundRect">
            <a:avLst>
              <a:gd name="adj" fmla="val 1218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8288" tIns="18288" rIns="18288" bIns="18288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Dashboard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3D62B8-704B-9A2F-E5B1-1F6AFCCB4944}"/>
              </a:ext>
            </a:extLst>
          </p:cNvPr>
          <p:cNvSpPr/>
          <p:nvPr/>
        </p:nvSpPr>
        <p:spPr>
          <a:xfrm>
            <a:off x="10122188" y="4932121"/>
            <a:ext cx="1701224" cy="971549"/>
          </a:xfrm>
          <a:prstGeom prst="roundRect">
            <a:avLst>
              <a:gd name="adj" fmla="val 1218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8288" tIns="18288" rIns="18288" bIns="18288"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Approvals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46F7A-DF29-B247-DB10-D72A93CE7D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89207" y="2283839"/>
            <a:ext cx="967185" cy="10647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EFECFA-3033-F565-E2E5-55F3AC55C78F}"/>
              </a:ext>
            </a:extLst>
          </p:cNvPr>
          <p:cNvSpPr txBox="1"/>
          <p:nvPr/>
        </p:nvSpPr>
        <p:spPr>
          <a:xfrm>
            <a:off x="10471827" y="3302208"/>
            <a:ext cx="9845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Administrator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3277209-33D7-EB75-0AFE-57A9791EB742}"/>
              </a:ext>
            </a:extLst>
          </p:cNvPr>
          <p:cNvSpPr/>
          <p:nvPr/>
        </p:nvSpPr>
        <p:spPr>
          <a:xfrm>
            <a:off x="473075" y="4932121"/>
            <a:ext cx="3380468" cy="13315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7C14775-4508-30EF-028A-3B01E4E42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38" y="5003369"/>
            <a:ext cx="2827704" cy="856585"/>
          </a:xfrm>
          <a:prstGeom prst="rect">
            <a:avLst/>
          </a:prstGeom>
        </p:spPr>
      </p:pic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B752B0A-EC2D-D926-F0CC-253286CDC074}"/>
              </a:ext>
            </a:extLst>
          </p:cNvPr>
          <p:cNvSpPr/>
          <p:nvPr/>
        </p:nvSpPr>
        <p:spPr>
          <a:xfrm>
            <a:off x="2661557" y="3302208"/>
            <a:ext cx="457200" cy="698292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Listener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4A27918-5752-F1B0-74E9-787DE3B98483}"/>
              </a:ext>
            </a:extLst>
          </p:cNvPr>
          <p:cNvSpPr/>
          <p:nvPr/>
        </p:nvSpPr>
        <p:spPr>
          <a:xfrm>
            <a:off x="3665862" y="3169654"/>
            <a:ext cx="457200" cy="830846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Listener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241D0D7-1586-0B5F-694A-05DB1F7E428A}"/>
              </a:ext>
            </a:extLst>
          </p:cNvPr>
          <p:cNvSpPr/>
          <p:nvPr/>
        </p:nvSpPr>
        <p:spPr>
          <a:xfrm>
            <a:off x="6741611" y="3169655"/>
            <a:ext cx="457200" cy="86817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Listener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EB3BC04-E01B-7F6C-7682-BA442D698D53}"/>
              </a:ext>
            </a:extLst>
          </p:cNvPr>
          <p:cNvSpPr/>
          <p:nvPr/>
        </p:nvSpPr>
        <p:spPr>
          <a:xfrm>
            <a:off x="5486400" y="5262275"/>
            <a:ext cx="485192" cy="75097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/>
              <a:t>Listener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53EF7BDD-5FF4-D6D6-8B27-41409BF7004D}"/>
              </a:ext>
            </a:extLst>
          </p:cNvPr>
          <p:cNvSpPr/>
          <p:nvPr/>
        </p:nvSpPr>
        <p:spPr>
          <a:xfrm>
            <a:off x="7389845" y="1194318"/>
            <a:ext cx="923730" cy="298580"/>
          </a:xfrm>
          <a:prstGeom prst="can">
            <a:avLst>
              <a:gd name="adj" fmla="val 15625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Platform Metadata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6CF21F6-C34B-A76E-A2A1-978B7C5309B0}"/>
              </a:ext>
            </a:extLst>
          </p:cNvPr>
          <p:cNvSpPr txBox="1"/>
          <p:nvPr/>
        </p:nvSpPr>
        <p:spPr>
          <a:xfrm>
            <a:off x="6741611" y="935096"/>
            <a:ext cx="501740" cy="16158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050">
                <a:solidFill>
                  <a:schemeClr val="tx1">
                    <a:lumMod val="75000"/>
                  </a:schemeClr>
                </a:solidFill>
                <a:latin typeface="Aptos" panose="020B0004020202020204" pitchFamily="34" charset="0"/>
              </a:rPr>
              <a:t>Platform</a:t>
            </a:r>
          </a:p>
        </p:txBody>
      </p:sp>
      <p:sp>
        <p:nvSpPr>
          <p:cNvPr id="75" name="Cylinder 74">
            <a:extLst>
              <a:ext uri="{FF2B5EF4-FFF2-40B4-BE49-F238E27FC236}">
                <a16:creationId xmlns:a16="http://schemas.microsoft.com/office/drawing/2014/main" id="{8C6D7D93-7B60-74A5-A5A4-16FE671F1A4D}"/>
              </a:ext>
            </a:extLst>
          </p:cNvPr>
          <p:cNvSpPr/>
          <p:nvPr/>
        </p:nvSpPr>
        <p:spPr>
          <a:xfrm>
            <a:off x="8463129" y="5412571"/>
            <a:ext cx="1156732" cy="419390"/>
          </a:xfrm>
          <a:prstGeom prst="can">
            <a:avLst>
              <a:gd name="adj" fmla="val 2372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Platform  Message Log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79A46-8BB2-39AE-E5FC-D64D477B831E}"/>
              </a:ext>
            </a:extLst>
          </p:cNvPr>
          <p:cNvSpPr/>
          <p:nvPr/>
        </p:nvSpPr>
        <p:spPr>
          <a:xfrm>
            <a:off x="3671942" y="4477417"/>
            <a:ext cx="2867395" cy="2210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SERVICE / MESSAGE BUS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37209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EC5E-D47D-237A-1E20-ADCE8105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B31D-D32C-62E5-11DA-E4E1822F7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Technical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26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5F9D-5DDD-3D29-1F80-F760C4F7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2D5331-59CB-DCE0-2E72-EC646F94DD2D}"/>
              </a:ext>
            </a:extLst>
          </p:cNvPr>
          <p:cNvSpPr/>
          <p:nvPr/>
        </p:nvSpPr>
        <p:spPr>
          <a:xfrm>
            <a:off x="1980690" y="774849"/>
            <a:ext cx="8596507" cy="5456996"/>
          </a:xfrm>
          <a:prstGeom prst="roundRect">
            <a:avLst>
              <a:gd name="adj" fmla="val 3058"/>
            </a:avLst>
          </a:prstGeom>
          <a:solidFill>
            <a:schemeClr val="tx1">
              <a:lumMod val="10000"/>
              <a:lumOff val="90000"/>
            </a:schemeClr>
          </a:solidFill>
          <a:ln w="158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NAVITUS DLH DATA PLATFORM</a:t>
            </a:r>
          </a:p>
        </p:txBody>
      </p: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7DF4F9AE-1849-D054-4528-A99F5F60EAD9}"/>
              </a:ext>
            </a:extLst>
          </p:cNvPr>
          <p:cNvSpPr/>
          <p:nvPr/>
        </p:nvSpPr>
        <p:spPr>
          <a:xfrm>
            <a:off x="6368190" y="1244847"/>
            <a:ext cx="2699609" cy="1458351"/>
          </a:xfrm>
          <a:prstGeom prst="roundRect">
            <a:avLst>
              <a:gd name="adj" fmla="val 9766"/>
            </a:avLst>
          </a:prstGeom>
          <a:solidFill>
            <a:schemeClr val="accent1"/>
          </a:solidFill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5CA16AC7-47AB-9B73-2313-3894C286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tabLst>
                <a:tab pos="10668000" algn="l"/>
              </a:tabLst>
            </a:pPr>
            <a:r>
              <a:rPr lang="en-US" sz="2500">
                <a:latin typeface="Segoe UI Semibold"/>
                <a:cs typeface="Segoe UI Semibold"/>
              </a:rPr>
              <a:t>DLH Platform Logical Architecture Overview</a:t>
            </a:r>
            <a:endParaRPr lang="en-IN" sz="2500">
              <a:latin typeface="Segoe UI Semibold"/>
              <a:cs typeface="Segoe UI Semibold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7544E-98F2-4EFE-68BB-1FA459D812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42088"/>
            <a:ext cx="473075" cy="15557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GB" sz="1100" b="0" i="0" u="none" strike="noStrike" kern="1200" cap="none" spc="0" normalizeH="0" baseline="0" noProof="0" smtClean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Tenorite" pitchFamily="2" charset="0"/>
              <a:ea typeface="+mn-ea"/>
              <a:cs typeface="+mn-cs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FEDBD34-C735-C505-6459-4F351391BE28}"/>
              </a:ext>
            </a:extLst>
          </p:cNvPr>
          <p:cNvSpPr/>
          <p:nvPr/>
        </p:nvSpPr>
        <p:spPr>
          <a:xfrm>
            <a:off x="10697600" y="1108244"/>
            <a:ext cx="1383680" cy="5000736"/>
          </a:xfrm>
          <a:prstGeom prst="roundRect">
            <a:avLst>
              <a:gd name="adj" fmla="val 7545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72739E-711F-C449-0BE7-03202BD87317}"/>
              </a:ext>
            </a:extLst>
          </p:cNvPr>
          <p:cNvSpPr/>
          <p:nvPr/>
        </p:nvSpPr>
        <p:spPr>
          <a:xfrm>
            <a:off x="335280" y="1041388"/>
            <a:ext cx="1366038" cy="5085933"/>
          </a:xfrm>
          <a:prstGeom prst="roundRect">
            <a:avLst>
              <a:gd name="adj" fmla="val 8829"/>
            </a:avLst>
          </a:prstGeom>
          <a:solidFill>
            <a:schemeClr val="bg1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75C54D-9C4C-BFAB-2372-0BB434296C49}"/>
              </a:ext>
            </a:extLst>
          </p:cNvPr>
          <p:cNvSpPr/>
          <p:nvPr/>
        </p:nvSpPr>
        <p:spPr>
          <a:xfrm>
            <a:off x="554929" y="1840342"/>
            <a:ext cx="923211" cy="6465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algn="ctr">
              <a:defRPr/>
            </a:pPr>
            <a:r>
              <a:rPr lang="en-US" sz="1000">
                <a:solidFill>
                  <a:srgbClr val="FFFFFF"/>
                </a:solidFill>
                <a:latin typeface="Calibri" panose="020F0502020204030204"/>
              </a:rPr>
              <a:t>Plan &amp; Benefit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3F4FD1-D3DC-BCB2-B069-C11BE5E198D4}"/>
              </a:ext>
            </a:extLst>
          </p:cNvPr>
          <p:cNvSpPr/>
          <p:nvPr/>
        </p:nvSpPr>
        <p:spPr>
          <a:xfrm>
            <a:off x="554929" y="2703198"/>
            <a:ext cx="923211" cy="6465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FFFFFF"/>
                </a:solidFill>
                <a:latin typeface="Calibri" panose="020F0502020204030204"/>
              </a:rPr>
              <a:t>Claim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endParaRPr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876EF5-A4BB-0CC5-01FD-BA04D4457F13}"/>
              </a:ext>
            </a:extLst>
          </p:cNvPr>
          <p:cNvSpPr/>
          <p:nvPr/>
        </p:nvSpPr>
        <p:spPr>
          <a:xfrm>
            <a:off x="554929" y="4440082"/>
            <a:ext cx="923211" cy="6465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Government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565EB7-C9E8-502D-E858-1302AE7A626C}"/>
              </a:ext>
            </a:extLst>
          </p:cNvPr>
          <p:cNvSpPr/>
          <p:nvPr/>
        </p:nvSpPr>
        <p:spPr>
          <a:xfrm>
            <a:off x="554929" y="3571640"/>
            <a:ext cx="923211" cy="6465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Party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9C1263-4A23-DC38-4EE2-9CA966A1ECE7}"/>
              </a:ext>
            </a:extLst>
          </p:cNvPr>
          <p:cNvSpPr/>
          <p:nvPr/>
        </p:nvSpPr>
        <p:spPr>
          <a:xfrm>
            <a:off x="554929" y="5308524"/>
            <a:ext cx="923211" cy="64655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635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Lumicera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cxnSp>
        <p:nvCxnSpPr>
          <p:cNvPr id="16" name="Straight Arrow Connector 77">
            <a:extLst>
              <a:ext uri="{FF2B5EF4-FFF2-40B4-BE49-F238E27FC236}">
                <a16:creationId xmlns:a16="http://schemas.microsoft.com/office/drawing/2014/main" id="{E20CEDD7-CF48-D622-5E97-CA9D8AA651EE}"/>
              </a:ext>
            </a:extLst>
          </p:cNvPr>
          <p:cNvCxnSpPr>
            <a:cxnSpLocks/>
          </p:cNvCxnSpPr>
          <p:nvPr/>
        </p:nvCxnSpPr>
        <p:spPr>
          <a:xfrm flipV="1">
            <a:off x="1478141" y="2562555"/>
            <a:ext cx="712955" cy="463919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75000"/>
              </a:schemeClr>
            </a:solidFill>
            <a:tailEnd type="arrow" w="lg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77">
            <a:extLst>
              <a:ext uri="{FF2B5EF4-FFF2-40B4-BE49-F238E27FC236}">
                <a16:creationId xmlns:a16="http://schemas.microsoft.com/office/drawing/2014/main" id="{A6C1B471-9715-8C15-3688-2C382C307E56}"/>
              </a:ext>
            </a:extLst>
          </p:cNvPr>
          <p:cNvCxnSpPr>
            <a:cxnSpLocks/>
          </p:cNvCxnSpPr>
          <p:nvPr/>
        </p:nvCxnSpPr>
        <p:spPr>
          <a:xfrm flipV="1">
            <a:off x="1478141" y="2562555"/>
            <a:ext cx="712955" cy="133236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arrow" w="lg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77">
            <a:extLst>
              <a:ext uri="{FF2B5EF4-FFF2-40B4-BE49-F238E27FC236}">
                <a16:creationId xmlns:a16="http://schemas.microsoft.com/office/drawing/2014/main" id="{3391CB60-C759-A83A-BDCA-4A59E3B8D520}"/>
              </a:ext>
            </a:extLst>
          </p:cNvPr>
          <p:cNvCxnSpPr>
            <a:cxnSpLocks/>
          </p:cNvCxnSpPr>
          <p:nvPr/>
        </p:nvCxnSpPr>
        <p:spPr>
          <a:xfrm flipV="1">
            <a:off x="1478141" y="2562555"/>
            <a:ext cx="712955" cy="2200804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75000"/>
              </a:schemeClr>
            </a:solidFill>
            <a:tailEnd type="arrow" w="lg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77">
            <a:extLst>
              <a:ext uri="{FF2B5EF4-FFF2-40B4-BE49-F238E27FC236}">
                <a16:creationId xmlns:a16="http://schemas.microsoft.com/office/drawing/2014/main" id="{352C09B7-0064-1CB8-783C-21FF783CFA85}"/>
              </a:ext>
            </a:extLst>
          </p:cNvPr>
          <p:cNvCxnSpPr>
            <a:cxnSpLocks/>
          </p:cNvCxnSpPr>
          <p:nvPr/>
        </p:nvCxnSpPr>
        <p:spPr>
          <a:xfrm flipV="1">
            <a:off x="1478141" y="2562555"/>
            <a:ext cx="712955" cy="3069246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75000"/>
              </a:schemeClr>
            </a:solidFill>
            <a:tailEnd type="arrow" w="lg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410">
            <a:extLst>
              <a:ext uri="{FF2B5EF4-FFF2-40B4-BE49-F238E27FC236}">
                <a16:creationId xmlns:a16="http://schemas.microsoft.com/office/drawing/2014/main" id="{0C803B14-3CC6-DF52-4517-84D83DAD41C2}"/>
              </a:ext>
            </a:extLst>
          </p:cNvPr>
          <p:cNvCxnSpPr>
            <a:cxnSpLocks/>
          </p:cNvCxnSpPr>
          <p:nvPr/>
        </p:nvCxnSpPr>
        <p:spPr>
          <a:xfrm flipH="1" flipV="1">
            <a:off x="1701318" y="1899457"/>
            <a:ext cx="493032" cy="1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B25BFE3-F4EA-53F5-B662-542682786351}"/>
              </a:ext>
            </a:extLst>
          </p:cNvPr>
          <p:cNvSpPr/>
          <p:nvPr/>
        </p:nvSpPr>
        <p:spPr>
          <a:xfrm>
            <a:off x="2191095" y="2352407"/>
            <a:ext cx="582506" cy="511734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Ingest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21DCCD-1609-60E9-4140-78CF183EDE5E}"/>
              </a:ext>
            </a:extLst>
          </p:cNvPr>
          <p:cNvSpPr/>
          <p:nvPr/>
        </p:nvSpPr>
        <p:spPr>
          <a:xfrm>
            <a:off x="10857421" y="5276989"/>
            <a:ext cx="1079274" cy="678089"/>
          </a:xfrm>
          <a:prstGeom prst="roundRect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</a:t>
            </a:r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4853FD39-D5A1-C33D-32CB-D78F607D8CFF}"/>
              </a:ext>
            </a:extLst>
          </p:cNvPr>
          <p:cNvSpPr/>
          <p:nvPr/>
        </p:nvSpPr>
        <p:spPr>
          <a:xfrm>
            <a:off x="2187757" y="3503347"/>
            <a:ext cx="581422" cy="437306"/>
          </a:xfrm>
          <a:prstGeom prst="can">
            <a:avLst>
              <a:gd name="adj" fmla="val 13565"/>
            </a:avLst>
          </a:prstGeom>
          <a:solidFill>
            <a:schemeClr val="accent2"/>
          </a:solidFill>
          <a:ln w="6350" cap="flat">
            <a:solidFill>
              <a:schemeClr val="accent2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Data</a:t>
            </a:r>
          </a:p>
        </p:txBody>
      </p:sp>
      <p:cxnSp>
        <p:nvCxnSpPr>
          <p:cNvPr id="43" name="Connector: Elbow 168">
            <a:extLst>
              <a:ext uri="{FF2B5EF4-FFF2-40B4-BE49-F238E27FC236}">
                <a16:creationId xmlns:a16="http://schemas.microsoft.com/office/drawing/2014/main" id="{AF0EC66E-BBB5-3B92-81FE-30654974949D}"/>
              </a:ext>
            </a:extLst>
          </p:cNvPr>
          <p:cNvCxnSpPr>
            <a:cxnSpLocks/>
            <a:stCxn id="104" idx="3"/>
            <a:endCxn id="29" idx="3"/>
          </p:cNvCxnSpPr>
          <p:nvPr/>
        </p:nvCxnSpPr>
        <p:spPr>
          <a:xfrm rot="5400000">
            <a:off x="3008001" y="2170700"/>
            <a:ext cx="203175" cy="671973"/>
          </a:xfrm>
          <a:prstGeom prst="bentConnector2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9E6FC64-F091-7F5C-DB37-E7DE9645D6A5}"/>
              </a:ext>
            </a:extLst>
          </p:cNvPr>
          <p:cNvSpPr/>
          <p:nvPr/>
        </p:nvSpPr>
        <p:spPr>
          <a:xfrm>
            <a:off x="2194349" y="1587915"/>
            <a:ext cx="575997" cy="485927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APIs</a:t>
            </a:r>
          </a:p>
        </p:txBody>
      </p:sp>
      <p:sp>
        <p:nvSpPr>
          <p:cNvPr id="50" name="Cylinder 49">
            <a:extLst>
              <a:ext uri="{FF2B5EF4-FFF2-40B4-BE49-F238E27FC236}">
                <a16:creationId xmlns:a16="http://schemas.microsoft.com/office/drawing/2014/main" id="{F0F2A618-E218-EF4E-4578-84EFCA6F812A}"/>
              </a:ext>
            </a:extLst>
          </p:cNvPr>
          <p:cNvSpPr/>
          <p:nvPr/>
        </p:nvSpPr>
        <p:spPr>
          <a:xfrm>
            <a:off x="2194349" y="5043421"/>
            <a:ext cx="581422" cy="437306"/>
          </a:xfrm>
          <a:prstGeom prst="can">
            <a:avLst>
              <a:gd name="adj" fmla="val 13565"/>
            </a:avLst>
          </a:prstGeom>
          <a:solidFill>
            <a:schemeClr val="accent2"/>
          </a:solidFill>
          <a:ln w="6350" cap="flat">
            <a:solidFill>
              <a:schemeClr val="accent2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 Data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7E76CDC-444E-CD2D-F167-A9FD6992797D}"/>
              </a:ext>
            </a:extLst>
          </p:cNvPr>
          <p:cNvSpPr/>
          <p:nvPr/>
        </p:nvSpPr>
        <p:spPr>
          <a:xfrm>
            <a:off x="3092940" y="5199373"/>
            <a:ext cx="50421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0D15A91-AFD1-10F3-838C-66F478C8FF17}"/>
              </a:ext>
            </a:extLst>
          </p:cNvPr>
          <p:cNvSpPr/>
          <p:nvPr/>
        </p:nvSpPr>
        <p:spPr>
          <a:xfrm>
            <a:off x="3373642" y="3661144"/>
            <a:ext cx="50421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" name="Connector: Elbow 410">
            <a:extLst>
              <a:ext uri="{FF2B5EF4-FFF2-40B4-BE49-F238E27FC236}">
                <a16:creationId xmlns:a16="http://schemas.microsoft.com/office/drawing/2014/main" id="{5E6FF0D6-9B7A-2788-39A1-A070F29BDB5D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2775771" y="5259884"/>
            <a:ext cx="317169" cy="2191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410">
            <a:extLst>
              <a:ext uri="{FF2B5EF4-FFF2-40B4-BE49-F238E27FC236}">
                <a16:creationId xmlns:a16="http://schemas.microsoft.com/office/drawing/2014/main" id="{FE6A799B-69D6-2700-5EE4-B44F68356C89}"/>
              </a:ext>
            </a:extLst>
          </p:cNvPr>
          <p:cNvCxnSpPr>
            <a:cxnSpLocks/>
            <a:stCxn id="104" idx="1"/>
            <a:endCxn id="49" idx="3"/>
          </p:cNvCxnSpPr>
          <p:nvPr/>
        </p:nvCxnSpPr>
        <p:spPr>
          <a:xfrm rot="16200000" flipV="1">
            <a:off x="3025936" y="1575290"/>
            <a:ext cx="164049" cy="675228"/>
          </a:xfrm>
          <a:prstGeom prst="bentConnector2">
            <a:avLst/>
          </a:prstGeom>
          <a:ln w="15875">
            <a:solidFill>
              <a:schemeClr val="bg1">
                <a:lumMod val="75000"/>
              </a:schemeClr>
            </a:solidFill>
            <a:prstDash val="solid"/>
            <a:headEnd type="arrow" w="lg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71439101-3F84-798B-941A-47EBACD7D866}"/>
              </a:ext>
            </a:extLst>
          </p:cNvPr>
          <p:cNvSpPr/>
          <p:nvPr/>
        </p:nvSpPr>
        <p:spPr>
          <a:xfrm>
            <a:off x="2179002" y="2736793"/>
            <a:ext cx="64827" cy="724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1D4645F-E963-5DC5-0289-F9486ED0E62F}"/>
              </a:ext>
            </a:extLst>
          </p:cNvPr>
          <p:cNvSpPr/>
          <p:nvPr/>
        </p:nvSpPr>
        <p:spPr>
          <a:xfrm>
            <a:off x="2182745" y="2335978"/>
            <a:ext cx="50421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" name="Connector: Elbow 410">
            <a:extLst>
              <a:ext uri="{FF2B5EF4-FFF2-40B4-BE49-F238E27FC236}">
                <a16:creationId xmlns:a16="http://schemas.microsoft.com/office/drawing/2014/main" id="{4F0C62C3-3B6F-C262-2A6E-806729960C50}"/>
              </a:ext>
            </a:extLst>
          </p:cNvPr>
          <p:cNvCxnSpPr>
            <a:cxnSpLocks/>
          </p:cNvCxnSpPr>
          <p:nvPr/>
        </p:nvCxnSpPr>
        <p:spPr>
          <a:xfrm rot="10800000">
            <a:off x="1478141" y="2163619"/>
            <a:ext cx="712955" cy="398937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75000"/>
              </a:schemeClr>
            </a:solidFill>
            <a:prstDash val="solid"/>
            <a:headEnd type="arrow" w="lg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ylinder 86">
            <a:extLst>
              <a:ext uri="{FF2B5EF4-FFF2-40B4-BE49-F238E27FC236}">
                <a16:creationId xmlns:a16="http://schemas.microsoft.com/office/drawing/2014/main" id="{560CE504-DF52-0EF8-E37E-67448F09EF05}"/>
              </a:ext>
            </a:extLst>
          </p:cNvPr>
          <p:cNvSpPr/>
          <p:nvPr/>
        </p:nvSpPr>
        <p:spPr>
          <a:xfrm>
            <a:off x="2185368" y="4150491"/>
            <a:ext cx="581422" cy="437306"/>
          </a:xfrm>
          <a:prstGeom prst="can">
            <a:avLst>
              <a:gd name="adj" fmla="val 15199"/>
            </a:avLst>
          </a:prstGeom>
          <a:solidFill>
            <a:schemeClr val="accent2"/>
          </a:solidFill>
          <a:ln w="6350" cap="flat">
            <a:solidFill>
              <a:schemeClr val="accent2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2DB983B-E5B8-224D-ABF1-C22F57C14B84}"/>
              </a:ext>
            </a:extLst>
          </p:cNvPr>
          <p:cNvSpPr/>
          <p:nvPr/>
        </p:nvSpPr>
        <p:spPr>
          <a:xfrm>
            <a:off x="3430597" y="5177114"/>
            <a:ext cx="50421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A8B775A-E2E8-7AD3-70B8-BC4D1B19CC38}"/>
              </a:ext>
            </a:extLst>
          </p:cNvPr>
          <p:cNvSpPr/>
          <p:nvPr/>
        </p:nvSpPr>
        <p:spPr>
          <a:xfrm>
            <a:off x="10867432" y="2760308"/>
            <a:ext cx="1070010" cy="521868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Development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FD68C353-49EB-970F-4D77-2C867BEDDEF4}"/>
              </a:ext>
            </a:extLst>
          </p:cNvPr>
          <p:cNvSpPr/>
          <p:nvPr/>
        </p:nvSpPr>
        <p:spPr>
          <a:xfrm>
            <a:off x="10867432" y="1899608"/>
            <a:ext cx="1070010" cy="587286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SME / Stewards 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AE75B299-FFD9-0056-98FD-5833E412A59B}"/>
              </a:ext>
            </a:extLst>
          </p:cNvPr>
          <p:cNvSpPr/>
          <p:nvPr/>
        </p:nvSpPr>
        <p:spPr>
          <a:xfrm>
            <a:off x="10867432" y="3555588"/>
            <a:ext cx="1070010" cy="587286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Science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78CB37-3CE2-7217-3217-63592ED44052}"/>
              </a:ext>
            </a:extLst>
          </p:cNvPr>
          <p:cNvSpPr/>
          <p:nvPr/>
        </p:nvSpPr>
        <p:spPr>
          <a:xfrm>
            <a:off x="9146765" y="1232208"/>
            <a:ext cx="1303564" cy="4761180"/>
          </a:xfrm>
          <a:prstGeom prst="roundRect">
            <a:avLst>
              <a:gd name="adj" fmla="val 7545"/>
            </a:avLst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Consumables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6F882F-0A6B-561D-3F02-3E378D50A3A2}"/>
              </a:ext>
            </a:extLst>
          </p:cNvPr>
          <p:cNvSpPr/>
          <p:nvPr/>
        </p:nvSpPr>
        <p:spPr>
          <a:xfrm>
            <a:off x="9302062" y="2483864"/>
            <a:ext cx="1009522" cy="7081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 &amp; Analytics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967384-1821-44D6-C82A-733114C7294D}"/>
              </a:ext>
            </a:extLst>
          </p:cNvPr>
          <p:cNvSpPr/>
          <p:nvPr/>
        </p:nvSpPr>
        <p:spPr>
          <a:xfrm>
            <a:off x="9395462" y="2773000"/>
            <a:ext cx="825503" cy="270567"/>
          </a:xfrm>
          <a:prstGeom prst="roundRect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800">
                <a:solidFill>
                  <a:prstClr val="white"/>
                </a:solidFill>
                <a:latin typeface="Calibri" panose="020F0502020204030204"/>
              </a:rPr>
              <a:t>Datamarts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302AB3-CF4D-07AB-2DFF-8E7852888ECA}"/>
              </a:ext>
            </a:extLst>
          </p:cNvPr>
          <p:cNvSpPr/>
          <p:nvPr/>
        </p:nvSpPr>
        <p:spPr>
          <a:xfrm>
            <a:off x="9302061" y="5099475"/>
            <a:ext cx="1018238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Transactional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Gateway 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D0667CC-C6D0-1FF0-7CED-53936C2957DB}"/>
              </a:ext>
            </a:extLst>
          </p:cNvPr>
          <p:cNvSpPr/>
          <p:nvPr/>
        </p:nvSpPr>
        <p:spPr>
          <a:xfrm>
            <a:off x="9147821" y="5280622"/>
            <a:ext cx="148091" cy="17093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26A65CB-86E8-D444-AB47-6DA5419FFC6B}"/>
              </a:ext>
            </a:extLst>
          </p:cNvPr>
          <p:cNvSpPr/>
          <p:nvPr/>
        </p:nvSpPr>
        <p:spPr>
          <a:xfrm>
            <a:off x="9140643" y="4238496"/>
            <a:ext cx="148091" cy="17093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A38B4A8-2FC4-1603-2D78-1A2890B7E8EE}"/>
              </a:ext>
            </a:extLst>
          </p:cNvPr>
          <p:cNvSpPr/>
          <p:nvPr/>
        </p:nvSpPr>
        <p:spPr>
          <a:xfrm>
            <a:off x="9290408" y="3368486"/>
            <a:ext cx="1021176" cy="689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Curated Data Sets </a:t>
            </a:r>
          </a:p>
        </p:txBody>
      </p:sp>
      <p:sp>
        <p:nvSpPr>
          <p:cNvPr id="91" name="Cylinder 90">
            <a:extLst>
              <a:ext uri="{FF2B5EF4-FFF2-40B4-BE49-F238E27FC236}">
                <a16:creationId xmlns:a16="http://schemas.microsoft.com/office/drawing/2014/main" id="{A62C04DE-3872-68A6-E53F-D417E9D288FF}"/>
              </a:ext>
            </a:extLst>
          </p:cNvPr>
          <p:cNvSpPr/>
          <p:nvPr/>
        </p:nvSpPr>
        <p:spPr>
          <a:xfrm>
            <a:off x="9381650" y="3662610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92" name="Cylinder 91">
            <a:extLst>
              <a:ext uri="{FF2B5EF4-FFF2-40B4-BE49-F238E27FC236}">
                <a16:creationId xmlns:a16="http://schemas.microsoft.com/office/drawing/2014/main" id="{009645F7-96BC-AE61-2D4C-5D9EF255048C}"/>
              </a:ext>
            </a:extLst>
          </p:cNvPr>
          <p:cNvSpPr/>
          <p:nvPr/>
        </p:nvSpPr>
        <p:spPr>
          <a:xfrm>
            <a:off x="9960463" y="3662610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93" name="Cylinder 92">
            <a:extLst>
              <a:ext uri="{FF2B5EF4-FFF2-40B4-BE49-F238E27FC236}">
                <a16:creationId xmlns:a16="http://schemas.microsoft.com/office/drawing/2014/main" id="{43B385C2-5CEF-95B2-EAC8-E22E6CD9D45C}"/>
              </a:ext>
            </a:extLst>
          </p:cNvPr>
          <p:cNvSpPr/>
          <p:nvPr/>
        </p:nvSpPr>
        <p:spPr>
          <a:xfrm>
            <a:off x="9677881" y="3811077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B5BE1359-B9D6-25FF-E03B-BC1942B02C23}"/>
              </a:ext>
            </a:extLst>
          </p:cNvPr>
          <p:cNvSpPr/>
          <p:nvPr/>
        </p:nvSpPr>
        <p:spPr>
          <a:xfrm>
            <a:off x="9302062" y="1618372"/>
            <a:ext cx="1018237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Native 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64B001E8-66D0-5C1A-0FF0-762827765E30}"/>
              </a:ext>
            </a:extLst>
          </p:cNvPr>
          <p:cNvSpPr/>
          <p:nvPr/>
        </p:nvSpPr>
        <p:spPr>
          <a:xfrm>
            <a:off x="9428322" y="1897601"/>
            <a:ext cx="745350" cy="278216"/>
          </a:xfrm>
          <a:prstGeom prst="roundRect">
            <a:avLst/>
          </a:prstGeom>
          <a:solidFill>
            <a:srgbClr val="00B0F0"/>
          </a:solidFill>
          <a:ln w="6350" cap="flat">
            <a:solidFill>
              <a:schemeClr val="accent5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6E2BA45-BC26-0A6B-0FF1-B388D40CCD13}"/>
              </a:ext>
            </a:extLst>
          </p:cNvPr>
          <p:cNvSpPr/>
          <p:nvPr/>
        </p:nvSpPr>
        <p:spPr>
          <a:xfrm>
            <a:off x="9293344" y="4233981"/>
            <a:ext cx="1018239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21703AB6-8913-2499-F247-D3766213DED2}"/>
              </a:ext>
            </a:extLst>
          </p:cNvPr>
          <p:cNvSpPr/>
          <p:nvPr/>
        </p:nvSpPr>
        <p:spPr>
          <a:xfrm>
            <a:off x="9429789" y="4559454"/>
            <a:ext cx="745350" cy="285794"/>
          </a:xfrm>
          <a:prstGeom prst="roundRect">
            <a:avLst/>
          </a:prstGeom>
          <a:solidFill>
            <a:srgbClr val="00B0F0"/>
          </a:solidFill>
          <a:ln w="6350" cap="flat">
            <a:solidFill>
              <a:schemeClr val="accent5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RAG/Vector DB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69C24DAB-91D8-6289-373C-F18E47861107}"/>
              </a:ext>
            </a:extLst>
          </p:cNvPr>
          <p:cNvSpPr/>
          <p:nvPr/>
        </p:nvSpPr>
        <p:spPr>
          <a:xfrm>
            <a:off x="10867432" y="4416288"/>
            <a:ext cx="1070010" cy="587286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EE3A109-12BD-AE9F-3833-CE533209AD82}"/>
              </a:ext>
            </a:extLst>
          </p:cNvPr>
          <p:cNvSpPr/>
          <p:nvPr/>
        </p:nvSpPr>
        <p:spPr>
          <a:xfrm>
            <a:off x="6780561" y="2087123"/>
            <a:ext cx="50421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EA93921-D4FD-4E1C-4C7D-DCF63196991F}"/>
              </a:ext>
            </a:extLst>
          </p:cNvPr>
          <p:cNvSpPr/>
          <p:nvPr/>
        </p:nvSpPr>
        <p:spPr>
          <a:xfrm>
            <a:off x="6213375" y="5297473"/>
            <a:ext cx="132485" cy="14103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B4BC3FE-8A6E-2A21-C75B-9CA99CD30BE9}"/>
              </a:ext>
            </a:extLst>
          </p:cNvPr>
          <p:cNvSpPr/>
          <p:nvPr/>
        </p:nvSpPr>
        <p:spPr>
          <a:xfrm>
            <a:off x="6198732" y="4242091"/>
            <a:ext cx="151840" cy="16758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1" name="Connector: Elbow 168">
            <a:extLst>
              <a:ext uri="{FF2B5EF4-FFF2-40B4-BE49-F238E27FC236}">
                <a16:creationId xmlns:a16="http://schemas.microsoft.com/office/drawing/2014/main" id="{9E4A58FD-C932-B16E-B8A7-E1154528436C}"/>
              </a:ext>
            </a:extLst>
          </p:cNvPr>
          <p:cNvCxnSpPr>
            <a:cxnSpLocks/>
            <a:stCxn id="108" idx="1"/>
          </p:cNvCxnSpPr>
          <p:nvPr/>
        </p:nvCxnSpPr>
        <p:spPr>
          <a:xfrm flipH="1">
            <a:off x="6281722" y="1945709"/>
            <a:ext cx="266176" cy="11316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9D4563-D8FF-B953-DC0F-99579696BD5E}"/>
              </a:ext>
            </a:extLst>
          </p:cNvPr>
          <p:cNvSpPr/>
          <p:nvPr/>
        </p:nvSpPr>
        <p:spPr>
          <a:xfrm>
            <a:off x="3104738" y="3119844"/>
            <a:ext cx="3263452" cy="2873544"/>
          </a:xfrm>
          <a:prstGeom prst="roundRect">
            <a:avLst>
              <a:gd name="adj" fmla="val 6253"/>
            </a:avLst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Platform Tools &amp; Services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EFEE3D7-07B8-4AE7-5735-F38B5F3F4A7F}"/>
              </a:ext>
            </a:extLst>
          </p:cNvPr>
          <p:cNvSpPr/>
          <p:nvPr/>
        </p:nvSpPr>
        <p:spPr>
          <a:xfrm>
            <a:off x="3202491" y="4097923"/>
            <a:ext cx="693529" cy="540367"/>
          </a:xfrm>
          <a:prstGeom prst="roundRect">
            <a:avLst/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MDM 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427559A-B399-1AC7-6FF2-6354AB04E500}"/>
              </a:ext>
            </a:extLst>
          </p:cNvPr>
          <p:cNvSpPr/>
          <p:nvPr/>
        </p:nvSpPr>
        <p:spPr>
          <a:xfrm>
            <a:off x="3202491" y="3440477"/>
            <a:ext cx="693529" cy="560230"/>
          </a:xfrm>
          <a:prstGeom prst="roundRect">
            <a:avLst/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Data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935E0C-CAC7-B5C4-4C72-25F286E2589E}"/>
              </a:ext>
            </a:extLst>
          </p:cNvPr>
          <p:cNvGrpSpPr/>
          <p:nvPr/>
        </p:nvGrpSpPr>
        <p:grpSpPr>
          <a:xfrm>
            <a:off x="3981322" y="5130862"/>
            <a:ext cx="2290932" cy="776397"/>
            <a:chOff x="7907866" y="1602044"/>
            <a:chExt cx="2269067" cy="76862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4D769E2-1633-D615-513E-44F0A95772C2}"/>
                </a:ext>
              </a:extLst>
            </p:cNvPr>
            <p:cNvSpPr/>
            <p:nvPr/>
          </p:nvSpPr>
          <p:spPr>
            <a:xfrm>
              <a:off x="7907866" y="1602044"/>
              <a:ext cx="2269067" cy="768624"/>
            </a:xfrm>
            <a:prstGeom prst="roundRect">
              <a:avLst>
                <a:gd name="adj" fmla="val 7018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PRODUCT MODULES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873814C-7B01-5615-224D-2409024CA989}"/>
                </a:ext>
              </a:extLst>
            </p:cNvPr>
            <p:cNvSpPr/>
            <p:nvPr/>
          </p:nvSpPr>
          <p:spPr>
            <a:xfrm>
              <a:off x="8729141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Validation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8645478-C595-5F5D-DBD7-EB006AFB5198}"/>
                </a:ext>
              </a:extLst>
            </p:cNvPr>
            <p:cNvSpPr/>
            <p:nvPr/>
          </p:nvSpPr>
          <p:spPr>
            <a:xfrm>
              <a:off x="9478363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Viewer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B65D6CC-C1F9-BEC9-66C4-70C70E4FB359}"/>
                </a:ext>
              </a:extLst>
            </p:cNvPr>
            <p:cNvSpPr/>
            <p:nvPr/>
          </p:nvSpPr>
          <p:spPr>
            <a:xfrm>
              <a:off x="7979919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Builder</a:t>
              </a:r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4DE99A5-7FA9-61B5-F831-062D084A4A76}"/>
              </a:ext>
            </a:extLst>
          </p:cNvPr>
          <p:cNvSpPr/>
          <p:nvPr/>
        </p:nvSpPr>
        <p:spPr>
          <a:xfrm>
            <a:off x="3202491" y="5373090"/>
            <a:ext cx="693529" cy="540367"/>
          </a:xfrm>
          <a:prstGeom prst="roundRect">
            <a:avLst/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Management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4ACA129-DE7A-C49F-3241-42122A606027}"/>
              </a:ext>
            </a:extLst>
          </p:cNvPr>
          <p:cNvGrpSpPr/>
          <p:nvPr/>
        </p:nvGrpSpPr>
        <p:grpSpPr>
          <a:xfrm>
            <a:off x="3981322" y="4281867"/>
            <a:ext cx="2290932" cy="776397"/>
            <a:chOff x="7907866" y="1602044"/>
            <a:chExt cx="2269067" cy="768624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0CCD532-9BCD-1688-1BA7-E38202427DF2}"/>
                </a:ext>
              </a:extLst>
            </p:cNvPr>
            <p:cNvSpPr/>
            <p:nvPr/>
          </p:nvSpPr>
          <p:spPr>
            <a:xfrm>
              <a:off x="7907866" y="1602044"/>
              <a:ext cx="2269067" cy="768624"/>
            </a:xfrm>
            <a:prstGeom prst="roundRect">
              <a:avLst>
                <a:gd name="adj" fmla="val 7018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GOVERNANCE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9810EBF-7921-94B9-67FA-647FFFF1AF29}"/>
                </a:ext>
              </a:extLst>
            </p:cNvPr>
            <p:cNvSpPr/>
            <p:nvPr/>
          </p:nvSpPr>
          <p:spPr>
            <a:xfrm>
              <a:off x="8729141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Collibra </a:t>
              </a: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Dictionary</a:t>
              </a: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2A4E5852-B970-542C-DE4E-90FBE4E42411}"/>
                </a:ext>
              </a:extLst>
            </p:cNvPr>
            <p:cNvSpPr/>
            <p:nvPr/>
          </p:nvSpPr>
          <p:spPr>
            <a:xfrm>
              <a:off x="9478363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Collibra Tools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51F442F5-3324-9081-D9AD-4C72055D32CC}"/>
                </a:ext>
              </a:extLst>
            </p:cNvPr>
            <p:cNvSpPr/>
            <p:nvPr/>
          </p:nvSpPr>
          <p:spPr>
            <a:xfrm>
              <a:off x="7979919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Collibra Data Map</a:t>
              </a: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1890010-ABE1-4F0E-2F57-5606523BC9E3}"/>
              </a:ext>
            </a:extLst>
          </p:cNvPr>
          <p:cNvSpPr/>
          <p:nvPr/>
        </p:nvSpPr>
        <p:spPr>
          <a:xfrm>
            <a:off x="3202491" y="4735506"/>
            <a:ext cx="693529" cy="540367"/>
          </a:xfrm>
          <a:prstGeom prst="roundRect">
            <a:avLst/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Logging / Audit 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A1E88FD-E84F-3A17-8273-7B79433D8B40}"/>
              </a:ext>
            </a:extLst>
          </p:cNvPr>
          <p:cNvGrpSpPr/>
          <p:nvPr/>
        </p:nvGrpSpPr>
        <p:grpSpPr>
          <a:xfrm>
            <a:off x="3981322" y="3441796"/>
            <a:ext cx="2290932" cy="776397"/>
            <a:chOff x="7907866" y="1602044"/>
            <a:chExt cx="2269067" cy="768624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C86CE8D4-8377-25E1-17D5-2F09225E4DFD}"/>
                </a:ext>
              </a:extLst>
            </p:cNvPr>
            <p:cNvSpPr/>
            <p:nvPr/>
          </p:nvSpPr>
          <p:spPr>
            <a:xfrm>
              <a:off x="7907866" y="1602044"/>
              <a:ext cx="2269067" cy="768624"/>
            </a:xfrm>
            <a:prstGeom prst="roundRect">
              <a:avLst>
                <a:gd name="adj" fmla="val 7018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FUNCTIONS</a:t>
              </a: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EA655720-A419-AEE9-10C7-A027AC6401FC}"/>
                </a:ext>
              </a:extLst>
            </p:cNvPr>
            <p:cNvSpPr/>
            <p:nvPr/>
          </p:nvSpPr>
          <p:spPr>
            <a:xfrm>
              <a:off x="8729141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Quality &amp; Consistency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11E590E-49ED-401E-EC6D-C1F64B41EF02}"/>
                </a:ext>
              </a:extLst>
            </p:cNvPr>
            <p:cNvSpPr/>
            <p:nvPr/>
          </p:nvSpPr>
          <p:spPr>
            <a:xfrm>
              <a:off x="9478363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Localization</a:t>
              </a: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9134B8C-776C-C84A-FBE3-88D48A06834B}"/>
                </a:ext>
              </a:extLst>
            </p:cNvPr>
            <p:cNvSpPr/>
            <p:nvPr/>
          </p:nvSpPr>
          <p:spPr>
            <a:xfrm>
              <a:off x="7979919" y="1844121"/>
              <a:ext cx="632907" cy="433411"/>
            </a:xfrm>
            <a:prstGeom prst="roundRect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45720" rIns="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Transform</a:t>
              </a:r>
            </a:p>
          </p:txBody>
        </p:sp>
      </p:grpSp>
      <p:cxnSp>
        <p:nvCxnSpPr>
          <p:cNvPr id="58" name="Connector: Elbow 410">
            <a:extLst>
              <a:ext uri="{FF2B5EF4-FFF2-40B4-BE49-F238E27FC236}">
                <a16:creationId xmlns:a16="http://schemas.microsoft.com/office/drawing/2014/main" id="{B969B103-72DF-EEB6-2DD7-3A567BA25B59}"/>
              </a:ext>
            </a:extLst>
          </p:cNvPr>
          <p:cNvCxnSpPr>
            <a:cxnSpLocks/>
          </p:cNvCxnSpPr>
          <p:nvPr/>
        </p:nvCxnSpPr>
        <p:spPr>
          <a:xfrm flipH="1">
            <a:off x="2769179" y="3720592"/>
            <a:ext cx="433312" cy="1408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410">
            <a:extLst>
              <a:ext uri="{FF2B5EF4-FFF2-40B4-BE49-F238E27FC236}">
                <a16:creationId xmlns:a16="http://schemas.microsoft.com/office/drawing/2014/main" id="{3D897BA5-BB86-69B6-68F3-EB672053E54F}"/>
              </a:ext>
            </a:extLst>
          </p:cNvPr>
          <p:cNvCxnSpPr>
            <a:cxnSpLocks/>
          </p:cNvCxnSpPr>
          <p:nvPr/>
        </p:nvCxnSpPr>
        <p:spPr>
          <a:xfrm flipH="1">
            <a:off x="2766791" y="4368107"/>
            <a:ext cx="435700" cy="1037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6CE482-4F92-B50F-90F8-6D7585BE5893}"/>
              </a:ext>
            </a:extLst>
          </p:cNvPr>
          <p:cNvSpPr/>
          <p:nvPr/>
        </p:nvSpPr>
        <p:spPr>
          <a:xfrm>
            <a:off x="6635491" y="3119844"/>
            <a:ext cx="2090316" cy="2873544"/>
          </a:xfrm>
          <a:prstGeom prst="roundRect">
            <a:avLst>
              <a:gd name="adj" fmla="val 9766"/>
            </a:avLst>
          </a:prstGeom>
          <a:solidFill>
            <a:schemeClr val="accent1"/>
          </a:solidFill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3EC1C0-ED4E-D8D9-5E88-819BF4C77252}"/>
              </a:ext>
            </a:extLst>
          </p:cNvPr>
          <p:cNvSpPr/>
          <p:nvPr/>
        </p:nvSpPr>
        <p:spPr>
          <a:xfrm>
            <a:off x="6771894" y="3834985"/>
            <a:ext cx="1841694" cy="980382"/>
          </a:xfrm>
          <a:prstGeom prst="roundRect">
            <a:avLst>
              <a:gd name="adj" fmla="val 9527"/>
            </a:avLst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Data Product Services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FF03170-B519-7F3A-0ACF-4B833498BE5B}"/>
              </a:ext>
            </a:extLst>
          </p:cNvPr>
          <p:cNvSpPr/>
          <p:nvPr/>
        </p:nvSpPr>
        <p:spPr>
          <a:xfrm>
            <a:off x="7735455" y="4124765"/>
            <a:ext cx="780635" cy="246547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Drug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23F2F2D-36D9-958E-A604-75DF2CAD8D1A}"/>
              </a:ext>
            </a:extLst>
          </p:cNvPr>
          <p:cNvSpPr/>
          <p:nvPr/>
        </p:nvSpPr>
        <p:spPr>
          <a:xfrm>
            <a:off x="6875986" y="4117489"/>
            <a:ext cx="780635" cy="246547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Pharmacy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6D21914-A12E-8BD9-404A-5D3A3B8A6606}"/>
              </a:ext>
            </a:extLst>
          </p:cNvPr>
          <p:cNvSpPr/>
          <p:nvPr/>
        </p:nvSpPr>
        <p:spPr>
          <a:xfrm>
            <a:off x="6875986" y="4437325"/>
            <a:ext cx="780635" cy="246547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Member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5BC1ACD-57C1-213C-60BF-9ED77A354C45}"/>
              </a:ext>
            </a:extLst>
          </p:cNvPr>
          <p:cNvSpPr/>
          <p:nvPr/>
        </p:nvSpPr>
        <p:spPr>
          <a:xfrm>
            <a:off x="7735455" y="4429194"/>
            <a:ext cx="780635" cy="246547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Plan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A2EF81A-BE33-6827-0716-F584826B5EC9}"/>
              </a:ext>
            </a:extLst>
          </p:cNvPr>
          <p:cNvSpPr/>
          <p:nvPr/>
        </p:nvSpPr>
        <p:spPr>
          <a:xfrm>
            <a:off x="6771894" y="5008995"/>
            <a:ext cx="1841695" cy="718457"/>
          </a:xfrm>
          <a:prstGeom prst="roundRect">
            <a:avLst>
              <a:gd name="adj" fmla="val 9527"/>
            </a:avLst>
          </a:prstGeom>
          <a:solidFill>
            <a:schemeClr val="tx2">
              <a:lumMod val="40000"/>
              <a:lumOff val="60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Case Data Product Services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CC53467-F1E3-1AF1-F749-35D7FBF395F9}"/>
              </a:ext>
            </a:extLst>
          </p:cNvPr>
          <p:cNvSpPr/>
          <p:nvPr/>
        </p:nvSpPr>
        <p:spPr>
          <a:xfrm>
            <a:off x="6854163" y="5269526"/>
            <a:ext cx="847059" cy="329749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algn="ctr">
              <a:defRPr/>
            </a:pP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Member History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48B42B6-32B5-A028-F990-67B12C2945B0}"/>
              </a:ext>
            </a:extLst>
          </p:cNvPr>
          <p:cNvSpPr/>
          <p:nvPr/>
        </p:nvSpPr>
        <p:spPr>
          <a:xfrm>
            <a:off x="7757444" y="5272746"/>
            <a:ext cx="818550" cy="329749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algn="ctr"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 </a:t>
            </a:r>
            <a:r>
              <a:rPr lang="en-US" sz="900">
                <a:solidFill>
                  <a:prstClr val="white"/>
                </a:solidFill>
                <a:latin typeface="Calibri" panose="020F0502020204030204"/>
              </a:rPr>
              <a:t>Invoice FACT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0" name="Connector: Elbow 168">
            <a:extLst>
              <a:ext uri="{FF2B5EF4-FFF2-40B4-BE49-F238E27FC236}">
                <a16:creationId xmlns:a16="http://schemas.microsoft.com/office/drawing/2014/main" id="{24A4A8F7-F15D-8A23-DB03-C50F856F4E0D}"/>
              </a:ext>
            </a:extLst>
          </p:cNvPr>
          <p:cNvCxnSpPr>
            <a:cxnSpLocks/>
            <a:stCxn id="40" idx="0"/>
            <a:endCxn id="21" idx="2"/>
          </p:cNvCxnSpPr>
          <p:nvPr/>
        </p:nvCxnSpPr>
        <p:spPr>
          <a:xfrm flipH="1" flipV="1">
            <a:off x="7692741" y="4815367"/>
            <a:ext cx="1" cy="193628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410">
            <a:extLst>
              <a:ext uri="{FF2B5EF4-FFF2-40B4-BE49-F238E27FC236}">
                <a16:creationId xmlns:a16="http://schemas.microsoft.com/office/drawing/2014/main" id="{CA6025D2-51F5-C594-47FA-10A327D25428}"/>
              </a:ext>
            </a:extLst>
          </p:cNvPr>
          <p:cNvCxnSpPr>
            <a:cxnSpLocks/>
            <a:stCxn id="40" idx="1"/>
            <a:endCxn id="69" idx="6"/>
          </p:cNvCxnSpPr>
          <p:nvPr/>
        </p:nvCxnSpPr>
        <p:spPr>
          <a:xfrm flipH="1" flipV="1">
            <a:off x="6345860" y="5367992"/>
            <a:ext cx="426034" cy="232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168">
            <a:extLst>
              <a:ext uri="{FF2B5EF4-FFF2-40B4-BE49-F238E27FC236}">
                <a16:creationId xmlns:a16="http://schemas.microsoft.com/office/drawing/2014/main" id="{B8DA5299-FDC9-F276-6EFD-BF0848DBDA87}"/>
              </a:ext>
            </a:extLst>
          </p:cNvPr>
          <p:cNvCxnSpPr>
            <a:cxnSpLocks/>
            <a:stCxn id="85" idx="2"/>
            <a:endCxn id="21" idx="3"/>
          </p:cNvCxnSpPr>
          <p:nvPr/>
        </p:nvCxnSpPr>
        <p:spPr>
          <a:xfrm flipH="1">
            <a:off x="8613588" y="4323962"/>
            <a:ext cx="527055" cy="1214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68">
            <a:extLst>
              <a:ext uri="{FF2B5EF4-FFF2-40B4-BE49-F238E27FC236}">
                <a16:creationId xmlns:a16="http://schemas.microsoft.com/office/drawing/2014/main" id="{DC64E112-58D2-A059-833D-DD1ED427836E}"/>
              </a:ext>
            </a:extLst>
          </p:cNvPr>
          <p:cNvCxnSpPr>
            <a:cxnSpLocks/>
            <a:stCxn id="84" idx="2"/>
            <a:endCxn id="40" idx="3"/>
          </p:cNvCxnSpPr>
          <p:nvPr/>
        </p:nvCxnSpPr>
        <p:spPr>
          <a:xfrm flipH="1">
            <a:off x="8613589" y="5366088"/>
            <a:ext cx="534232" cy="2136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10">
            <a:extLst>
              <a:ext uri="{FF2B5EF4-FFF2-40B4-BE49-F238E27FC236}">
                <a16:creationId xmlns:a16="http://schemas.microsoft.com/office/drawing/2014/main" id="{ABCC208D-D9B6-A1E7-8044-171E994B5D9E}"/>
              </a:ext>
            </a:extLst>
          </p:cNvPr>
          <p:cNvCxnSpPr>
            <a:cxnSpLocks/>
            <a:stCxn id="21" idx="1"/>
            <a:endCxn id="53" idx="6"/>
          </p:cNvCxnSpPr>
          <p:nvPr/>
        </p:nvCxnSpPr>
        <p:spPr>
          <a:xfrm flipH="1">
            <a:off x="6350572" y="4325176"/>
            <a:ext cx="421322" cy="707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68">
            <a:extLst>
              <a:ext uri="{FF2B5EF4-FFF2-40B4-BE49-F238E27FC236}">
                <a16:creationId xmlns:a16="http://schemas.microsoft.com/office/drawing/2014/main" id="{8A0C74FE-9C32-1059-06D0-FB954E7A7F2E}"/>
              </a:ext>
            </a:extLst>
          </p:cNvPr>
          <p:cNvCxnSpPr>
            <a:cxnSpLocks/>
            <a:stCxn id="276" idx="0"/>
            <a:endCxn id="236" idx="4"/>
          </p:cNvCxnSpPr>
          <p:nvPr/>
        </p:nvCxnSpPr>
        <p:spPr>
          <a:xfrm flipV="1">
            <a:off x="8452922" y="2708156"/>
            <a:ext cx="0" cy="720844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9C837E4B-C28A-F15B-F19D-583CDD86B6EB}"/>
              </a:ext>
            </a:extLst>
          </p:cNvPr>
          <p:cNvSpPr/>
          <p:nvPr/>
        </p:nvSpPr>
        <p:spPr>
          <a:xfrm>
            <a:off x="5323530" y="1554711"/>
            <a:ext cx="42292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0E9E9B5-DADB-9498-1C3C-1689B34610CD}"/>
              </a:ext>
            </a:extLst>
          </p:cNvPr>
          <p:cNvSpPr/>
          <p:nvPr/>
        </p:nvSpPr>
        <p:spPr>
          <a:xfrm>
            <a:off x="4218306" y="1659959"/>
            <a:ext cx="54375" cy="724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F7FAC68-9D10-CEA8-DC74-912A422A920B}"/>
              </a:ext>
            </a:extLst>
          </p:cNvPr>
          <p:cNvSpPr/>
          <p:nvPr/>
        </p:nvSpPr>
        <p:spPr>
          <a:xfrm>
            <a:off x="6136716" y="1883862"/>
            <a:ext cx="42292" cy="12102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EACC364C-0C7B-0736-0AF9-95544F1D86E3}"/>
              </a:ext>
            </a:extLst>
          </p:cNvPr>
          <p:cNvSpPr/>
          <p:nvPr/>
        </p:nvSpPr>
        <p:spPr>
          <a:xfrm>
            <a:off x="4218527" y="1241903"/>
            <a:ext cx="1994779" cy="1441898"/>
          </a:xfrm>
          <a:prstGeom prst="roundRect">
            <a:avLst>
              <a:gd name="adj" fmla="val 7056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Curation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8FE27DF-FD10-9ED7-6607-06614D6F2227}"/>
              </a:ext>
            </a:extLst>
          </p:cNvPr>
          <p:cNvSpPr/>
          <p:nvPr/>
        </p:nvSpPr>
        <p:spPr>
          <a:xfrm>
            <a:off x="4313355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Parse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D46FEAD-3C63-D428-3B8F-43A5E71FB507}"/>
              </a:ext>
            </a:extLst>
          </p:cNvPr>
          <p:cNvSpPr/>
          <p:nvPr/>
        </p:nvSpPr>
        <p:spPr>
          <a:xfrm>
            <a:off x="4218306" y="2326640"/>
            <a:ext cx="54375" cy="724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Cylinder 103">
            <a:extLst>
              <a:ext uri="{FF2B5EF4-FFF2-40B4-BE49-F238E27FC236}">
                <a16:creationId xmlns:a16="http://schemas.microsoft.com/office/drawing/2014/main" id="{CE8829FE-92AA-D120-5F7B-410FE6FE65BD}"/>
              </a:ext>
            </a:extLst>
          </p:cNvPr>
          <p:cNvSpPr/>
          <p:nvPr/>
        </p:nvSpPr>
        <p:spPr>
          <a:xfrm>
            <a:off x="3007433" y="1994928"/>
            <a:ext cx="876281" cy="410171"/>
          </a:xfrm>
          <a:prstGeom prst="can">
            <a:avLst>
              <a:gd name="adj" fmla="val 20906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Lakehouse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2F70E75C-5C90-F508-501A-4FA6B7BA1303}"/>
              </a:ext>
            </a:extLst>
          </p:cNvPr>
          <p:cNvSpPr/>
          <p:nvPr/>
        </p:nvSpPr>
        <p:spPr>
          <a:xfrm>
            <a:off x="6547898" y="1340950"/>
            <a:ext cx="2313486" cy="1224605"/>
          </a:xfrm>
          <a:prstGeom prst="roundRect">
            <a:avLst>
              <a:gd name="adj" fmla="val 8605"/>
            </a:avLst>
          </a:prstGeom>
          <a:solidFill>
            <a:schemeClr val="accent2"/>
          </a:solidFill>
          <a:ln w="6350" cap="flat">
            <a:solidFill>
              <a:schemeClr val="accent2"/>
            </a:solidFill>
            <a:prstDash val="solid"/>
            <a:miter/>
          </a:ln>
        </p:spPr>
        <p:txBody>
          <a:bodyPr lIns="0" tIns="9144" rIns="0" bIns="9144" rtlCol="0" anchor="t"/>
          <a:lstStyle/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Calibri" panose="020F0502020204030204"/>
              </a:rPr>
              <a:t>Canonical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</a:t>
            </a:r>
            <a:r>
              <a:rPr lang="en-US" sz="1200">
                <a:solidFill>
                  <a:srgbClr val="FFFFFF"/>
                </a:solidFill>
                <a:latin typeface="Calibri" panose="020F0502020204030204"/>
              </a:rPr>
              <a:t> Models (CDM)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09" name="Cylinder 108">
            <a:extLst>
              <a:ext uri="{FF2B5EF4-FFF2-40B4-BE49-F238E27FC236}">
                <a16:creationId xmlns:a16="http://schemas.microsoft.com/office/drawing/2014/main" id="{8A31EE47-164A-7400-72BA-296EADB3CE3A}"/>
              </a:ext>
            </a:extLst>
          </p:cNvPr>
          <p:cNvSpPr/>
          <p:nvPr/>
        </p:nvSpPr>
        <p:spPr>
          <a:xfrm>
            <a:off x="3373642" y="8103253"/>
            <a:ext cx="1183111" cy="371336"/>
          </a:xfrm>
          <a:prstGeom prst="can">
            <a:avLst>
              <a:gd name="adj" fmla="val 18469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chemeClr val="accent2"/>
            </a:solidFill>
            <a:prstDash val="solid"/>
            <a:miter/>
          </a:ln>
        </p:spPr>
        <p:txBody>
          <a:bodyPr lIns="0" tIns="64008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Conical Model 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Cylinder 106">
            <a:extLst>
              <a:ext uri="{FF2B5EF4-FFF2-40B4-BE49-F238E27FC236}">
                <a16:creationId xmlns:a16="http://schemas.microsoft.com/office/drawing/2014/main" id="{B91BED90-DA48-0813-A24E-EF441A45DACC}"/>
              </a:ext>
            </a:extLst>
          </p:cNvPr>
          <p:cNvSpPr/>
          <p:nvPr/>
        </p:nvSpPr>
        <p:spPr>
          <a:xfrm>
            <a:off x="6675541" y="1736213"/>
            <a:ext cx="903714" cy="519150"/>
          </a:xfrm>
          <a:prstGeom prst="can">
            <a:avLst>
              <a:gd name="adj" fmla="val 18469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chemeClr val="tx1"/>
            </a:solidFill>
            <a:prstDash val="solid"/>
            <a:miter/>
          </a:ln>
        </p:spPr>
        <p:txBody>
          <a:bodyPr lIns="0" tIns="64008" rIns="0" bIns="0" rtlCol="0" anchor="b"/>
          <a:lstStyle/>
          <a:p>
            <a:pPr algn="ctr">
              <a:defRPr/>
            </a:pPr>
            <a:r>
              <a:rPr lang="en-US" sz="800">
                <a:solidFill>
                  <a:srgbClr val="102033"/>
                </a:solidFill>
                <a:latin typeface="Calibri" panose="020F0502020204030204"/>
              </a:rPr>
              <a:t>Canonical Model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</a:t>
            </a:r>
          </a:p>
          <a:p>
            <a:pPr algn="ctr">
              <a:defRPr/>
            </a:pPr>
            <a:endParaRPr lang="en-US" sz="800">
              <a:solidFill>
                <a:srgbClr val="102033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C597B4-B69E-7E0D-2452-66BE657711B9}"/>
              </a:ext>
            </a:extLst>
          </p:cNvPr>
          <p:cNvSpPr txBox="1"/>
          <p:nvPr/>
        </p:nvSpPr>
        <p:spPr>
          <a:xfrm>
            <a:off x="6808450" y="3097647"/>
            <a:ext cx="1744397" cy="310788"/>
          </a:xfrm>
          <a:prstGeom prst="rect">
            <a:avLst/>
          </a:prstGeom>
          <a:noFill/>
          <a:ln w="9525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1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 Consumable</a:t>
            </a:r>
          </a:p>
        </p:txBody>
      </p:sp>
      <p:sp>
        <p:nvSpPr>
          <p:cNvPr id="158" name="Cylinder 157">
            <a:extLst>
              <a:ext uri="{FF2B5EF4-FFF2-40B4-BE49-F238E27FC236}">
                <a16:creationId xmlns:a16="http://schemas.microsoft.com/office/drawing/2014/main" id="{0191AE6C-512A-9C8E-BE88-23571E1E7647}"/>
              </a:ext>
            </a:extLst>
          </p:cNvPr>
          <p:cNvSpPr/>
          <p:nvPr/>
        </p:nvSpPr>
        <p:spPr>
          <a:xfrm>
            <a:off x="7807866" y="1736624"/>
            <a:ext cx="903714" cy="519150"/>
          </a:xfrm>
          <a:prstGeom prst="can">
            <a:avLst>
              <a:gd name="adj" fmla="val 18469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chemeClr val="tx1"/>
            </a:solidFill>
            <a:prstDash val="solid"/>
            <a:miter/>
          </a:ln>
        </p:spPr>
        <p:txBody>
          <a:bodyPr lIns="0" tIns="64008" rIns="0" bIns="0" rtlCol="0" anchor="b"/>
          <a:lstStyle/>
          <a:p>
            <a:pPr algn="ctr">
              <a:defRPr/>
            </a:pPr>
            <a:r>
              <a:rPr lang="en-US" sz="800">
                <a:solidFill>
                  <a:srgbClr val="102033"/>
                </a:solidFill>
                <a:latin typeface="Calibri" panose="020F0502020204030204"/>
              </a:rPr>
              <a:t>Canonical Model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</a:p>
          <a:p>
            <a:pPr algn="ctr">
              <a:defRPr/>
            </a:pPr>
            <a:endParaRPr lang="en-US" sz="800" i="1">
              <a:solidFill>
                <a:srgbClr val="102033"/>
              </a:solidFill>
              <a:latin typeface="Calibri" panose="020F0502020204030204"/>
              <a:ea typeface="Calibri"/>
              <a:cs typeface="Calibri"/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C572ABB-2EA0-36E8-73A2-5CD22501BA3A}"/>
              </a:ext>
            </a:extLst>
          </p:cNvPr>
          <p:cNvCxnSpPr>
            <a:cxnSpLocks/>
            <a:stCxn id="107" idx="4"/>
            <a:endCxn id="158" idx="2"/>
          </p:cNvCxnSpPr>
          <p:nvPr/>
        </p:nvCxnSpPr>
        <p:spPr>
          <a:xfrm>
            <a:off x="7579255" y="1995788"/>
            <a:ext cx="228611" cy="411"/>
          </a:xfrm>
          <a:prstGeom prst="line">
            <a:avLst/>
          </a:prstGeom>
          <a:ln>
            <a:solidFill>
              <a:schemeClr val="bg1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37E7BA07-B9D4-41B2-35ED-88D77C9025F7}"/>
              </a:ext>
            </a:extLst>
          </p:cNvPr>
          <p:cNvSpPr/>
          <p:nvPr/>
        </p:nvSpPr>
        <p:spPr>
          <a:xfrm>
            <a:off x="4628783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Cleanse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FC54B3D1-4B2C-7E5E-9963-9BE5407C3544}"/>
              </a:ext>
            </a:extLst>
          </p:cNvPr>
          <p:cNvSpPr/>
          <p:nvPr/>
        </p:nvSpPr>
        <p:spPr>
          <a:xfrm>
            <a:off x="4944211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C0AB8033-B1C3-F748-E65A-1B095FDBBFFD}"/>
              </a:ext>
            </a:extLst>
          </p:cNvPr>
          <p:cNvSpPr/>
          <p:nvPr/>
        </p:nvSpPr>
        <p:spPr>
          <a:xfrm>
            <a:off x="5259639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Consolidate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B902AA50-F40E-7136-C248-67BDF9339722}"/>
              </a:ext>
            </a:extLst>
          </p:cNvPr>
          <p:cNvSpPr/>
          <p:nvPr/>
        </p:nvSpPr>
        <p:spPr>
          <a:xfrm>
            <a:off x="5575067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Enrich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1521421C-93DE-53EB-C7D6-1D386056DEB5}"/>
              </a:ext>
            </a:extLst>
          </p:cNvPr>
          <p:cNvSpPr/>
          <p:nvPr/>
        </p:nvSpPr>
        <p:spPr>
          <a:xfrm>
            <a:off x="5890496" y="1604619"/>
            <a:ext cx="241863" cy="879246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Map</a:t>
            </a:r>
          </a:p>
        </p:txBody>
      </p:sp>
      <p:cxnSp>
        <p:nvCxnSpPr>
          <p:cNvPr id="186" name="Connector: Elbow 168">
            <a:extLst>
              <a:ext uri="{FF2B5EF4-FFF2-40B4-BE49-F238E27FC236}">
                <a16:creationId xmlns:a16="http://schemas.microsoft.com/office/drawing/2014/main" id="{253FC99E-E5BF-BA2B-A61F-E18C06D514D7}"/>
              </a:ext>
            </a:extLst>
          </p:cNvPr>
          <p:cNvCxnSpPr>
            <a:cxnSpLocks/>
            <a:stCxn id="94" idx="1"/>
            <a:endCxn id="104" idx="4"/>
          </p:cNvCxnSpPr>
          <p:nvPr/>
        </p:nvCxnSpPr>
        <p:spPr>
          <a:xfrm rot="10800000" flipV="1">
            <a:off x="3883715" y="1962852"/>
            <a:ext cx="334813" cy="237162"/>
          </a:xfrm>
          <a:prstGeom prst="bentConnector3">
            <a:avLst>
              <a:gd name="adj1" fmla="val 50000"/>
            </a:avLst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EF12A45B-02D8-A2AA-4E79-87AAC3AB80F1}"/>
              </a:ext>
            </a:extLst>
          </p:cNvPr>
          <p:cNvSpPr/>
          <p:nvPr/>
        </p:nvSpPr>
        <p:spPr>
          <a:xfrm>
            <a:off x="6771895" y="3425065"/>
            <a:ext cx="1841694" cy="246547"/>
          </a:xfrm>
          <a:prstGeom prst="roundRect">
            <a:avLst/>
          </a:prstGeom>
          <a:solidFill>
            <a:schemeClr val="tx2"/>
          </a:solidFill>
          <a:ln w="6350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Product Canonical Model </a:t>
            </a:r>
          </a:p>
        </p:txBody>
      </p:sp>
      <p:cxnSp>
        <p:nvCxnSpPr>
          <p:cNvPr id="220" name="Connector: Elbow 410">
            <a:extLst>
              <a:ext uri="{FF2B5EF4-FFF2-40B4-BE49-F238E27FC236}">
                <a16:creationId xmlns:a16="http://schemas.microsoft.com/office/drawing/2014/main" id="{8CA8BAD1-F80E-2838-C11A-A924A523CF6B}"/>
              </a:ext>
            </a:extLst>
          </p:cNvPr>
          <p:cNvCxnSpPr>
            <a:cxnSpLocks/>
            <a:stCxn id="21" idx="0"/>
            <a:endCxn id="217" idx="2"/>
          </p:cNvCxnSpPr>
          <p:nvPr/>
        </p:nvCxnSpPr>
        <p:spPr>
          <a:xfrm flipV="1">
            <a:off x="7692741" y="3671612"/>
            <a:ext cx="1" cy="163373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Elbow 168">
            <a:extLst>
              <a:ext uri="{FF2B5EF4-FFF2-40B4-BE49-F238E27FC236}">
                <a16:creationId xmlns:a16="http://schemas.microsoft.com/office/drawing/2014/main" id="{757F22EC-2904-A90B-63DB-779C884F46D1}"/>
              </a:ext>
            </a:extLst>
          </p:cNvPr>
          <p:cNvCxnSpPr>
            <a:cxnSpLocks/>
            <a:stCxn id="231" idx="4"/>
            <a:endCxn id="233" idx="0"/>
          </p:cNvCxnSpPr>
          <p:nvPr/>
        </p:nvCxnSpPr>
        <p:spPr>
          <a:xfrm>
            <a:off x="6876188" y="2704122"/>
            <a:ext cx="2427" cy="722820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27D4C602-BD79-2452-7B09-F31B5C2981C0}"/>
              </a:ext>
            </a:extLst>
          </p:cNvPr>
          <p:cNvSpPr/>
          <p:nvPr/>
        </p:nvSpPr>
        <p:spPr>
          <a:xfrm>
            <a:off x="6803344" y="2597890"/>
            <a:ext cx="145687" cy="1062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5E637320-4052-3B16-94A5-B523A140E1FB}"/>
              </a:ext>
            </a:extLst>
          </p:cNvPr>
          <p:cNvSpPr/>
          <p:nvPr/>
        </p:nvSpPr>
        <p:spPr>
          <a:xfrm>
            <a:off x="6805771" y="3426942"/>
            <a:ext cx="145687" cy="1062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30431242-DFC9-788E-FB48-B7FC200F4883}"/>
              </a:ext>
            </a:extLst>
          </p:cNvPr>
          <p:cNvSpPr/>
          <p:nvPr/>
        </p:nvSpPr>
        <p:spPr>
          <a:xfrm>
            <a:off x="8380078" y="2601924"/>
            <a:ext cx="145687" cy="1062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F640DB4A-A8A1-8911-10F9-A70DDAE437CB}"/>
              </a:ext>
            </a:extLst>
          </p:cNvPr>
          <p:cNvSpPr/>
          <p:nvPr/>
        </p:nvSpPr>
        <p:spPr>
          <a:xfrm>
            <a:off x="6275768" y="2846986"/>
            <a:ext cx="1177291" cy="16233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 DP Canonical 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8604245F-5676-F251-BBBF-BBEEFB0E4A5A}"/>
              </a:ext>
            </a:extLst>
          </p:cNvPr>
          <p:cNvSpPr/>
          <p:nvPr/>
        </p:nvSpPr>
        <p:spPr>
          <a:xfrm>
            <a:off x="7832457" y="2844250"/>
            <a:ext cx="1243009" cy="167805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 DP Canonical </a:t>
            </a:r>
          </a:p>
        </p:txBody>
      </p:sp>
      <p:cxnSp>
        <p:nvCxnSpPr>
          <p:cNvPr id="258" name="Connector: Elbow 168">
            <a:extLst>
              <a:ext uri="{FF2B5EF4-FFF2-40B4-BE49-F238E27FC236}">
                <a16:creationId xmlns:a16="http://schemas.microsoft.com/office/drawing/2014/main" id="{77A707AA-7EC9-E6B6-7B77-55F78ACC3FFA}"/>
              </a:ext>
            </a:extLst>
          </p:cNvPr>
          <p:cNvCxnSpPr>
            <a:cxnSpLocks/>
            <a:stCxn id="4" idx="3"/>
            <a:endCxn id="117" idx="1"/>
          </p:cNvCxnSpPr>
          <p:nvPr/>
        </p:nvCxnSpPr>
        <p:spPr>
          <a:xfrm flipV="1">
            <a:off x="10450329" y="3608612"/>
            <a:ext cx="247271" cy="4186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Oval 275">
            <a:extLst>
              <a:ext uri="{FF2B5EF4-FFF2-40B4-BE49-F238E27FC236}">
                <a16:creationId xmlns:a16="http://schemas.microsoft.com/office/drawing/2014/main" id="{558C51BA-3ED4-6992-E616-C9D7048D892F}"/>
              </a:ext>
            </a:extLst>
          </p:cNvPr>
          <p:cNvSpPr/>
          <p:nvPr/>
        </p:nvSpPr>
        <p:spPr>
          <a:xfrm>
            <a:off x="8380078" y="3429000"/>
            <a:ext cx="145687" cy="10623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Connector: Elbow 168">
            <a:extLst>
              <a:ext uri="{FF2B5EF4-FFF2-40B4-BE49-F238E27FC236}">
                <a16:creationId xmlns:a16="http://schemas.microsoft.com/office/drawing/2014/main" id="{BEBCD5CF-5D12-8042-DFA4-F4AC8A4C343C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215917" y="2683801"/>
            <a:ext cx="0" cy="436043"/>
          </a:xfrm>
          <a:prstGeom prst="straightConnector1">
            <a:avLst/>
          </a:prstGeom>
          <a:ln w="15875">
            <a:solidFill>
              <a:schemeClr val="bg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22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7548B-D337-DE29-651C-AD377C6826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6571" y="840921"/>
            <a:ext cx="11316257" cy="582113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>
                <a:latin typeface="Aptos" panose="020B0004020202020204" pitchFamily="34" charset="0"/>
              </a:rPr>
              <a:t>Core Architecture</a:t>
            </a:r>
          </a:p>
          <a:p>
            <a:pPr>
              <a:spcBef>
                <a:spcPts val="300"/>
              </a:spcBef>
            </a:pPr>
            <a:r>
              <a:rPr lang="en-US" sz="1400">
                <a:latin typeface="Aptos" panose="020B0004020202020204" pitchFamily="34" charset="0"/>
              </a:rPr>
              <a:t>A single execution fabric delivers both </a:t>
            </a:r>
            <a:r>
              <a:rPr lang="en-US" sz="1400" b="1">
                <a:latin typeface="Aptos" panose="020B0004020202020204" pitchFamily="34" charset="0"/>
              </a:rPr>
              <a:t>ingress pipelines</a:t>
            </a:r>
            <a:r>
              <a:rPr lang="en-US" sz="1400">
                <a:latin typeface="Aptos" panose="020B0004020202020204" pitchFamily="34" charset="0"/>
              </a:rPr>
              <a:t> and </a:t>
            </a:r>
            <a:r>
              <a:rPr lang="en-US" sz="1400" b="1">
                <a:latin typeface="Aptos" panose="020B0004020202020204" pitchFamily="34" charset="0"/>
              </a:rPr>
              <a:t>egress data products</a:t>
            </a:r>
            <a:endParaRPr lang="en-US" sz="1400">
              <a:latin typeface="Aptos" panose="020B0004020202020204" pitchFamily="34" charset="0"/>
            </a:endParaRPr>
          </a:p>
          <a:p>
            <a:pPr>
              <a:spcBef>
                <a:spcPts val="300"/>
              </a:spcBef>
            </a:pPr>
            <a:r>
              <a:rPr lang="en-US" sz="1400">
                <a:latin typeface="Aptos" panose="020B0004020202020204" pitchFamily="34" charset="0"/>
              </a:rPr>
              <a:t>Orchestrations are </a:t>
            </a:r>
            <a:r>
              <a:rPr lang="en-US" sz="1400" b="1">
                <a:latin typeface="Aptos" panose="020B0004020202020204" pitchFamily="34" charset="0"/>
              </a:rPr>
              <a:t>DSL-defined and parameterized</a:t>
            </a:r>
            <a:r>
              <a:rPr lang="en-US" sz="1400">
                <a:latin typeface="Aptos" panose="020B0004020202020204" pitchFamily="34" charset="0"/>
              </a:rPr>
              <a:t>, composed from reusable services and aligned to Enterprise CDMs</a:t>
            </a:r>
          </a:p>
          <a:p>
            <a:pPr>
              <a:spcBef>
                <a:spcPts val="600"/>
              </a:spcBef>
            </a:pPr>
            <a:r>
              <a:rPr lang="en-US" sz="1400" b="1">
                <a:latin typeface="Aptos"/>
                <a:cs typeface="Segoe UI Semilight"/>
              </a:rPr>
              <a:t>Control Plane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 panose="020B0004020202020204" pitchFamily="34" charset="0"/>
              </a:rPr>
              <a:t>DAG is the first-class execution contract</a:t>
            </a:r>
            <a:r>
              <a:rPr lang="en-US" sz="1400">
                <a:latin typeface="Aptos" panose="020B0004020202020204" pitchFamily="34" charset="0"/>
              </a:rPr>
              <a:t> (versioned composition of steps/services)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 panose="020B0004020202020204" pitchFamily="34" charset="0"/>
              </a:rPr>
              <a:t>Message bus is the coordination backbone</a:t>
            </a:r>
            <a:r>
              <a:rPr lang="en-US" sz="1400">
                <a:latin typeface="Aptos" panose="020B0004020202020204" pitchFamily="34" charset="0"/>
              </a:rPr>
              <a:t>: dispatch, status, routing, and event-based integration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/>
                <a:cs typeface="Segoe UI Semilight"/>
              </a:rPr>
              <a:t>All executions post transactions/events to the bus</a:t>
            </a:r>
            <a:r>
              <a:rPr lang="en-US" sz="1400">
                <a:latin typeface="Aptos"/>
                <a:cs typeface="Segoe UI Semilight"/>
              </a:rPr>
              <a:t>.  Audit Service persists immutable run history and lineage</a:t>
            </a:r>
          </a:p>
          <a:p>
            <a:r>
              <a:rPr lang="en-US" sz="1400" b="1">
                <a:latin typeface="Aptos"/>
                <a:cs typeface="Segoe UI Semilight"/>
              </a:rPr>
              <a:t>Data Plane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/>
                <a:cs typeface="Segoe UI Semilight"/>
              </a:rPr>
              <a:t>Orchestrator Runtime executes the DAG</a:t>
            </a:r>
            <a:r>
              <a:rPr lang="en-US" sz="1400">
                <a:latin typeface="Aptos"/>
                <a:cs typeface="Segoe UI Semilight"/>
              </a:rPr>
              <a:t> by consuming </a:t>
            </a:r>
            <a:r>
              <a:rPr lang="en-US" sz="1400" b="1">
                <a:latin typeface="Aptos"/>
                <a:cs typeface="Segoe UI Semilight"/>
              </a:rPr>
              <a:t>anonymous/composable transform functions/services</a:t>
            </a:r>
          </a:p>
          <a:p>
            <a:pPr lvl="1">
              <a:spcBef>
                <a:spcPts val="200"/>
              </a:spcBef>
            </a:pPr>
            <a:r>
              <a:rPr lang="en-US" sz="1400">
                <a:latin typeface="Aptos"/>
                <a:cs typeface="Segoe UI Semilight"/>
              </a:rPr>
              <a:t>Runtime maintains the in-flight dataset/state (</a:t>
            </a:r>
            <a:r>
              <a:rPr lang="en-US" sz="1400" err="1">
                <a:latin typeface="Aptos"/>
                <a:cs typeface="Segoe UI Semilight"/>
              </a:rPr>
              <a:t>dataframe</a:t>
            </a:r>
            <a:r>
              <a:rPr lang="en-US" sz="1400">
                <a:latin typeface="Aptos"/>
                <a:cs typeface="Segoe UI Semilight"/>
              </a:rPr>
              <a:t>) for performance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/>
                <a:cs typeface="Segoe UI Semilight"/>
              </a:rPr>
              <a:t>Light execution:</a:t>
            </a:r>
            <a:r>
              <a:rPr lang="en-US" sz="1400">
                <a:latin typeface="Aptos"/>
                <a:cs typeface="Segoe UI Semilight"/>
              </a:rPr>
              <a:t> Glue / Pandas; </a:t>
            </a:r>
            <a:r>
              <a:rPr lang="en-US" sz="1400" b="1">
                <a:latin typeface="Aptos"/>
                <a:cs typeface="Segoe UI Semilight"/>
              </a:rPr>
              <a:t>Heavy execution:</a:t>
            </a:r>
            <a:r>
              <a:rPr lang="en-US" sz="1400">
                <a:latin typeface="Aptos"/>
                <a:cs typeface="Segoe UI Semilight"/>
              </a:rPr>
              <a:t> Glue / Spark</a:t>
            </a:r>
          </a:p>
          <a:p>
            <a:pPr lvl="1">
              <a:spcBef>
                <a:spcPts val="200"/>
              </a:spcBef>
            </a:pPr>
            <a:r>
              <a:rPr lang="en-US" sz="1400" b="1">
                <a:latin typeface="Aptos"/>
                <a:cs typeface="Segoe UI Semilight"/>
              </a:rPr>
              <a:t>Large outputs materialized to S3/</a:t>
            </a:r>
            <a:r>
              <a:rPr lang="en-US" sz="1600" b="1">
                <a:latin typeface="Aptos"/>
                <a:cs typeface="Segoe UI Semilight"/>
              </a:rPr>
              <a:t>Iceberg</a:t>
            </a:r>
            <a:r>
              <a:rPr lang="en-US" sz="1400">
                <a:latin typeface="Aptos"/>
                <a:cs typeface="Segoe UI Semilight"/>
              </a:rPr>
              <a:t> and returned to consumers by reference (bus remains “thin”)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latin typeface="Aptos" panose="020B0004020202020204" pitchFamily="34" charset="0"/>
              </a:rPr>
              <a:t>End-User Orchestration</a:t>
            </a:r>
          </a:p>
          <a:p>
            <a:pPr>
              <a:spcBef>
                <a:spcPts val="300"/>
              </a:spcBef>
            </a:pPr>
            <a:r>
              <a:rPr lang="en-US" sz="1400">
                <a:latin typeface="Aptos"/>
                <a:cs typeface="Segoe UI Semilight"/>
              </a:rPr>
              <a:t>Guided self-service tool to assemble </a:t>
            </a:r>
            <a:r>
              <a:rPr lang="en-US" sz="1400" b="1">
                <a:latin typeface="Aptos"/>
                <a:cs typeface="Segoe UI Semilight"/>
              </a:rPr>
              <a:t>Use Case Data Products</a:t>
            </a:r>
            <a:r>
              <a:rPr lang="en-US" sz="1400">
                <a:latin typeface="Aptos"/>
                <a:cs typeface="Segoe UI Semilight"/>
              </a:rPr>
              <a:t> from Core Data Product services + common transforms</a:t>
            </a:r>
          </a:p>
          <a:p>
            <a:pPr>
              <a:spcBef>
                <a:spcPts val="300"/>
              </a:spcBef>
            </a:pPr>
            <a:r>
              <a:rPr lang="en-US" sz="1400">
                <a:latin typeface="Aptos"/>
                <a:cs typeface="Segoe UI Semilight"/>
              </a:rPr>
              <a:t>Produces validated DSL/DAG artifacts. The </a:t>
            </a:r>
            <a:r>
              <a:rPr lang="en-US" sz="1400" b="1">
                <a:latin typeface="Aptos"/>
                <a:cs typeface="Segoe UI Semilight"/>
              </a:rPr>
              <a:t>validator</a:t>
            </a:r>
            <a:r>
              <a:rPr lang="en-US" sz="1400">
                <a:latin typeface="Aptos"/>
                <a:cs typeface="Segoe UI Semilight"/>
              </a:rPr>
              <a:t> executes test runs and verifies results before publishing</a:t>
            </a:r>
          </a:p>
          <a:p>
            <a:pPr>
              <a:spcBef>
                <a:spcPts val="300"/>
              </a:spcBef>
            </a:pPr>
            <a:r>
              <a:rPr lang="en-US" sz="1400">
                <a:latin typeface="Aptos"/>
                <a:cs typeface="Segoe UI Semilight"/>
              </a:rPr>
              <a:t>AI-enabled assistance can recommend choices/optimizations, but the tool operates without requiring AI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latin typeface="Aptos" panose="020B0004020202020204" pitchFamily="34" charset="0"/>
              </a:rPr>
              <a:t>Key Benefits</a:t>
            </a:r>
          </a:p>
          <a:p>
            <a:pPr>
              <a:spcBef>
                <a:spcPts val="200"/>
              </a:spcBef>
            </a:pPr>
            <a:r>
              <a:rPr lang="en-US" sz="1400" b="1">
                <a:latin typeface="Aptos" panose="020B0004020202020204" pitchFamily="34" charset="0"/>
              </a:rPr>
              <a:t>Reusable building blocks</a:t>
            </a:r>
            <a:r>
              <a:rPr lang="en-US" sz="1400">
                <a:latin typeface="Aptos" panose="020B0004020202020204" pitchFamily="34" charset="0"/>
              </a:rPr>
              <a:t> avoid custom pipelines for each new consumable</a:t>
            </a:r>
          </a:p>
          <a:p>
            <a:pPr>
              <a:spcBef>
                <a:spcPts val="300"/>
              </a:spcBef>
            </a:pPr>
            <a:r>
              <a:rPr lang="en-US" sz="1400" b="1">
                <a:latin typeface="Aptos" panose="020B0004020202020204" pitchFamily="34" charset="0"/>
              </a:rPr>
              <a:t>Auditable by design</a:t>
            </a:r>
            <a:r>
              <a:rPr lang="en-US" sz="1400">
                <a:latin typeface="Aptos" panose="020B0004020202020204" pitchFamily="34" charset="0"/>
              </a:rPr>
              <a:t> via bus transactions + persisted DAG/run history</a:t>
            </a:r>
          </a:p>
          <a:p>
            <a:pPr>
              <a:spcBef>
                <a:spcPts val="300"/>
              </a:spcBef>
            </a:pPr>
            <a:r>
              <a:rPr lang="en-US" sz="1400" b="1">
                <a:latin typeface="Aptos" panose="020B0004020202020204" pitchFamily="34" charset="0"/>
              </a:rPr>
              <a:t>Scales efficiently</a:t>
            </a:r>
            <a:r>
              <a:rPr lang="en-US" sz="1400">
                <a:latin typeface="Aptos" panose="020B0004020202020204" pitchFamily="34" charset="0"/>
              </a:rPr>
              <a:t> with Light/Heavy execution lanes and reference-based outputs</a:t>
            </a:r>
          </a:p>
          <a:p>
            <a:pPr>
              <a:spcBef>
                <a:spcPts val="300"/>
              </a:spcBef>
            </a:pPr>
            <a:r>
              <a:rPr lang="en-US" sz="1400" b="1">
                <a:latin typeface="Aptos" panose="020B0004020202020204" pitchFamily="34" charset="0"/>
              </a:rPr>
              <a:t>Extensible</a:t>
            </a:r>
            <a:r>
              <a:rPr lang="en-US" sz="1400">
                <a:latin typeface="Aptos" panose="020B0004020202020204" pitchFamily="34" charset="0"/>
              </a:rPr>
              <a:t>: new services, transforms, and listeners integrate via the bus without rewiring orchestrations</a:t>
            </a:r>
          </a:p>
          <a:p>
            <a:pPr>
              <a:spcBef>
                <a:spcPts val="300"/>
              </a:spcBef>
            </a:pPr>
            <a:r>
              <a:rPr lang="en-US" sz="1400" b="1">
                <a:latin typeface="Aptos" panose="020B0004020202020204" pitchFamily="34" charset="0"/>
              </a:rPr>
              <a:t>Evolves as a platform </a:t>
            </a:r>
            <a:r>
              <a:rPr lang="en-US" sz="1400">
                <a:latin typeface="Aptos" panose="020B0004020202020204" pitchFamily="34" charset="0"/>
              </a:rPr>
              <a:t>— not a collection of custom workflows</a:t>
            </a:r>
          </a:p>
          <a:p>
            <a:endParaRPr lang="en-US"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A148A-C95A-D80A-A59A-25FF8650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Technology That Makes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259C2-D7B3-CDEA-D91C-3181C496096C}"/>
              </a:ext>
            </a:extLst>
          </p:cNvPr>
          <p:cNvSpPr txBox="1"/>
          <p:nvPr/>
        </p:nvSpPr>
        <p:spPr>
          <a:xfrm>
            <a:off x="7620" y="8046706"/>
            <a:ext cx="11898241" cy="1597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Core Architecture</a:t>
            </a:r>
          </a:p>
          <a:p>
            <a:r>
              <a:rPr lang="en-US" sz="2000" b="1"/>
              <a:t>Core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 single execution fabric delivers both </a:t>
            </a:r>
            <a:r>
              <a:rPr lang="en-US" sz="2000" b="1"/>
              <a:t>ingress pipelines</a:t>
            </a:r>
            <a:r>
              <a:rPr lang="en-US" sz="2000"/>
              <a:t> and </a:t>
            </a:r>
            <a:r>
              <a:rPr lang="en-US" sz="2000" b="1"/>
              <a:t>egress data products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Orchestrations are </a:t>
            </a:r>
            <a:r>
              <a:rPr lang="en-US" sz="2000" b="1"/>
              <a:t>DSL-defined and parameterized</a:t>
            </a:r>
            <a:r>
              <a:rPr lang="en-US" sz="2000"/>
              <a:t>, composed from reusable services and aligned to Enterprise CDMs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Data Plane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Orchestrator Runtime sidecar executes the DAG</a:t>
            </a:r>
            <a:r>
              <a:rPr lang="en-US" sz="2000"/>
              <a:t> by consuming </a:t>
            </a:r>
            <a:r>
              <a:rPr lang="en-US" sz="2000" b="1"/>
              <a:t>anonymous/composable transform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Runtime maintains the in-flight dataset/state (</a:t>
            </a:r>
            <a:r>
              <a:rPr lang="en-US" sz="2000" err="1"/>
              <a:t>dataframe</a:t>
            </a:r>
            <a:r>
              <a:rPr lang="en-US" sz="2000"/>
              <a:t>) for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Light execution:</a:t>
            </a:r>
            <a:r>
              <a:rPr lang="en-US" sz="2000"/>
              <a:t> ECS / Glue Python Shell; </a:t>
            </a:r>
            <a:r>
              <a:rPr lang="en-US" sz="2000" b="1"/>
              <a:t>Heavy execution:</a:t>
            </a:r>
            <a:r>
              <a:rPr lang="en-US" sz="2000"/>
              <a:t> Spark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Large outputs materialized to S3/Iceberg</a:t>
            </a:r>
            <a:r>
              <a:rPr lang="en-US" sz="2000"/>
              <a:t> and returned to consumers by reference (bus remains “thin”)</a:t>
            </a:r>
          </a:p>
          <a:p>
            <a:br>
              <a:rPr lang="en-US" sz="2000"/>
            </a:br>
            <a:endParaRPr lang="en-US" sz="2000"/>
          </a:p>
          <a:p>
            <a:r>
              <a:rPr lang="en-US" sz="2000" b="1"/>
              <a:t>End-User Orchestration</a:t>
            </a:r>
          </a:p>
          <a:p>
            <a:r>
              <a:rPr lang="en-US" sz="2000"/>
              <a:t>Guided self-service tool to assemble </a:t>
            </a:r>
            <a:r>
              <a:rPr lang="en-US" sz="2000" b="1"/>
              <a:t>Use Case Data Products</a:t>
            </a:r>
            <a:r>
              <a:rPr lang="en-US" sz="2000"/>
              <a:t> from Core Data Product services + common transforms</a:t>
            </a:r>
          </a:p>
          <a:p>
            <a:r>
              <a:rPr lang="en-US" sz="2000"/>
              <a:t>Produces validated DSL/DAG artifacts; validator executes test runs and verifies results before publish</a:t>
            </a:r>
          </a:p>
          <a:p>
            <a:r>
              <a:rPr lang="en-US" sz="2000"/>
              <a:t>AI-enabled assistance can recommend choices/optimizations, but tool operates without requiring AI</a:t>
            </a:r>
          </a:p>
          <a:p>
            <a:br>
              <a:rPr lang="en-US" sz="2000"/>
            </a:br>
            <a:endParaRPr lang="en-US" sz="2000"/>
          </a:p>
          <a:p>
            <a:r>
              <a:rPr lang="en-US" sz="2000" b="1"/>
              <a:t>Key Benefits</a:t>
            </a:r>
          </a:p>
          <a:p>
            <a:r>
              <a:rPr lang="en-US" sz="2000" b="1"/>
              <a:t>Reusable building blocks</a:t>
            </a:r>
            <a:r>
              <a:rPr lang="en-US" sz="2000"/>
              <a:t> avoid custom pipelines for each new consumable</a:t>
            </a:r>
          </a:p>
          <a:p>
            <a:r>
              <a:rPr lang="en-US" sz="2000" b="1"/>
              <a:t>Auditable by design</a:t>
            </a:r>
            <a:r>
              <a:rPr lang="en-US" sz="2000"/>
              <a:t> via bus transactions + persisted DAG/run history</a:t>
            </a:r>
          </a:p>
          <a:p>
            <a:r>
              <a:rPr lang="en-US" sz="2000" b="1"/>
              <a:t>Scales efficiently</a:t>
            </a:r>
            <a:r>
              <a:rPr lang="en-US" sz="2000"/>
              <a:t> with Light/Heavy execution lanes and reference-based outputs</a:t>
            </a:r>
          </a:p>
          <a:p>
            <a:r>
              <a:rPr lang="en-US" sz="2000" b="1"/>
              <a:t>Extensible</a:t>
            </a:r>
            <a:r>
              <a:rPr lang="en-US" sz="2000"/>
              <a:t>: new services, transforms, and listeners integrate via the bus without rewiring orchestrations</a:t>
            </a:r>
          </a:p>
          <a:p>
            <a:r>
              <a:rPr lang="en-US"/>
              <a:t>Evolves as a platform — not a collection of custom workflows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A single execution fabric delivers both </a:t>
            </a:r>
            <a:r>
              <a:rPr lang="en-US" sz="2000" b="1"/>
              <a:t>ingress pipelines</a:t>
            </a:r>
            <a:r>
              <a:rPr lang="en-US" sz="2000"/>
              <a:t> and </a:t>
            </a:r>
            <a:r>
              <a:rPr lang="en-US" sz="2000" b="1"/>
              <a:t>egress data products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Orchestrations are </a:t>
            </a:r>
            <a:r>
              <a:rPr lang="en-US" sz="2000" b="1"/>
              <a:t>DSL-defined and parameterized</a:t>
            </a:r>
            <a:r>
              <a:rPr lang="en-US" sz="2000"/>
              <a:t>, composed from reusable services and aligned to Enterprise CDMs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Data Plane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Orchestrator Runtime sidecar executes the DAG</a:t>
            </a:r>
            <a:r>
              <a:rPr lang="en-US" sz="2000"/>
              <a:t> by consuming </a:t>
            </a:r>
            <a:r>
              <a:rPr lang="en-US" sz="2000" b="1"/>
              <a:t>anonymous/composable transform functions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Runtime maintains the in-flight dataset/state (</a:t>
            </a:r>
            <a:r>
              <a:rPr lang="en-US" sz="2000" err="1"/>
              <a:t>dataframe</a:t>
            </a:r>
            <a:r>
              <a:rPr lang="en-US" sz="2000"/>
              <a:t>) for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Light execution:</a:t>
            </a:r>
            <a:r>
              <a:rPr lang="en-US" sz="2000"/>
              <a:t> ECS / Glue Python Shell; </a:t>
            </a:r>
            <a:r>
              <a:rPr lang="en-US" sz="2000" b="1"/>
              <a:t>Heavy execution:</a:t>
            </a:r>
            <a:r>
              <a:rPr lang="en-US" sz="2000"/>
              <a:t> Spark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/>
              <a:t>Large outputs materialized to S3/Iceberg</a:t>
            </a:r>
            <a:r>
              <a:rPr lang="en-US" sz="2000"/>
              <a:t> and returned to consumers by reference (bus remains “thin”)</a:t>
            </a:r>
          </a:p>
          <a:p>
            <a:br>
              <a:rPr lang="en-US" sz="2000"/>
            </a:br>
            <a:endParaRPr lang="en-US" sz="2000"/>
          </a:p>
          <a:p>
            <a:r>
              <a:rPr lang="en-US" sz="2000" b="1"/>
              <a:t>End-User Orchestration</a:t>
            </a:r>
          </a:p>
          <a:p>
            <a:r>
              <a:rPr lang="en-US" sz="2000"/>
              <a:t>Guided self-service tool to assemble </a:t>
            </a:r>
            <a:r>
              <a:rPr lang="en-US" sz="2000" b="1"/>
              <a:t>Use Case Data Products</a:t>
            </a:r>
            <a:r>
              <a:rPr lang="en-US" sz="2000"/>
              <a:t> from Core Data Product services + common transforms</a:t>
            </a:r>
          </a:p>
          <a:p>
            <a:r>
              <a:rPr lang="en-US" sz="2000"/>
              <a:t>Produces validated DSL/DAG artifacts; validator executes test runs and verifies results before publish</a:t>
            </a:r>
          </a:p>
          <a:p>
            <a:r>
              <a:rPr lang="en-US" sz="2000"/>
              <a:t>AI-enabled assistance can recommend choices/optimizations, but tool operates without requiring AI</a:t>
            </a:r>
          </a:p>
          <a:p>
            <a:br>
              <a:rPr lang="en-US" sz="2000"/>
            </a:br>
            <a:endParaRPr lang="en-US" sz="2000"/>
          </a:p>
          <a:p>
            <a:r>
              <a:rPr lang="en-US" sz="2000" b="1"/>
              <a:t>Key Benefits</a:t>
            </a:r>
          </a:p>
          <a:p>
            <a:r>
              <a:rPr lang="en-US" sz="2000" b="1"/>
              <a:t>Reusable building blocks</a:t>
            </a:r>
            <a:r>
              <a:rPr lang="en-US" sz="2000"/>
              <a:t> avoid custom pipelines for each new consumable</a:t>
            </a:r>
          </a:p>
          <a:p>
            <a:r>
              <a:rPr lang="en-US" sz="2000" b="1"/>
              <a:t>Auditable by design</a:t>
            </a:r>
            <a:r>
              <a:rPr lang="en-US" sz="2000"/>
              <a:t> via bus transactions + persisted DAG/run history</a:t>
            </a:r>
          </a:p>
          <a:p>
            <a:r>
              <a:rPr lang="en-US" sz="2000" b="1"/>
              <a:t>Scales efficiently</a:t>
            </a:r>
            <a:r>
              <a:rPr lang="en-US" sz="2000"/>
              <a:t> with Light/Heavy execution lanes and reference-based outputs</a:t>
            </a:r>
          </a:p>
          <a:p>
            <a:r>
              <a:rPr lang="en-US" sz="2000" b="1"/>
              <a:t>Extensible</a:t>
            </a:r>
            <a:r>
              <a:rPr lang="en-US" sz="2000"/>
              <a:t>: new services, transforms, and listeners integrate via the bus without rewiring orchestrations</a:t>
            </a:r>
          </a:p>
          <a:p>
            <a:r>
              <a:rPr lang="en-US"/>
              <a:t>Evolves as a platform — not a collection of custom workflows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9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7429-7132-4768-95AE-23AFC8F63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AAE07F9-28FD-B9C1-A47C-109D8B73E4DA}"/>
              </a:ext>
            </a:extLst>
          </p:cNvPr>
          <p:cNvSpPr/>
          <p:nvPr/>
        </p:nvSpPr>
        <p:spPr>
          <a:xfrm>
            <a:off x="1428" y="1016597"/>
            <a:ext cx="3477458" cy="5841300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>
              <a:spcBef>
                <a:spcPts val="1200"/>
              </a:spcBef>
            </a:pPr>
            <a:endParaRPr lang="en-US" sz="80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>
                <a:solidFill>
                  <a:schemeClr val="accent6">
                    <a:lumMod val="10000"/>
                  </a:schemeClr>
                </a:solidFill>
              </a:rPr>
              <a:t>Benefits and Refinements</a:t>
            </a:r>
          </a:p>
          <a:p>
            <a:endParaRPr lang="en-US" sz="140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Defined Orchestration, </a:t>
            </a: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eliminates hard to debug event processing</a:t>
            </a:r>
            <a:endParaRPr lang="en-US" sz="1400" b="1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Allows for </a:t>
            </a: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end-to-end in-memory processing</a:t>
            </a: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 using the Orchestration Runtime’s </a:t>
            </a:r>
            <a:r>
              <a:rPr lang="en-US" sz="14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140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Collibra rule execution is more efficient</a:t>
            </a: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, distributed out to each Orchestration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No need to use </a:t>
            </a:r>
            <a:r>
              <a:rPr lang="en-US" sz="1400" b="1" err="1">
                <a:solidFill>
                  <a:schemeClr val="accent6">
                    <a:lumMod val="10000"/>
                  </a:schemeClr>
                </a:solidFill>
              </a:rPr>
              <a:t>pydeequ</a:t>
            </a: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, all rules can reside in Collibra utilizing functional programming concepts</a:t>
            </a:r>
            <a:endParaRPr lang="en-US" sz="14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Collibra becomes a true rules library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Simplifies overall architecture </a:t>
            </a: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with shared ingest and consumption architecture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AI ready architecture</a:t>
            </a:r>
          </a:p>
          <a:p>
            <a:pPr marL="342900" indent="-342900">
              <a:spcBef>
                <a:spcPts val="600"/>
              </a:spcBef>
              <a:buFontTx/>
              <a:buAutoNum type="arabicPeriod"/>
            </a:pP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Supports Self Service </a:t>
            </a:r>
            <a:r>
              <a:rPr lang="en-US" sz="1400">
                <a:solidFill>
                  <a:schemeClr val="accent6">
                    <a:lumMod val="10000"/>
                  </a:schemeClr>
                </a:solidFill>
              </a:rPr>
              <a:t>creation of Use Case Data Products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endParaRPr lang="en-US" sz="1400">
              <a:solidFill>
                <a:schemeClr val="accent6">
                  <a:lumMod val="10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AutoNum type="arabicPeriod"/>
            </a:pPr>
            <a:endParaRPr lang="en-US" sz="1400">
              <a:solidFill>
                <a:schemeClr val="accent6">
                  <a:lumMod val="10000"/>
                </a:schemeClr>
              </a:solidFill>
            </a:endParaRPr>
          </a:p>
          <a:p>
            <a:endParaRPr lang="en-US" sz="16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B84FEE1D-F538-545F-57E5-79339242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55774"/>
            <a:ext cx="9971702" cy="461765"/>
          </a:xfrm>
        </p:spPr>
        <p:txBody>
          <a:bodyPr>
            <a:noAutofit/>
          </a:bodyPr>
          <a:lstStyle/>
          <a:p>
            <a:r>
              <a:rPr lang="en-US" sz="2500">
                <a:latin typeface="Segoe UI Semibold"/>
                <a:cs typeface="Segoe UI Semibold"/>
              </a:rPr>
              <a:t>AI Ready, Lakehouse Conceptual Architecture</a:t>
            </a:r>
            <a:br>
              <a:rPr lang="en-US" sz="2500">
                <a:latin typeface="Segoe UI Semibold"/>
                <a:cs typeface="Segoe UI Semibold"/>
              </a:rPr>
            </a:br>
            <a:r>
              <a:rPr lang="en-US" sz="1800">
                <a:latin typeface="Segoe UI Semibold"/>
                <a:cs typeface="Segoe UI Semibold"/>
              </a:rPr>
              <a:t>Benefits and Features</a:t>
            </a:r>
            <a:endParaRPr lang="en-US" sz="1400">
              <a:latin typeface="Segoe UI Semibold"/>
              <a:cs typeface="Segoe UI Semibold"/>
            </a:endParaRPr>
          </a:p>
        </p:txBody>
      </p:sp>
      <p:sp>
        <p:nvSpPr>
          <p:cNvPr id="317" name="Rectangle: Rounded Corners 316">
            <a:extLst>
              <a:ext uri="{FF2B5EF4-FFF2-40B4-BE49-F238E27FC236}">
                <a16:creationId xmlns:a16="http://schemas.microsoft.com/office/drawing/2014/main" id="{D635ABCB-36B4-65B6-CD89-8BB37230EC58}"/>
              </a:ext>
            </a:extLst>
          </p:cNvPr>
          <p:cNvSpPr/>
          <p:nvPr/>
        </p:nvSpPr>
        <p:spPr>
          <a:xfrm>
            <a:off x="6514912" y="4955301"/>
            <a:ext cx="3818668" cy="323139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6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5CD447C1-2D7D-E169-8C4C-0F624EE0967E}"/>
              </a:ext>
            </a:extLst>
          </p:cNvPr>
          <p:cNvSpPr/>
          <p:nvPr/>
        </p:nvSpPr>
        <p:spPr>
          <a:xfrm>
            <a:off x="5714708" y="4311484"/>
            <a:ext cx="631994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HTTP Proxy Use Case Data Product Call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4EEEF5D-A4B2-962D-21D1-EDBA9D5F706D}"/>
              </a:ext>
            </a:extLst>
          </p:cNvPr>
          <p:cNvSpPr/>
          <p:nvPr/>
        </p:nvSpPr>
        <p:spPr>
          <a:xfrm>
            <a:off x="5714708" y="4921720"/>
            <a:ext cx="631994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Post Use Case Request</a:t>
            </a:r>
          </a:p>
        </p:txBody>
      </p:sp>
      <p:cxnSp>
        <p:nvCxnSpPr>
          <p:cNvPr id="322" name="Straight Arrow Connector 72">
            <a:extLst>
              <a:ext uri="{FF2B5EF4-FFF2-40B4-BE49-F238E27FC236}">
                <a16:creationId xmlns:a16="http://schemas.microsoft.com/office/drawing/2014/main" id="{950D603C-1792-73F6-EFAE-7334D2E4B1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09156" y="4418325"/>
            <a:ext cx="417688" cy="593418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D257D3D4-32EA-9588-1C86-7C5E29EA7A71}"/>
              </a:ext>
            </a:extLst>
          </p:cNvPr>
          <p:cNvCxnSpPr>
            <a:cxnSpLocks/>
          </p:cNvCxnSpPr>
          <p:nvPr/>
        </p:nvCxnSpPr>
        <p:spPr>
          <a:xfrm>
            <a:off x="6030705" y="4700896"/>
            <a:ext cx="0" cy="22082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2DCEC4A-5AB4-A979-D8DC-832ADD692D9E}"/>
              </a:ext>
            </a:extLst>
          </p:cNvPr>
          <p:cNvSpPr/>
          <p:nvPr/>
        </p:nvSpPr>
        <p:spPr>
          <a:xfrm>
            <a:off x="4707179" y="4923878"/>
            <a:ext cx="828221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Consumable or Pipeline Request for Use Case Data Product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739B03FF-91F7-DA1C-9582-950D36FF5B57}"/>
              </a:ext>
            </a:extLst>
          </p:cNvPr>
          <p:cNvCxnSpPr>
            <a:cxnSpLocks/>
          </p:cNvCxnSpPr>
          <p:nvPr/>
        </p:nvCxnSpPr>
        <p:spPr>
          <a:xfrm flipV="1">
            <a:off x="5535401" y="5116425"/>
            <a:ext cx="179307" cy="2158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4FFE367D-983C-AAA1-B547-75CA5C844537}"/>
              </a:ext>
            </a:extLst>
          </p:cNvPr>
          <p:cNvSpPr txBox="1"/>
          <p:nvPr/>
        </p:nvSpPr>
        <p:spPr>
          <a:xfrm>
            <a:off x="3816216" y="2907644"/>
            <a:ext cx="577402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b="1">
                <a:solidFill>
                  <a:schemeClr val="accent6">
                    <a:lumMod val="10000"/>
                  </a:schemeClr>
                </a:solidFill>
              </a:rPr>
              <a:t>Design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FE1B222-7ADE-1F4E-B219-FD4CE0449BAA}"/>
              </a:ext>
            </a:extLst>
          </p:cNvPr>
          <p:cNvSpPr txBox="1"/>
          <p:nvPr/>
        </p:nvSpPr>
        <p:spPr>
          <a:xfrm>
            <a:off x="3839188" y="440451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6">
                    <a:lumMod val="10000"/>
                  </a:schemeClr>
                </a:solidFill>
              </a:rPr>
              <a:t>Execution</a:t>
            </a:r>
          </a:p>
        </p:txBody>
      </p:sp>
      <p:cxnSp>
        <p:nvCxnSpPr>
          <p:cNvPr id="328" name="Straight Arrow Connector 72">
            <a:extLst>
              <a:ext uri="{FF2B5EF4-FFF2-40B4-BE49-F238E27FC236}">
                <a16:creationId xmlns:a16="http://schemas.microsoft.com/office/drawing/2014/main" id="{6925FA37-DF24-2379-0A4E-E1CA0F58618A}"/>
              </a:ext>
            </a:extLst>
          </p:cNvPr>
          <p:cNvCxnSpPr>
            <a:cxnSpLocks/>
          </p:cNvCxnSpPr>
          <p:nvPr/>
        </p:nvCxnSpPr>
        <p:spPr>
          <a:xfrm>
            <a:off x="6346702" y="5116425"/>
            <a:ext cx="168209" cy="446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72">
            <a:extLst>
              <a:ext uri="{FF2B5EF4-FFF2-40B4-BE49-F238E27FC236}">
                <a16:creationId xmlns:a16="http://schemas.microsoft.com/office/drawing/2014/main" id="{510E10F5-6A42-655D-61B4-E6536C537241}"/>
              </a:ext>
            </a:extLst>
          </p:cNvPr>
          <p:cNvCxnSpPr>
            <a:cxnSpLocks/>
          </p:cNvCxnSpPr>
          <p:nvPr/>
        </p:nvCxnSpPr>
        <p:spPr>
          <a:xfrm flipV="1">
            <a:off x="6982034" y="4597887"/>
            <a:ext cx="4318" cy="34039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01A0D1F-2C2A-3979-D43C-A069E9495D1B}"/>
              </a:ext>
            </a:extLst>
          </p:cNvPr>
          <p:cNvSpPr/>
          <p:nvPr/>
        </p:nvSpPr>
        <p:spPr>
          <a:xfrm>
            <a:off x="6730136" y="4208475"/>
            <a:ext cx="512431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Airflow</a:t>
            </a:r>
          </a:p>
          <a:p>
            <a:pPr algn="ctr"/>
            <a:r>
              <a:rPr lang="en-US" sz="600">
                <a:solidFill>
                  <a:schemeClr val="bg1"/>
                </a:solidFill>
              </a:rPr>
              <a:t>Listener</a:t>
            </a:r>
          </a:p>
        </p:txBody>
      </p: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428D8EE8-7BE5-5049-4AFC-3676FDB5B1B5}"/>
              </a:ext>
            </a:extLst>
          </p:cNvPr>
          <p:cNvCxnSpPr>
            <a:cxnSpLocks/>
          </p:cNvCxnSpPr>
          <p:nvPr/>
        </p:nvCxnSpPr>
        <p:spPr>
          <a:xfrm flipV="1">
            <a:off x="7242567" y="4402522"/>
            <a:ext cx="126599" cy="65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63E52AD3-86EF-EF7E-7550-D695C8B40E44}"/>
              </a:ext>
            </a:extLst>
          </p:cNvPr>
          <p:cNvSpPr/>
          <p:nvPr/>
        </p:nvSpPr>
        <p:spPr>
          <a:xfrm>
            <a:off x="7369166" y="4207816"/>
            <a:ext cx="504595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Execute Orchestration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B1EF8BFB-54A3-70A5-8591-DD17A16D4A03}"/>
              </a:ext>
            </a:extLst>
          </p:cNvPr>
          <p:cNvSpPr/>
          <p:nvPr/>
        </p:nvSpPr>
        <p:spPr>
          <a:xfrm>
            <a:off x="6635165" y="5483613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Reference </a:t>
            </a:r>
          </a:p>
          <a:p>
            <a:pPr algn="ctr"/>
            <a:r>
              <a:rPr lang="en-US" sz="600">
                <a:solidFill>
                  <a:schemeClr val="bg1"/>
                </a:solidFill>
              </a:rPr>
              <a:t>Data Listener</a:t>
            </a:r>
          </a:p>
        </p:txBody>
      </p: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63E208F8-870B-0EB2-6FE4-9B516DCD50D7}"/>
              </a:ext>
            </a:extLst>
          </p:cNvPr>
          <p:cNvCxnSpPr>
            <a:cxnSpLocks/>
          </p:cNvCxnSpPr>
          <p:nvPr/>
        </p:nvCxnSpPr>
        <p:spPr>
          <a:xfrm flipH="1">
            <a:off x="6903538" y="5283210"/>
            <a:ext cx="46" cy="20040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88D47E8C-97BE-D3E5-78F3-82C1846B4ED7}"/>
              </a:ext>
            </a:extLst>
          </p:cNvPr>
          <p:cNvGrpSpPr/>
          <p:nvPr/>
        </p:nvGrpSpPr>
        <p:grpSpPr>
          <a:xfrm>
            <a:off x="7316906" y="3647930"/>
            <a:ext cx="591257" cy="323139"/>
            <a:chOff x="7076910" y="2836138"/>
            <a:chExt cx="1013225" cy="473803"/>
          </a:xfrm>
        </p:grpSpPr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6EDADBE2-CBC5-3138-927B-744B4C8199A2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1855DC67-8283-CA6E-EF36-A8A7ADAA059E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266AE075-B72B-22A0-2D54-78006B2A103D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cxnSp>
        <p:nvCxnSpPr>
          <p:cNvPr id="336" name="Straight Arrow Connector 72">
            <a:extLst>
              <a:ext uri="{FF2B5EF4-FFF2-40B4-BE49-F238E27FC236}">
                <a16:creationId xmlns:a16="http://schemas.microsoft.com/office/drawing/2014/main" id="{CFA0BD63-8CA4-F764-65BF-44CC2F6987F8}"/>
              </a:ext>
            </a:extLst>
          </p:cNvPr>
          <p:cNvCxnSpPr>
            <a:cxnSpLocks/>
            <a:endCxn id="258" idx="1"/>
          </p:cNvCxnSpPr>
          <p:nvPr/>
        </p:nvCxnSpPr>
        <p:spPr>
          <a:xfrm flipV="1">
            <a:off x="9832376" y="4398132"/>
            <a:ext cx="80655" cy="231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AD6D88EC-26DB-F09B-CF85-7620018274E3}"/>
              </a:ext>
            </a:extLst>
          </p:cNvPr>
          <p:cNvSpPr/>
          <p:nvPr/>
        </p:nvSpPr>
        <p:spPr>
          <a:xfrm>
            <a:off x="9117960" y="4205736"/>
            <a:ext cx="714416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Package Payload with Reference (Heavy) or Data (Light) </a:t>
            </a: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A3EF12D8-7C29-AF24-197F-4073F087D4E8}"/>
              </a:ext>
            </a:extLst>
          </p:cNvPr>
          <p:cNvCxnSpPr>
            <a:cxnSpLocks/>
          </p:cNvCxnSpPr>
          <p:nvPr/>
        </p:nvCxnSpPr>
        <p:spPr>
          <a:xfrm flipH="1">
            <a:off x="7537291" y="5283210"/>
            <a:ext cx="4047" cy="20950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Rectangle 338">
            <a:extLst>
              <a:ext uri="{FF2B5EF4-FFF2-40B4-BE49-F238E27FC236}">
                <a16:creationId xmlns:a16="http://schemas.microsoft.com/office/drawing/2014/main" id="{E3F7B49C-FCB0-F0B2-DEDC-5746B4D7840E}"/>
              </a:ext>
            </a:extLst>
          </p:cNvPr>
          <p:cNvSpPr/>
          <p:nvPr/>
        </p:nvSpPr>
        <p:spPr>
          <a:xfrm>
            <a:off x="7268918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Transaction Log / Audit Trail</a:t>
            </a: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F8419547-78F8-6CBA-EB38-91BAC41AD88F}"/>
              </a:ext>
            </a:extLst>
          </p:cNvPr>
          <p:cNvSpPr/>
          <p:nvPr/>
        </p:nvSpPr>
        <p:spPr>
          <a:xfrm>
            <a:off x="6943003" y="49382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0DD2DEC0-1ADB-8975-4D1C-A67698DD8EE0}"/>
              </a:ext>
            </a:extLst>
          </p:cNvPr>
          <p:cNvSpPr/>
          <p:nvPr/>
        </p:nvSpPr>
        <p:spPr>
          <a:xfrm>
            <a:off x="6864552" y="52065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8C423B09-9192-172C-140A-7B6E1AD5652E}"/>
              </a:ext>
            </a:extLst>
          </p:cNvPr>
          <p:cNvSpPr/>
          <p:nvPr/>
        </p:nvSpPr>
        <p:spPr>
          <a:xfrm>
            <a:off x="7502306" y="52065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3" name="Cylinder 342">
            <a:extLst>
              <a:ext uri="{FF2B5EF4-FFF2-40B4-BE49-F238E27FC236}">
                <a16:creationId xmlns:a16="http://schemas.microsoft.com/office/drawing/2014/main" id="{241CE3AD-43E6-3F47-682B-63720F67CB38}"/>
              </a:ext>
            </a:extLst>
          </p:cNvPr>
          <p:cNvSpPr/>
          <p:nvPr/>
        </p:nvSpPr>
        <p:spPr>
          <a:xfrm>
            <a:off x="9337835" y="3839038"/>
            <a:ext cx="582041" cy="229519"/>
          </a:xfrm>
          <a:prstGeom prst="can">
            <a:avLst>
              <a:gd name="adj" fmla="val 16579"/>
            </a:avLst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t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Temp Results Store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550B55D9-4E6E-C8A5-98E3-006809DD62EE}"/>
              </a:ext>
            </a:extLst>
          </p:cNvPr>
          <p:cNvSpPr/>
          <p:nvPr/>
        </p:nvSpPr>
        <p:spPr>
          <a:xfrm>
            <a:off x="8591617" y="4318047"/>
            <a:ext cx="394484" cy="2789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6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345" name="Straight Arrow Connector 72">
            <a:extLst>
              <a:ext uri="{FF2B5EF4-FFF2-40B4-BE49-F238E27FC236}">
                <a16:creationId xmlns:a16="http://schemas.microsoft.com/office/drawing/2014/main" id="{383E860A-5695-F6AB-7B63-ECE493939D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59739" y="3830163"/>
            <a:ext cx="254462" cy="501731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Rectangle 345">
            <a:extLst>
              <a:ext uri="{FF2B5EF4-FFF2-40B4-BE49-F238E27FC236}">
                <a16:creationId xmlns:a16="http://schemas.microsoft.com/office/drawing/2014/main" id="{D1D1F2AD-AABE-C69B-0AFF-B825F3AB479C}"/>
              </a:ext>
            </a:extLst>
          </p:cNvPr>
          <p:cNvSpPr/>
          <p:nvPr/>
        </p:nvSpPr>
        <p:spPr>
          <a:xfrm>
            <a:off x="11114919" y="4919188"/>
            <a:ext cx="486098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Consumer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A7FF2B3B-6748-2CBE-26C9-6571FCB233CF}"/>
              </a:ext>
            </a:extLst>
          </p:cNvPr>
          <p:cNvCxnSpPr>
            <a:cxnSpLocks/>
          </p:cNvCxnSpPr>
          <p:nvPr/>
        </p:nvCxnSpPr>
        <p:spPr>
          <a:xfrm>
            <a:off x="8992946" y="4400442"/>
            <a:ext cx="125014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4238F23-753D-372A-A5F6-95E1B21A4ACB}"/>
              </a:ext>
            </a:extLst>
          </p:cNvPr>
          <p:cNvSpPr/>
          <p:nvPr/>
        </p:nvSpPr>
        <p:spPr>
          <a:xfrm>
            <a:off x="9913031" y="4205736"/>
            <a:ext cx="348324" cy="38479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Post Result</a:t>
            </a: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DFF3C42D-9FF8-A93C-E0F8-B8B1AECCB0C0}"/>
              </a:ext>
            </a:extLst>
          </p:cNvPr>
          <p:cNvSpPr/>
          <p:nvPr/>
        </p:nvSpPr>
        <p:spPr>
          <a:xfrm>
            <a:off x="9993561" y="4941435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cxnSp>
        <p:nvCxnSpPr>
          <p:cNvPr id="350" name="Straight Arrow Connector 72">
            <a:extLst>
              <a:ext uri="{FF2B5EF4-FFF2-40B4-BE49-F238E27FC236}">
                <a16:creationId xmlns:a16="http://schemas.microsoft.com/office/drawing/2014/main" id="{310D6B4A-0C04-BC97-99CA-92EFD20FA42C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10087193" y="4590527"/>
            <a:ext cx="0" cy="35741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Arrow Connector 72">
            <a:extLst>
              <a:ext uri="{FF2B5EF4-FFF2-40B4-BE49-F238E27FC236}">
                <a16:creationId xmlns:a16="http://schemas.microsoft.com/office/drawing/2014/main" id="{C911F303-768F-5CD4-405A-4018520E19B7}"/>
              </a:ext>
            </a:extLst>
          </p:cNvPr>
          <p:cNvCxnSpPr>
            <a:cxnSpLocks/>
          </p:cNvCxnSpPr>
          <p:nvPr/>
        </p:nvCxnSpPr>
        <p:spPr>
          <a:xfrm>
            <a:off x="9919876" y="3953797"/>
            <a:ext cx="1438092" cy="965391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72">
            <a:extLst>
              <a:ext uri="{FF2B5EF4-FFF2-40B4-BE49-F238E27FC236}">
                <a16:creationId xmlns:a16="http://schemas.microsoft.com/office/drawing/2014/main" id="{9716690B-5234-C691-82A5-2F8C638A622E}"/>
              </a:ext>
            </a:extLst>
          </p:cNvPr>
          <p:cNvCxnSpPr>
            <a:cxnSpLocks/>
          </p:cNvCxnSpPr>
          <p:nvPr/>
        </p:nvCxnSpPr>
        <p:spPr>
          <a:xfrm flipV="1">
            <a:off x="10333580" y="5114775"/>
            <a:ext cx="214839" cy="209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Rectangle 352">
            <a:extLst>
              <a:ext uri="{FF2B5EF4-FFF2-40B4-BE49-F238E27FC236}">
                <a16:creationId xmlns:a16="http://schemas.microsoft.com/office/drawing/2014/main" id="{9A0D1C38-C756-E61B-E882-D998E646049F}"/>
              </a:ext>
            </a:extLst>
          </p:cNvPr>
          <p:cNvSpPr/>
          <p:nvPr/>
        </p:nvSpPr>
        <p:spPr>
          <a:xfrm>
            <a:off x="10548419" y="4922379"/>
            <a:ext cx="348324" cy="384791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Result Listener</a:t>
            </a:r>
          </a:p>
        </p:txBody>
      </p:sp>
      <p:cxnSp>
        <p:nvCxnSpPr>
          <p:cNvPr id="354" name="Straight Arrow Connector 72">
            <a:extLst>
              <a:ext uri="{FF2B5EF4-FFF2-40B4-BE49-F238E27FC236}">
                <a16:creationId xmlns:a16="http://schemas.microsoft.com/office/drawing/2014/main" id="{A3A12836-61AD-6CB3-85AC-512B0F1E1807}"/>
              </a:ext>
            </a:extLst>
          </p:cNvPr>
          <p:cNvCxnSpPr>
            <a:cxnSpLocks/>
          </p:cNvCxnSpPr>
          <p:nvPr/>
        </p:nvCxnSpPr>
        <p:spPr>
          <a:xfrm flipV="1">
            <a:off x="10896743" y="5113894"/>
            <a:ext cx="218176" cy="88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AD193739-B7E3-C20B-E7E9-BDC7CE8B9F6D}"/>
              </a:ext>
            </a:extLst>
          </p:cNvPr>
          <p:cNvCxnSpPr>
            <a:cxnSpLocks/>
          </p:cNvCxnSpPr>
          <p:nvPr/>
        </p:nvCxnSpPr>
        <p:spPr>
          <a:xfrm flipV="1">
            <a:off x="7621463" y="4597228"/>
            <a:ext cx="0" cy="33741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ylinder 358">
            <a:extLst>
              <a:ext uri="{FF2B5EF4-FFF2-40B4-BE49-F238E27FC236}">
                <a16:creationId xmlns:a16="http://schemas.microsoft.com/office/drawing/2014/main" id="{2F014003-7B58-4E95-D9C7-3685AD0F255C}"/>
              </a:ext>
            </a:extLst>
          </p:cNvPr>
          <p:cNvSpPr/>
          <p:nvPr/>
        </p:nvSpPr>
        <p:spPr>
          <a:xfrm>
            <a:off x="8219341" y="3530660"/>
            <a:ext cx="556923" cy="225144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  <a:ea typeface="Calibri"/>
                <a:cs typeface="Calibri"/>
              </a:rPr>
              <a:t>CDMs / Source/ Target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196F57-89D5-DEE1-63BB-F396C1757217}"/>
              </a:ext>
            </a:extLst>
          </p:cNvPr>
          <p:cNvSpPr/>
          <p:nvPr/>
        </p:nvSpPr>
        <p:spPr>
          <a:xfrm>
            <a:off x="8000360" y="4318925"/>
            <a:ext cx="591257" cy="2789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Light or Heavy Implementation</a:t>
            </a:r>
            <a:endParaRPr lang="en-US" sz="60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9CC0E486-4F8E-9C3E-F90F-0C48F030C5DD}"/>
              </a:ext>
            </a:extLst>
          </p:cNvPr>
          <p:cNvCxnSpPr>
            <a:cxnSpLocks/>
          </p:cNvCxnSpPr>
          <p:nvPr/>
        </p:nvCxnSpPr>
        <p:spPr>
          <a:xfrm>
            <a:off x="8295988" y="4597888"/>
            <a:ext cx="4318" cy="35741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DDC9F5AE-1832-E407-4A7C-CC134777FE70}"/>
              </a:ext>
            </a:extLst>
          </p:cNvPr>
          <p:cNvCxnSpPr>
            <a:cxnSpLocks/>
          </p:cNvCxnSpPr>
          <p:nvPr/>
        </p:nvCxnSpPr>
        <p:spPr>
          <a:xfrm flipV="1">
            <a:off x="8496653" y="3755804"/>
            <a:ext cx="0" cy="449932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72">
            <a:extLst>
              <a:ext uri="{FF2B5EF4-FFF2-40B4-BE49-F238E27FC236}">
                <a16:creationId xmlns:a16="http://schemas.microsoft.com/office/drawing/2014/main" id="{6A3FDAD3-F77D-67B0-9B35-5996C772E2CB}"/>
              </a:ext>
            </a:extLst>
          </p:cNvPr>
          <p:cNvCxnSpPr>
            <a:cxnSpLocks/>
          </p:cNvCxnSpPr>
          <p:nvPr/>
        </p:nvCxnSpPr>
        <p:spPr>
          <a:xfrm>
            <a:off x="7908164" y="3843960"/>
            <a:ext cx="247132" cy="361776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angle 363">
            <a:extLst>
              <a:ext uri="{FF2B5EF4-FFF2-40B4-BE49-F238E27FC236}">
                <a16:creationId xmlns:a16="http://schemas.microsoft.com/office/drawing/2014/main" id="{5C4EF704-67AD-A4DF-58FD-90B30293479D}"/>
              </a:ext>
            </a:extLst>
          </p:cNvPr>
          <p:cNvSpPr/>
          <p:nvPr/>
        </p:nvSpPr>
        <p:spPr>
          <a:xfrm>
            <a:off x="7969360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AI Listener</a:t>
            </a:r>
          </a:p>
        </p:txBody>
      </p: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DB9A9E16-5D54-5678-21B6-B8E8AFA5FB08}"/>
              </a:ext>
            </a:extLst>
          </p:cNvPr>
          <p:cNvCxnSpPr>
            <a:cxnSpLocks/>
          </p:cNvCxnSpPr>
          <p:nvPr/>
        </p:nvCxnSpPr>
        <p:spPr>
          <a:xfrm flipH="1">
            <a:off x="8237733" y="5292055"/>
            <a:ext cx="4047" cy="20950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Rectangle 365">
            <a:extLst>
              <a:ext uri="{FF2B5EF4-FFF2-40B4-BE49-F238E27FC236}">
                <a16:creationId xmlns:a16="http://schemas.microsoft.com/office/drawing/2014/main" id="{647B73A2-DD9A-0F2E-398C-4E46A5EB153B}"/>
              </a:ext>
            </a:extLst>
          </p:cNvPr>
          <p:cNvSpPr/>
          <p:nvPr/>
        </p:nvSpPr>
        <p:spPr>
          <a:xfrm>
            <a:off x="8676820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Collibra Listener</a:t>
            </a:r>
          </a:p>
        </p:txBody>
      </p: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BCBCD733-B466-A93C-EA09-B1CE8A821BD0}"/>
              </a:ext>
            </a:extLst>
          </p:cNvPr>
          <p:cNvCxnSpPr>
            <a:cxnSpLocks/>
          </p:cNvCxnSpPr>
          <p:nvPr/>
        </p:nvCxnSpPr>
        <p:spPr>
          <a:xfrm>
            <a:off x="8945192" y="5276275"/>
            <a:ext cx="1" cy="21644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562DBD1F-1C75-C281-A7EE-2BF9B7A47D73}"/>
              </a:ext>
            </a:extLst>
          </p:cNvPr>
          <p:cNvSpPr txBox="1"/>
          <p:nvPr/>
        </p:nvSpPr>
        <p:spPr>
          <a:xfrm>
            <a:off x="8788460" y="3790159"/>
            <a:ext cx="619134" cy="235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Heavy Only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6F49EC07-6700-97AB-7307-B2136893ADEE}"/>
              </a:ext>
            </a:extLst>
          </p:cNvPr>
          <p:cNvSpPr txBox="1"/>
          <p:nvPr/>
        </p:nvSpPr>
        <p:spPr>
          <a:xfrm>
            <a:off x="10375420" y="3803699"/>
            <a:ext cx="922091" cy="235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Heavy Only Payload</a:t>
            </a: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1BD17898-E446-E3F1-C5BA-B8BF641749AE}"/>
              </a:ext>
            </a:extLst>
          </p:cNvPr>
          <p:cNvCxnSpPr/>
          <p:nvPr/>
        </p:nvCxnSpPr>
        <p:spPr>
          <a:xfrm>
            <a:off x="3833981" y="3447427"/>
            <a:ext cx="76127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Oval 370">
            <a:extLst>
              <a:ext uri="{FF2B5EF4-FFF2-40B4-BE49-F238E27FC236}">
                <a16:creationId xmlns:a16="http://schemas.microsoft.com/office/drawing/2014/main" id="{C59D943C-0D46-7E50-BA32-423CB31351D5}"/>
              </a:ext>
            </a:extLst>
          </p:cNvPr>
          <p:cNvSpPr/>
          <p:nvPr/>
        </p:nvSpPr>
        <p:spPr>
          <a:xfrm>
            <a:off x="8471660" y="4206720"/>
            <a:ext cx="87500" cy="915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579F56CF-A3FA-B439-7768-47521FDA1ABF}"/>
              </a:ext>
            </a:extLst>
          </p:cNvPr>
          <p:cNvSpPr/>
          <p:nvPr/>
        </p:nvSpPr>
        <p:spPr>
          <a:xfrm>
            <a:off x="7998775" y="4202996"/>
            <a:ext cx="995320" cy="12194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D678B639-4977-D74F-62B6-853C5851B9FA}"/>
              </a:ext>
            </a:extLst>
          </p:cNvPr>
          <p:cNvSpPr/>
          <p:nvPr/>
        </p:nvSpPr>
        <p:spPr>
          <a:xfrm>
            <a:off x="8820980" y="4208259"/>
            <a:ext cx="30249" cy="29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DE5FC980-8610-0743-6C4E-C66EA68CC88A}"/>
              </a:ext>
            </a:extLst>
          </p:cNvPr>
          <p:cNvSpPr/>
          <p:nvPr/>
        </p:nvSpPr>
        <p:spPr>
          <a:xfrm>
            <a:off x="8000360" y="4205736"/>
            <a:ext cx="992586" cy="389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9CF340-9AA2-82E4-0069-FC423D4A026D}"/>
              </a:ext>
            </a:extLst>
          </p:cNvPr>
          <p:cNvCxnSpPr>
            <a:cxnSpLocks/>
          </p:cNvCxnSpPr>
          <p:nvPr/>
        </p:nvCxnSpPr>
        <p:spPr>
          <a:xfrm>
            <a:off x="90271" y="1671587"/>
            <a:ext cx="328468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7B74CF-41D9-8D66-3807-63B15BD3453A}"/>
              </a:ext>
            </a:extLst>
          </p:cNvPr>
          <p:cNvSpPr/>
          <p:nvPr/>
        </p:nvSpPr>
        <p:spPr>
          <a:xfrm>
            <a:off x="4692060" y="2724217"/>
            <a:ext cx="920018" cy="471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Data Product / Pipeline Definition and Validation 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55ABA-94EC-32CC-D80E-8640001A5B31}"/>
              </a:ext>
            </a:extLst>
          </p:cNvPr>
          <p:cNvSpPr/>
          <p:nvPr/>
        </p:nvSpPr>
        <p:spPr>
          <a:xfrm>
            <a:off x="6723365" y="2724217"/>
            <a:ext cx="694019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Common Services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15F010-D418-129D-5590-EA130B1BFF2F}"/>
              </a:ext>
            </a:extLst>
          </p:cNvPr>
          <p:cNvCxnSpPr>
            <a:cxnSpLocks/>
          </p:cNvCxnSpPr>
          <p:nvPr/>
        </p:nvCxnSpPr>
        <p:spPr>
          <a:xfrm>
            <a:off x="5623836" y="2960144"/>
            <a:ext cx="215366" cy="501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CD97455-7620-D397-2BAA-3AA24DB17759}"/>
              </a:ext>
            </a:extLst>
          </p:cNvPr>
          <p:cNvSpPr/>
          <p:nvPr/>
        </p:nvSpPr>
        <p:spPr>
          <a:xfrm>
            <a:off x="8507607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Parameterize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Service Calls in Orchestration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68F578-8190-E7C9-336F-27A855ED6582}"/>
              </a:ext>
            </a:extLst>
          </p:cNvPr>
          <p:cNvCxnSpPr>
            <a:cxnSpLocks/>
          </p:cNvCxnSpPr>
          <p:nvPr/>
        </p:nvCxnSpPr>
        <p:spPr>
          <a:xfrm flipV="1">
            <a:off x="7422036" y="2973593"/>
            <a:ext cx="192105" cy="160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2C74A8-9A75-0EB9-3C66-D2BF66F6C1D2}"/>
              </a:ext>
            </a:extLst>
          </p:cNvPr>
          <p:cNvCxnSpPr>
            <a:cxnSpLocks/>
          </p:cNvCxnSpPr>
          <p:nvPr/>
        </p:nvCxnSpPr>
        <p:spPr>
          <a:xfrm>
            <a:off x="9195014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B228C7-2D35-A56E-06EB-6042E5C97B2E}"/>
              </a:ext>
            </a:extLst>
          </p:cNvPr>
          <p:cNvCxnSpPr>
            <a:cxnSpLocks/>
          </p:cNvCxnSpPr>
          <p:nvPr/>
        </p:nvCxnSpPr>
        <p:spPr>
          <a:xfrm>
            <a:off x="6521956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BEEF3F-9D2F-E640-A67B-6FDA7828C889}"/>
              </a:ext>
            </a:extLst>
          </p:cNvPr>
          <p:cNvCxnSpPr>
            <a:cxnSpLocks/>
          </p:cNvCxnSpPr>
          <p:nvPr/>
        </p:nvCxnSpPr>
        <p:spPr>
          <a:xfrm flipH="1" flipV="1">
            <a:off x="9742927" y="2090584"/>
            <a:ext cx="11576" cy="74865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9">
            <a:extLst>
              <a:ext uri="{FF2B5EF4-FFF2-40B4-BE49-F238E27FC236}">
                <a16:creationId xmlns:a16="http://schemas.microsoft.com/office/drawing/2014/main" id="{CD9828DD-4B5D-0088-F4D5-E4CC87561599}"/>
              </a:ext>
            </a:extLst>
          </p:cNvPr>
          <p:cNvCxnSpPr>
            <a:cxnSpLocks/>
          </p:cNvCxnSpPr>
          <p:nvPr/>
        </p:nvCxnSpPr>
        <p:spPr>
          <a:xfrm flipH="1">
            <a:off x="5022674" y="1844877"/>
            <a:ext cx="4443804" cy="8649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CEA8F-530C-DFD0-7AE0-07754184EA7D}"/>
              </a:ext>
            </a:extLst>
          </p:cNvPr>
          <p:cNvCxnSpPr>
            <a:cxnSpLocks/>
          </p:cNvCxnSpPr>
          <p:nvPr/>
        </p:nvCxnSpPr>
        <p:spPr>
          <a:xfrm>
            <a:off x="10083829" y="2960144"/>
            <a:ext cx="171251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7CE572-8123-BD07-F67B-A1854AA7D0B8}"/>
              </a:ext>
            </a:extLst>
          </p:cNvPr>
          <p:cNvCxnSpPr>
            <a:cxnSpLocks/>
          </p:cNvCxnSpPr>
          <p:nvPr/>
        </p:nvCxnSpPr>
        <p:spPr>
          <a:xfrm>
            <a:off x="8306199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3FB84B6-706D-0461-B68F-A6BFE9064FE4}"/>
              </a:ext>
            </a:extLst>
          </p:cNvPr>
          <p:cNvSpPr/>
          <p:nvPr/>
        </p:nvSpPr>
        <p:spPr>
          <a:xfrm>
            <a:off x="7618793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 Customized Service</a:t>
            </a:r>
          </a:p>
        </p:txBody>
      </p:sp>
      <p:pic>
        <p:nvPicPr>
          <p:cNvPr id="48" name="Picture 47" descr="Web interface">
            <a:extLst>
              <a:ext uri="{FF2B5EF4-FFF2-40B4-BE49-F238E27FC236}">
                <a16:creationId xmlns:a16="http://schemas.microsoft.com/office/drawing/2014/main" id="{602FE2FE-1F5C-7E18-641D-D47CDCF8E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740" y="2371355"/>
            <a:ext cx="352282" cy="360333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178EFE7-1DBB-0E6F-99BA-F7F59F9FEA45}"/>
              </a:ext>
            </a:extLst>
          </p:cNvPr>
          <p:cNvSpPr/>
          <p:nvPr/>
        </p:nvSpPr>
        <p:spPr>
          <a:xfrm>
            <a:off x="10241122" y="272923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Deploy Orchestration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6EDCFDBF-E969-6189-9A0E-D24692E08531}"/>
              </a:ext>
            </a:extLst>
          </p:cNvPr>
          <p:cNvSpPr/>
          <p:nvPr/>
        </p:nvSpPr>
        <p:spPr>
          <a:xfrm>
            <a:off x="5834550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Determine Execution Type(s)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F308225-3047-BC7F-8BAC-8BC8798DFBAC}"/>
              </a:ext>
            </a:extLst>
          </p:cNvPr>
          <p:cNvSpPr/>
          <p:nvPr/>
        </p:nvSpPr>
        <p:spPr>
          <a:xfrm>
            <a:off x="9396423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Create Orchestration Package(s)</a:t>
            </a:r>
          </a:p>
        </p:txBody>
      </p:sp>
      <p:sp>
        <p:nvSpPr>
          <p:cNvPr id="264" name="Cylinder 263">
            <a:extLst>
              <a:ext uri="{FF2B5EF4-FFF2-40B4-BE49-F238E27FC236}">
                <a16:creationId xmlns:a16="http://schemas.microsoft.com/office/drawing/2014/main" id="{0C8C0AE3-CDC3-4AD1-E0F1-5272E8356A6E}"/>
              </a:ext>
            </a:extLst>
          </p:cNvPr>
          <p:cNvSpPr/>
          <p:nvPr/>
        </p:nvSpPr>
        <p:spPr>
          <a:xfrm>
            <a:off x="9423344" y="1608952"/>
            <a:ext cx="639164" cy="471853"/>
          </a:xfrm>
          <a:prstGeom prst="can">
            <a:avLst>
              <a:gd name="adj" fmla="val 16579"/>
            </a:avLst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Store Orchestrion Metadata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4FB2948-232B-B92B-6472-A037612CFDC8}"/>
              </a:ext>
            </a:extLst>
          </p:cNvPr>
          <p:cNvSpPr txBox="1"/>
          <p:nvPr/>
        </p:nvSpPr>
        <p:spPr>
          <a:xfrm>
            <a:off x="3830592" y="1498662"/>
            <a:ext cx="5350685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User clickable use case data product definition process</a:t>
            </a:r>
            <a:endParaRPr lang="en-US" sz="16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35E30F32-FE1A-63BE-34FB-0FE69915CC04}"/>
              </a:ext>
            </a:extLst>
          </p:cNvPr>
          <p:cNvSpPr txBox="1"/>
          <p:nvPr/>
        </p:nvSpPr>
        <p:spPr>
          <a:xfrm>
            <a:off x="3824810" y="3469983"/>
            <a:ext cx="199607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</a:rPr>
              <a:t>Under the hood</a:t>
            </a:r>
          </a:p>
        </p:txBody>
      </p:sp>
    </p:spTree>
    <p:extLst>
      <p:ext uri="{BB962C8B-B14F-4D97-AF65-F5344CB8AC3E}">
        <p14:creationId xmlns:p14="http://schemas.microsoft.com/office/powerpoint/2010/main" val="1879386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C48B51C-8287-3F9B-71E3-3DF8BCDD7567}"/>
              </a:ext>
            </a:extLst>
          </p:cNvPr>
          <p:cNvSpPr/>
          <p:nvPr/>
        </p:nvSpPr>
        <p:spPr>
          <a:xfrm>
            <a:off x="-7448" y="997527"/>
            <a:ext cx="4065098" cy="5869068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Functional Execution Model</a:t>
            </a:r>
          </a:p>
          <a:p>
            <a:pPr marL="171450" lvl="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Each data process is just a sequence of reusable steps applied in order.</a:t>
            </a:r>
          </a:p>
          <a:p>
            <a:pPr marL="171450" lvl="0" indent="-171450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Functions are pure business logic primitives (filter, join, enrich, validate, aggregate)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Execution logic is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engine-agnostic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; routing changes compute, not composition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</a:rPr>
              <a:t>Deterministic execution: identical inputs + configuration → identical outputs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In-Memory Runtime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Dataset is loaded once into the </a:t>
            </a:r>
            <a:r>
              <a:rPr lang="en-US" sz="1200" err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RuntimeFrame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 and transformed end-to-end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Eliminates repeated I/O between services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Persistence occurs only when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Bus remains “thin” — references, not payloads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sz="1200" b="1">
                <a:solidFill>
                  <a:schemeClr val="accent6">
                    <a:lumMod val="10000"/>
                  </a:schemeClr>
                </a:solidFill>
              </a:rPr>
              <a:t>Event-Driven Coordination Backbone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Every step emits structured execution events</a:t>
            </a:r>
          </a:p>
          <a:p>
            <a:pPr marL="174625" indent="-1746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Bus decouples orchestration from:</a:t>
            </a:r>
          </a:p>
          <a:p>
            <a:pPr marL="515938" lvl="1" indent="-174625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Audit &amp; lineage capture</a:t>
            </a:r>
          </a:p>
          <a:p>
            <a:pPr marL="515938" lvl="1" indent="-174625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Data quality enforcement</a:t>
            </a:r>
          </a:p>
          <a:p>
            <a:pPr marL="515938" lvl="1" indent="-174625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AI optimization &amp; routing</a:t>
            </a:r>
          </a:p>
          <a:p>
            <a:pPr marL="515938" lvl="1" indent="-174625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Reference data enrichment</a:t>
            </a:r>
          </a:p>
          <a:p>
            <a:pPr marL="174625" indent="-1746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New capabilities subscribe to events without modifying pipelines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096C0-9ADA-E2AC-9D6E-C3A34D45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78224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Lakehouse Function Execution Model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EE0BCDC-E596-02BA-5978-1EDF66083BCA}"/>
              </a:ext>
            </a:extLst>
          </p:cNvPr>
          <p:cNvCxnSpPr>
            <a:cxnSpLocks/>
          </p:cNvCxnSpPr>
          <p:nvPr/>
        </p:nvCxnSpPr>
        <p:spPr>
          <a:xfrm>
            <a:off x="155121" y="1355317"/>
            <a:ext cx="373107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Picture 117">
            <a:extLst>
              <a:ext uri="{FF2B5EF4-FFF2-40B4-BE49-F238E27FC236}">
                <a16:creationId xmlns:a16="http://schemas.microsoft.com/office/drawing/2014/main" id="{7549FA68-9CEE-E572-EE5F-E391179B6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264" y="1547532"/>
            <a:ext cx="3677558" cy="3272996"/>
          </a:xfrm>
          <a:prstGeom prst="rect">
            <a:avLst/>
          </a:prstGeom>
        </p:spPr>
      </p:pic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A634F521-2FBE-D74E-605A-A57A8975A3B1}"/>
              </a:ext>
            </a:extLst>
          </p:cNvPr>
          <p:cNvSpPr/>
          <p:nvPr/>
        </p:nvSpPr>
        <p:spPr>
          <a:xfrm>
            <a:off x="8213271" y="997525"/>
            <a:ext cx="3978729" cy="5869071"/>
          </a:xfrm>
          <a:custGeom>
            <a:avLst/>
            <a:gdLst>
              <a:gd name="csX0" fmla="*/ 223609 w 3595007"/>
              <a:gd name="csY0" fmla="*/ 0 h 5476755"/>
              <a:gd name="csX1" fmla="*/ 3371398 w 3595007"/>
              <a:gd name="csY1" fmla="*/ 0 h 5476755"/>
              <a:gd name="csX2" fmla="*/ 3371413 w 3595007"/>
              <a:gd name="csY2" fmla="*/ 3 h 5476755"/>
              <a:gd name="csX3" fmla="*/ 3595007 w 3595007"/>
              <a:gd name="csY3" fmla="*/ 3 h 5476755"/>
              <a:gd name="csX4" fmla="*/ 3595007 w 3595007"/>
              <a:gd name="csY4" fmla="*/ 223609 h 5476755"/>
              <a:gd name="csX5" fmla="*/ 3595007 w 3595007"/>
              <a:gd name="csY5" fmla="*/ 5253144 h 5476755"/>
              <a:gd name="csX6" fmla="*/ 3595007 w 3595007"/>
              <a:gd name="csY6" fmla="*/ 5476755 h 5476755"/>
              <a:gd name="csX7" fmla="*/ 3045278 w 3595007"/>
              <a:gd name="csY7" fmla="*/ 5476755 h 5476755"/>
              <a:gd name="csX8" fmla="*/ 3045278 w 3595007"/>
              <a:gd name="csY8" fmla="*/ 5476753 h 5476755"/>
              <a:gd name="csX9" fmla="*/ 223609 w 3595007"/>
              <a:gd name="csY9" fmla="*/ 5476753 h 5476755"/>
              <a:gd name="csX10" fmla="*/ 0 w 3595007"/>
              <a:gd name="csY10" fmla="*/ 5253144 h 5476755"/>
              <a:gd name="csX11" fmla="*/ 0 w 3595007"/>
              <a:gd name="csY11" fmla="*/ 223609 h 5476755"/>
              <a:gd name="csX12" fmla="*/ 223609 w 3595007"/>
              <a:gd name="csY12" fmla="*/ 0 h 5476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595007" h="5476755">
                <a:moveTo>
                  <a:pt x="223609" y="0"/>
                </a:moveTo>
                <a:lnTo>
                  <a:pt x="3371398" y="0"/>
                </a:lnTo>
                <a:lnTo>
                  <a:pt x="3371413" y="3"/>
                </a:lnTo>
                <a:lnTo>
                  <a:pt x="3595007" y="3"/>
                </a:lnTo>
                <a:lnTo>
                  <a:pt x="3595007" y="223609"/>
                </a:lnTo>
                <a:lnTo>
                  <a:pt x="3595007" y="5253144"/>
                </a:lnTo>
                <a:lnTo>
                  <a:pt x="3595007" y="5476755"/>
                </a:lnTo>
                <a:lnTo>
                  <a:pt x="3045278" y="5476755"/>
                </a:lnTo>
                <a:lnTo>
                  <a:pt x="3045278" y="5476753"/>
                </a:lnTo>
                <a:lnTo>
                  <a:pt x="223609" y="5476753"/>
                </a:lnTo>
                <a:cubicBezTo>
                  <a:pt x="100113" y="5476753"/>
                  <a:pt x="0" y="5376640"/>
                  <a:pt x="0" y="5253144"/>
                </a:cubicBezTo>
                <a:lnTo>
                  <a:pt x="0" y="223609"/>
                </a:lnTo>
                <a:cubicBezTo>
                  <a:pt x="0" y="100113"/>
                  <a:pt x="100113" y="0"/>
                  <a:pt x="223609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lvl="0" algn="ctr">
              <a:defRPr/>
            </a:pPr>
            <a:r>
              <a:rPr lang="en-US" sz="16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Extensibility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/>
              </a:rPr>
              <a:t>Message Bus allows for </a:t>
            </a: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/>
              </a:rPr>
              <a:t>continued growth of platform</a:t>
            </a:r>
          </a:p>
          <a:p>
            <a:pPr marL="171450" lvl="0" indent="-17145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High value, </a:t>
            </a: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future platform capabilities can be seamlessly integrated 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int the Orchestrations including:</a:t>
            </a:r>
          </a:p>
          <a:p>
            <a:pPr marL="685800" lvl="1" indent="-228600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Reference Data 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and MDM capabilities</a:t>
            </a:r>
          </a:p>
          <a:p>
            <a:pPr marL="685800" lvl="1" indent="-228600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AI for Data Steward 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implementation</a:t>
            </a:r>
          </a:p>
          <a:p>
            <a:pPr marL="685800" lvl="1" indent="-228600"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Extending audit capabilities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, just drop a message on the bus</a:t>
            </a:r>
          </a:p>
          <a:p>
            <a: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Enterprise Data Quality via </a:t>
            </a:r>
            <a:r>
              <a:rPr lang="en-US" sz="1200" b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Collibra is fully integrated, not a bolt on: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Retrieves Parameterized DQ Rules from Collibra DQ&amp;O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Executes in-memory within </a:t>
            </a:r>
            <a:r>
              <a:rPr lang="en-US" sz="1200" err="1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RuntimeFrame</a:t>
            </a: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 stack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Publishes results back to Collibra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Converts Collibra into a true centralized rules library</a:t>
            </a:r>
            <a:endParaRPr lang="en-US" sz="70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Strengths:  governance + runtime enforcement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>
                <a:solidFill>
                  <a:schemeClr val="accent6">
                    <a:lumMod val="10000"/>
                  </a:schemeClr>
                </a:solidFill>
                <a:latin typeface="Aptos" panose="020B0004020202020204" pitchFamily="34" charset="0"/>
              </a:rPr>
              <a:t>Eliminates: siloed validation layers</a:t>
            </a:r>
          </a:p>
          <a:p>
            <a:pPr marL="228600" indent="-2286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1200" b="1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>
              <a:spcBef>
                <a:spcPts val="1200"/>
              </a:spcBef>
              <a:defRPr/>
            </a:pPr>
            <a:endParaRPr lang="en-US" sz="1200">
              <a:solidFill>
                <a:schemeClr val="accent6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B40F12B-CF6F-194F-ADD1-7F96378FC841}"/>
              </a:ext>
            </a:extLst>
          </p:cNvPr>
          <p:cNvCxnSpPr>
            <a:cxnSpLocks/>
          </p:cNvCxnSpPr>
          <p:nvPr/>
        </p:nvCxnSpPr>
        <p:spPr>
          <a:xfrm>
            <a:off x="8658110" y="1355317"/>
            <a:ext cx="328468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2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23EB-9440-0635-B36D-E89E7480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2FB0-813D-BD51-83F1-58A57DBC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Organizational Support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29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188B7-0D46-5929-8C5B-A9A144E6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0F3E-C34B-0CF8-3342-56BE5B13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to Organizationally Support – What We Do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DFC848-06C8-0200-DF15-BE870244FA6D}"/>
              </a:ext>
            </a:extLst>
          </p:cNvPr>
          <p:cNvSpPr/>
          <p:nvPr/>
        </p:nvSpPr>
        <p:spPr>
          <a:xfrm>
            <a:off x="4107122" y="683148"/>
            <a:ext cx="7548273" cy="5988108"/>
          </a:xfrm>
          <a:prstGeom prst="roundRect">
            <a:avLst>
              <a:gd name="adj" fmla="val 3758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t"/>
          <a:lstStyle/>
          <a:p>
            <a:r>
              <a:rPr lang="en-US" sz="1400" b="1">
                <a:solidFill>
                  <a:srgbClr val="5F6062"/>
                </a:solidFill>
              </a:rPr>
              <a:t>Enterprise Data Products (EDP)</a:t>
            </a:r>
          </a:p>
          <a:p>
            <a:r>
              <a:rPr lang="en-US" sz="1000" b="1">
                <a:solidFill>
                  <a:srgbClr val="5F6062"/>
                </a:solidFill>
              </a:rPr>
              <a:t>Purpose</a:t>
            </a:r>
            <a:br>
              <a:rPr lang="en-US" sz="1000">
                <a:solidFill>
                  <a:srgbClr val="5F6062"/>
                </a:solidFill>
              </a:rPr>
            </a:br>
            <a:r>
              <a:rPr lang="en-US" sz="1000">
                <a:solidFill>
                  <a:srgbClr val="5F6062"/>
                </a:solidFill>
              </a:rPr>
              <a:t>Owns enterprise data semantics and lifecycle from business alignment through canonical realization and consumable design. Ensures CDMs accurately reflect operational systems and business meaning.</a:t>
            </a:r>
          </a:p>
          <a:p>
            <a:endParaRPr lang="en-US" sz="500" b="1">
              <a:solidFill>
                <a:srgbClr val="5F6062"/>
              </a:solidFill>
            </a:endParaRPr>
          </a:p>
          <a:p>
            <a:r>
              <a:rPr lang="en-US" sz="1000" b="1">
                <a:solidFill>
                  <a:srgbClr val="5F6062"/>
                </a:solidFill>
              </a:rPr>
              <a:t>Primary Customers</a:t>
            </a:r>
            <a:endParaRPr lang="en-US" sz="1000">
              <a:solidFill>
                <a:srgbClr val="5F606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Business domain leaders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Analytics organization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Enterprise AI organization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Application/product system 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Downstream data consumers</a:t>
            </a:r>
          </a:p>
          <a:p>
            <a:endParaRPr lang="en-US" sz="1000">
              <a:solidFill>
                <a:srgbClr val="5F6062"/>
              </a:solidFill>
            </a:endParaRPr>
          </a:p>
          <a:p>
            <a:r>
              <a:rPr lang="en-US" sz="1400" b="1">
                <a:solidFill>
                  <a:srgbClr val="5F6062"/>
                </a:solidFill>
              </a:rPr>
              <a:t>Enterprise Data Governance (EDG)</a:t>
            </a:r>
          </a:p>
          <a:p>
            <a:r>
              <a:rPr lang="en-US" sz="1000" b="1">
                <a:solidFill>
                  <a:srgbClr val="5F6062"/>
                </a:solidFill>
              </a:rPr>
              <a:t>Purpose</a:t>
            </a:r>
            <a:br>
              <a:rPr lang="en-US" sz="1000">
                <a:solidFill>
                  <a:srgbClr val="5F6062"/>
                </a:solidFill>
              </a:rPr>
            </a:br>
            <a:r>
              <a:rPr lang="en-US" sz="1000">
                <a:solidFill>
                  <a:srgbClr val="5F6062"/>
                </a:solidFill>
              </a:rPr>
              <a:t>Ensures enterprise data integrity, policy enforcement, stewardship, lineage transparency, and regulatory compliance across deterministic and AI-enabled workflows.</a:t>
            </a:r>
          </a:p>
          <a:p>
            <a:endParaRPr lang="en-US" sz="500" b="1">
              <a:solidFill>
                <a:srgbClr val="5F6062"/>
              </a:solidFill>
            </a:endParaRPr>
          </a:p>
          <a:p>
            <a:r>
              <a:rPr lang="en-US" sz="1000" b="1">
                <a:solidFill>
                  <a:srgbClr val="5F6062"/>
                </a:solidFill>
              </a:rPr>
              <a:t>Primary Customers</a:t>
            </a:r>
            <a:endParaRPr lang="en-US" sz="1000">
              <a:solidFill>
                <a:srgbClr val="5F606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Risk &amp; Compliance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Business data 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CDO leadership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Enterprise AI (trusted metadata and lineage)</a:t>
            </a:r>
          </a:p>
          <a:p>
            <a:endParaRPr lang="en-US" sz="1000">
              <a:solidFill>
                <a:srgbClr val="5F6062"/>
              </a:solidFill>
            </a:endParaRPr>
          </a:p>
          <a:p>
            <a:r>
              <a:rPr lang="en-US" sz="1400" b="1">
                <a:solidFill>
                  <a:srgbClr val="5F6062"/>
                </a:solidFill>
              </a:rPr>
              <a:t>AI Data Engineering (DE)</a:t>
            </a:r>
          </a:p>
          <a:p>
            <a:r>
              <a:rPr lang="en-US" sz="1000" b="1">
                <a:solidFill>
                  <a:srgbClr val="5F6062"/>
                </a:solidFill>
              </a:rPr>
              <a:t>Purpose</a:t>
            </a:r>
            <a:br>
              <a:rPr lang="en-US" sz="1000">
                <a:solidFill>
                  <a:srgbClr val="5F6062"/>
                </a:solidFill>
              </a:rPr>
            </a:br>
            <a:r>
              <a:rPr lang="en-US" sz="1000">
                <a:solidFill>
                  <a:srgbClr val="5F6062"/>
                </a:solidFill>
              </a:rPr>
              <a:t>Operationalizes AI inside the data lifecycle. Builds and governs AI tooling for mapping, transformation automation, stewardship acceleration, and pipeline configuration.</a:t>
            </a:r>
          </a:p>
          <a:p>
            <a:r>
              <a:rPr lang="en-US" sz="1000">
                <a:solidFill>
                  <a:srgbClr val="5F6062"/>
                </a:solidFill>
              </a:rPr>
              <a:t>This is AI applied to data systems — not business process AI.</a:t>
            </a:r>
          </a:p>
          <a:p>
            <a:endParaRPr lang="en-US" sz="500" b="1">
              <a:solidFill>
                <a:srgbClr val="5F6062"/>
              </a:solidFill>
            </a:endParaRPr>
          </a:p>
          <a:p>
            <a:r>
              <a:rPr lang="en-US" sz="1000" b="1">
                <a:solidFill>
                  <a:srgbClr val="5F6062"/>
                </a:solidFill>
              </a:rPr>
              <a:t>Primary Customers</a:t>
            </a:r>
            <a:endParaRPr lang="en-US" sz="1000">
              <a:solidFill>
                <a:srgbClr val="5F606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Enterprise Data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Platform Engineering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Governance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Enterprise AI (indirectly via governed semantic exposure)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E4607-01A1-F6D1-100A-915C1E826F37}"/>
              </a:ext>
            </a:extLst>
          </p:cNvPr>
          <p:cNvSpPr txBox="1"/>
          <p:nvPr/>
        </p:nvSpPr>
        <p:spPr>
          <a:xfrm>
            <a:off x="310243" y="544894"/>
            <a:ext cx="40005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Chief Data Officer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1. Enterprise Data Products (20)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 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Enterprise Data Analysis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Canonical Data Modeling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Off-Platform Data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Data Product Design – Ingress / Egress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2. Enterprise Data Governance (6)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 </a:t>
            </a:r>
          </a:p>
          <a:p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Collibra Data Quality &amp; Collibra Dictionary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Policy &amp; Compliance Oversight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Integration Engineering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3. AI Data Engineering (10)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AI Enablement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Data Product &amp; Pipeline Configuration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4. Platform Engineering (14)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Infrastructure as Code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Core Platform Components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Platform Tools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Ingress &amp; Egress Platform Services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Shared Platform Services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└── 5. Delivery &amp; Assurance (12)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Architecture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Product &amp; Project Management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Testing / QA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└── Operations &amp; Support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8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BC0D9-9568-4A44-6C41-5E5D0B1F80BD}"/>
              </a:ext>
            </a:extLst>
          </p:cNvPr>
          <p:cNvSpPr txBox="1"/>
          <p:nvPr/>
        </p:nvSpPr>
        <p:spPr>
          <a:xfrm>
            <a:off x="8226490" y="753728"/>
            <a:ext cx="3655267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Platform Engineering (PE)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Purpose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Builds and operates the DLH technical foundation and shared ingress/egress services. Ensures infrastructure stability, security, and scalability.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Primary Customers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internal CDO teams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Enterprise Security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Enterprise AI (runtime integration)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>
              <a:solidFill>
                <a:srgbClr val="5F6062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 &amp; Assurance (D&amp;A)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Purpose</a:t>
            </a: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Owns execution discipline, architecture coherence, roadmap coordination, testing rigor, and production stability across the organization.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work is delivered predictably, tested thoroughly, and supported operationally.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1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Primary Customers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CDO leadership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stakeholders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internal engineering teams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Analytics &amp; Enterprise AI (release reliability)</a:t>
            </a:r>
          </a:p>
        </p:txBody>
      </p:sp>
    </p:spTree>
    <p:extLst>
      <p:ext uri="{BB962C8B-B14F-4D97-AF65-F5344CB8AC3E}">
        <p14:creationId xmlns:p14="http://schemas.microsoft.com/office/powerpoint/2010/main" val="273309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6C45-F6C4-6673-9E0E-07A63000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to Organizationally Support – Who We Are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415A8C-DF51-9ABA-4069-2DB670C40D3C}"/>
              </a:ext>
            </a:extLst>
          </p:cNvPr>
          <p:cNvSpPr/>
          <p:nvPr/>
        </p:nvSpPr>
        <p:spPr>
          <a:xfrm>
            <a:off x="4161453" y="786763"/>
            <a:ext cx="6966857" cy="5988108"/>
          </a:xfrm>
          <a:prstGeom prst="roundRect">
            <a:avLst>
              <a:gd name="adj" fmla="val 3758"/>
            </a:avLst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t"/>
          <a:lstStyle/>
          <a:p>
            <a:r>
              <a:rPr lang="en-US" sz="1400" b="1">
                <a:solidFill>
                  <a:srgbClr val="5F6062"/>
                </a:solidFill>
              </a:rPr>
              <a:t>Enterprise Data Products</a:t>
            </a:r>
            <a:r>
              <a:rPr lang="en-US" sz="1000">
                <a:solidFill>
                  <a:srgbClr val="5F6062"/>
                </a:solidFill>
              </a:rPr>
              <a:t> (20) – Department 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Enterprise Data Analysis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9 Enterprise Data Analysts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Data Product Design – Ingress / Egress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Data Product Engineer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Data Product Technical Analysts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SQL Developers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Off-Platform 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SQL Developer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Data Analysts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Canonical Data Modeling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SQL Developer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Data Engineer</a:t>
            </a:r>
          </a:p>
          <a:p>
            <a:endParaRPr lang="en-US" sz="1400" b="1">
              <a:solidFill>
                <a:srgbClr val="5F6062"/>
              </a:solidFill>
            </a:endParaRPr>
          </a:p>
          <a:p>
            <a:pPr>
              <a:tabLst>
                <a:tab pos="3433763" algn="l"/>
                <a:tab pos="3602038" algn="l"/>
              </a:tabLst>
            </a:pPr>
            <a:r>
              <a:rPr lang="en-US" sz="1400" b="1">
                <a:solidFill>
                  <a:srgbClr val="5F6062"/>
                </a:solidFill>
              </a:rPr>
              <a:t>Enterprise Data Governance</a:t>
            </a:r>
            <a:r>
              <a:rPr lang="en-US" sz="1000">
                <a:solidFill>
                  <a:srgbClr val="5F6062"/>
                </a:solidFill>
              </a:rPr>
              <a:t> (6) – Department 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Collibra Data Quality &amp; Collibra Dictionary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Collibra Administrators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Governance / Data Management Specialist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Policy &amp; Compliance Oversight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Data Governance Manager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Integration Engineering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Integration Engineer</a:t>
            </a:r>
          </a:p>
          <a:p>
            <a:endParaRPr lang="en-US" sz="1400" b="1">
              <a:solidFill>
                <a:srgbClr val="5F6062"/>
              </a:solidFill>
            </a:endParaRPr>
          </a:p>
          <a:p>
            <a:r>
              <a:rPr lang="en-US" sz="1400" b="1">
                <a:solidFill>
                  <a:srgbClr val="5F6062"/>
                </a:solidFill>
              </a:rPr>
              <a:t>AI Data Engineering</a:t>
            </a:r>
            <a:r>
              <a:rPr lang="en-US" sz="1000">
                <a:solidFill>
                  <a:srgbClr val="5F6062"/>
                </a:solidFill>
              </a:rPr>
              <a:t> (10) – Department Head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AI Enablement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Software Engineers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Data AI Tools Engineer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Dev AI Tools Engineer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1 Steward AI Platform Integration Engineer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Data Product &amp; Pipeline Configuration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Ingress Configuration Specialists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5F6062"/>
                </a:solidFill>
              </a:rPr>
              <a:t>2 Egress Configuration Specialists</a:t>
            </a:r>
            <a:br>
              <a:rPr lang="en-US" sz="1000">
                <a:solidFill>
                  <a:srgbClr val="5F6062"/>
                </a:solidFill>
              </a:rPr>
            </a:br>
            <a:endParaRPr lang="en-US" sz="1000">
              <a:solidFill>
                <a:srgbClr val="5F6062"/>
              </a:solidFill>
            </a:endParaRPr>
          </a:p>
          <a:p>
            <a:endParaRPr lang="en-US" sz="1400" b="1">
              <a:solidFill>
                <a:srgbClr val="5F6062"/>
              </a:solidFill>
            </a:endParaRPr>
          </a:p>
          <a:p>
            <a:endParaRPr lang="en-US" sz="1400" b="1">
              <a:solidFill>
                <a:srgbClr val="5F606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7C22A-41E4-06E7-DA4B-364DE7B4A7D8}"/>
              </a:ext>
            </a:extLst>
          </p:cNvPr>
          <p:cNvSpPr txBox="1"/>
          <p:nvPr/>
        </p:nvSpPr>
        <p:spPr>
          <a:xfrm>
            <a:off x="310243" y="544894"/>
            <a:ext cx="40005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Chief Data Officer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1. Enterprise Data Products (20)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 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Enterprise Data Analysis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Canonical Data Modeling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Off-Platform Data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Data Product Design – Ingress / Egress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2. Enterprise Data Governance (6)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 </a:t>
            </a:r>
          </a:p>
          <a:p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Collibra Data Quality &amp; Collibra Dictionary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Policy &amp; Compliance Oversight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Integration Engineering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3. AI Data Engineering (10)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AI Enablement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Data Product &amp; Pipeline Configuration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├── 4. Platform Engineering (14)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Infrastructure as Code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Core Platform Components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Platform Tools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├── Ingress &amp; Egress Platform Services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     └── Shared Platform Services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└── 5. Delivery &amp; Assurance (12)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Architecture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Product &amp; Project Management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├── Testing / QA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│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 └── Operations &amp; Support</a:t>
            </a:r>
            <a:br>
              <a:rPr lang="en-US" sz="8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8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4DFCDF-967C-1993-C8ED-68FBFA9F0371}"/>
              </a:ext>
            </a:extLst>
          </p:cNvPr>
          <p:cNvSpPr txBox="1"/>
          <p:nvPr/>
        </p:nvSpPr>
        <p:spPr>
          <a:xfrm>
            <a:off x="7974565" y="869723"/>
            <a:ext cx="4128019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Platform Engineering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(14) – Department Head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Infrastructure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IaC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Platform Components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Core Platform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Platform Tools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Platform Tools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Ingress &amp; Egress Platform Services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Platform Service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Platform Services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Service Engineers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Delivery &amp; Assurance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(12) – Department Head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Architecture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Enterprise Data Products Architect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Enterprise Data Governance Architect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AI Data Engineering Architect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Platform Engineering Architect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Floating / Cross-Domain Architect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&amp; Project Management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Product Owner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Project Managers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Testing / QA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Test Planner / Test Manager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Test Engineers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Operations &amp; Support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Troubleshooting / Level 1 Support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Monitoring &amp; Audit</a:t>
            </a:r>
          </a:p>
        </p:txBody>
      </p:sp>
    </p:spTree>
    <p:extLst>
      <p:ext uri="{BB962C8B-B14F-4D97-AF65-F5344CB8AC3E}">
        <p14:creationId xmlns:p14="http://schemas.microsoft.com/office/powerpoint/2010/main" val="173586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96AE1-DB5D-5B20-07AB-05403289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27FFB-B5FA-CB64-9F8B-82EC15CD6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867" y="2248396"/>
            <a:ext cx="11207750" cy="3038381"/>
          </a:xfrm>
        </p:spPr>
        <p:txBody>
          <a:bodyPr>
            <a:normAutofit/>
          </a:bodyPr>
          <a:lstStyle/>
          <a:p>
            <a:r>
              <a:rPr lang="en-US" sz="2400">
                <a:latin typeface="+mn-lt"/>
              </a:rPr>
              <a:t>Standardized execution </a:t>
            </a:r>
            <a:r>
              <a:rPr lang="en-US" sz="2400" b="1">
                <a:latin typeface="+mn-lt"/>
              </a:rPr>
              <a:t>eliminates </a:t>
            </a:r>
            <a:r>
              <a:rPr lang="en-US" sz="2400">
                <a:latin typeface="+mn-lt"/>
              </a:rPr>
              <a:t>pipeline </a:t>
            </a:r>
            <a:r>
              <a:rPr lang="en-US" sz="2400" b="1">
                <a:latin typeface="+mn-lt"/>
              </a:rPr>
              <a:t>duplication</a:t>
            </a:r>
          </a:p>
          <a:p>
            <a:r>
              <a:rPr lang="en-US" sz="2400">
                <a:latin typeface="+mn-lt"/>
              </a:rPr>
              <a:t>Business logic </a:t>
            </a:r>
            <a:r>
              <a:rPr lang="en-US" sz="2400" b="1">
                <a:latin typeface="+mn-lt"/>
              </a:rPr>
              <a:t>written once</a:t>
            </a:r>
            <a:r>
              <a:rPr lang="en-US" sz="2400">
                <a:latin typeface="+mn-lt"/>
              </a:rPr>
              <a:t> – runtime selects execution context</a:t>
            </a:r>
          </a:p>
          <a:p>
            <a:r>
              <a:rPr lang="en-US" sz="2400">
                <a:latin typeface="+mn-lt"/>
              </a:rPr>
              <a:t>Governance, DQ, and audit embedded </a:t>
            </a:r>
            <a:r>
              <a:rPr lang="en-US" sz="2400" b="1">
                <a:latin typeface="+mn-lt"/>
              </a:rPr>
              <a:t>by design</a:t>
            </a:r>
          </a:p>
          <a:p>
            <a:r>
              <a:rPr lang="en-US" sz="2400">
                <a:latin typeface="+mn-lt"/>
              </a:rPr>
              <a:t>Event-driven extensibility enables </a:t>
            </a:r>
            <a:r>
              <a:rPr lang="en-US" sz="2400" b="1">
                <a:latin typeface="+mn-lt"/>
              </a:rPr>
              <a:t>continuous innovation</a:t>
            </a:r>
          </a:p>
          <a:p>
            <a:r>
              <a:rPr lang="en-US" sz="2400">
                <a:latin typeface="+mn-lt"/>
              </a:rPr>
              <a:t>AI readiness is </a:t>
            </a:r>
            <a:r>
              <a:rPr lang="en-US" sz="2400" b="1">
                <a:latin typeface="+mn-lt"/>
              </a:rPr>
              <a:t>architectural — not aspirational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EB7869-8994-79AF-1BC0-1CC1F045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70910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Lakehouse Consumption Architecture</a:t>
            </a:r>
            <a:br>
              <a:rPr lang="en-US"/>
            </a:br>
            <a:r>
              <a:rPr lang="en-US" sz="2200"/>
              <a:t>Summary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01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2038C-9D61-7245-BD9E-275E5538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6041-6085-F75B-9DA7-3432F237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1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Data Products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819138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55741AC-0EBC-98E0-147E-2AB4C7A5673A}"/>
              </a:ext>
            </a:extLst>
          </p:cNvPr>
          <p:cNvSpPr/>
          <p:nvPr/>
        </p:nvSpPr>
        <p:spPr>
          <a:xfrm>
            <a:off x="317332" y="2669132"/>
            <a:ext cx="11570185" cy="3306965"/>
          </a:xfrm>
          <a:prstGeom prst="roundRect">
            <a:avLst>
              <a:gd name="adj" fmla="val 455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08CED-214D-EEB1-6F82-4B8B13E8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Products Technical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30C40-C40D-6ACE-1080-C6176AEC48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5775" y="6480175"/>
            <a:ext cx="276225" cy="142875"/>
          </a:xfrm>
        </p:spPr>
        <p:txBody>
          <a:bodyPr/>
          <a:lstStyle/>
          <a:p>
            <a:pPr marL="50799">
              <a:spcBef>
                <a:spcPts val="240"/>
              </a:spcBef>
            </a:pPr>
            <a:fld id="{81D60167-4931-47E6-BA6A-407CBD079E47}" type="slidenum">
              <a:rPr lang="en-GB" spc="40" smtClean="0"/>
              <a:pPr marL="50799">
                <a:spcBef>
                  <a:spcPts val="240"/>
                </a:spcBef>
              </a:pPr>
              <a:t>20</a:t>
            </a:fld>
            <a:endParaRPr lang="en-GB" spc="4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77ABD3-C00E-D487-920F-A9555FCCCF75}"/>
              </a:ext>
            </a:extLst>
          </p:cNvPr>
          <p:cNvSpPr txBox="1"/>
          <p:nvPr/>
        </p:nvSpPr>
        <p:spPr>
          <a:xfrm>
            <a:off x="1374072" y="3135992"/>
            <a:ext cx="1042278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>
              <a:spcAft>
                <a:spcPts val="1800"/>
              </a:spcAft>
            </a:pP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Plays a crucial role in </a:t>
            </a:r>
            <a:r>
              <a:rPr lang="en-US" sz="2000" b="1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leveraging the value of data assets </a:t>
            </a: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and enabling data-driven decision-making, innovation, and competitiveness in various industries and domains. </a:t>
            </a:r>
          </a:p>
          <a:p>
            <a:pPr marL="174625">
              <a:spcAft>
                <a:spcPts val="1800"/>
              </a:spcAft>
            </a:pP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Focuses on </a:t>
            </a:r>
            <a:r>
              <a:rPr lang="en-US" sz="2000" b="1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managing and enforcing policies, regulations, and standards </a:t>
            </a: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related to data privacy, security, and compliance. </a:t>
            </a:r>
          </a:p>
          <a:p>
            <a:pPr marL="174625">
              <a:spcAft>
                <a:spcPts val="1800"/>
              </a:spcAft>
            </a:pP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Provides </a:t>
            </a:r>
            <a:r>
              <a:rPr lang="en-US" sz="2000" b="1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capabilities for data classification, access control, auditing, and monitoring</a:t>
            </a:r>
            <a:r>
              <a:rPr lang="en-US" sz="20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 to ensure data integrity and regulatory compliance.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DB69C-FB7A-3CD3-70FD-E45EEC419E82}"/>
              </a:ext>
            </a:extLst>
          </p:cNvPr>
          <p:cNvSpPr txBox="1"/>
          <p:nvPr/>
        </p:nvSpPr>
        <p:spPr>
          <a:xfrm>
            <a:off x="317332" y="1444692"/>
            <a:ext cx="4637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3B6E8F"/>
                </a:solidFill>
                <a:latin typeface="Segoe UI Semibold"/>
                <a:cs typeface="Segoe UI Semibold"/>
              </a:rPr>
              <a:t>What is a Data Product?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503D32-7AEF-196C-EB45-21706623A870}"/>
              </a:ext>
            </a:extLst>
          </p:cNvPr>
          <p:cNvSpPr txBox="1"/>
          <p:nvPr/>
        </p:nvSpPr>
        <p:spPr>
          <a:xfrm>
            <a:off x="304483" y="1846805"/>
            <a:ext cx="11492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They empower users to extract actionable insights, automate processes, optimize performance, and create new opportunities based on data-driven intelligence</a:t>
            </a:r>
            <a:r>
              <a:rPr lang="en-US" sz="1800">
                <a:latin typeface="Segoe UI Semilight"/>
                <a:cs typeface="Segoe UI Semilight"/>
              </a:rPr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B3541E3-BC06-E6E2-50D8-C0186A3D7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3245" y="3135992"/>
            <a:ext cx="524915" cy="5298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73BBD3E-7591-3F5A-6D92-98FD3E09C1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9143" y="4009011"/>
            <a:ext cx="513118" cy="54131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8ED982D-0321-E02F-45CD-930994F541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93334" y="4830558"/>
            <a:ext cx="508927" cy="61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8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3D56-D5D0-49A5-2D50-2A20D31F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Products: Core vs Use Case specific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30C40-C40D-6ACE-1080-C6176AEC48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5775" y="6480175"/>
            <a:ext cx="276225" cy="142875"/>
          </a:xfrm>
        </p:spPr>
        <p:txBody>
          <a:bodyPr/>
          <a:lstStyle/>
          <a:p>
            <a:pPr marL="50799">
              <a:spcBef>
                <a:spcPts val="240"/>
              </a:spcBef>
            </a:pPr>
            <a:fld id="{81D60167-4931-47E6-BA6A-407CBD079E47}" type="slidenum">
              <a:rPr lang="en-GB" spc="40" smtClean="0"/>
              <a:pPr marL="50799">
                <a:spcBef>
                  <a:spcPts val="240"/>
                </a:spcBef>
              </a:pPr>
              <a:t>21</a:t>
            </a:fld>
            <a:endParaRPr lang="en-GB" spc="4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02D54-C01F-386D-C769-A764281E7BA6}"/>
              </a:ext>
            </a:extLst>
          </p:cNvPr>
          <p:cNvSpPr txBox="1"/>
          <p:nvPr/>
        </p:nvSpPr>
        <p:spPr>
          <a:xfrm>
            <a:off x="518214" y="1413307"/>
            <a:ext cx="655191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Segoe UI Semibold"/>
                <a:cs typeface="Segoe UI Semibold"/>
              </a:rPr>
              <a:t>Core Data Product</a:t>
            </a:r>
            <a:endParaRPr lang="en-US" sz="2000">
              <a:solidFill>
                <a:schemeClr val="tx2"/>
              </a:solidFill>
              <a:latin typeface="Segoe UI Semibold"/>
              <a:ea typeface="Calibri"/>
              <a:cs typeface="Segoe UI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C9A9E-9238-E120-F4D2-79259083AB1A}"/>
              </a:ext>
            </a:extLst>
          </p:cNvPr>
          <p:cNvSpPr txBox="1"/>
          <p:nvPr/>
        </p:nvSpPr>
        <p:spPr>
          <a:xfrm>
            <a:off x="533199" y="1770688"/>
            <a:ext cx="6634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Is a foundational data-driven solution that forms the backbone of an organization's data strategy.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Is very aligned with data domains</a:t>
            </a:r>
          </a:p>
          <a:p>
            <a:endParaRPr lang="en-US">
              <a:solidFill>
                <a:schemeClr val="accent6">
                  <a:lumMod val="10000"/>
                </a:schemeClr>
              </a:solidFill>
              <a:latin typeface="Segoe UI Semilight"/>
              <a:cs typeface="Segoe UI Semilight"/>
            </a:endParaRPr>
          </a:p>
        </p:txBody>
      </p:sp>
      <p:sp>
        <p:nvSpPr>
          <p:cNvPr id="14" name="Text Placeholder 80">
            <a:extLst>
              <a:ext uri="{FF2B5EF4-FFF2-40B4-BE49-F238E27FC236}">
                <a16:creationId xmlns:a16="http://schemas.microsoft.com/office/drawing/2014/main" id="{A6BEF42F-EB9F-74C5-04B0-9446EFB9C426}"/>
              </a:ext>
            </a:extLst>
          </p:cNvPr>
          <p:cNvSpPr txBox="1">
            <a:spLocks/>
          </p:cNvSpPr>
          <p:nvPr/>
        </p:nvSpPr>
        <p:spPr>
          <a:xfrm>
            <a:off x="317333" y="4432638"/>
            <a:ext cx="3583453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Involves unified data management capabilities that serve multiple use cases and stakeholders across the organization.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298AE-E0B2-6B1C-E77C-CD74C0208405}"/>
              </a:ext>
            </a:extLst>
          </p:cNvPr>
          <p:cNvCxnSpPr>
            <a:cxnSpLocks/>
          </p:cNvCxnSpPr>
          <p:nvPr/>
        </p:nvCxnSpPr>
        <p:spPr>
          <a:xfrm>
            <a:off x="1953490" y="4168168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80">
            <a:extLst>
              <a:ext uri="{FF2B5EF4-FFF2-40B4-BE49-F238E27FC236}">
                <a16:creationId xmlns:a16="http://schemas.microsoft.com/office/drawing/2014/main" id="{3D905604-5DB2-6632-072B-873B5EF368B8}"/>
              </a:ext>
            </a:extLst>
          </p:cNvPr>
          <p:cNvSpPr txBox="1">
            <a:spLocks/>
          </p:cNvSpPr>
          <p:nvPr/>
        </p:nvSpPr>
        <p:spPr>
          <a:xfrm>
            <a:off x="4265370" y="4432638"/>
            <a:ext cx="3583453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Provides a business-friendly view of a data domain, managed by a Data Product Owner, backed by a roadmap aligned with prioritized business capabilities</a:t>
            </a:r>
          </a:p>
        </p:txBody>
      </p:sp>
      <p:sp>
        <p:nvSpPr>
          <p:cNvPr id="26" name="Text Placeholder 80">
            <a:extLst>
              <a:ext uri="{FF2B5EF4-FFF2-40B4-BE49-F238E27FC236}">
                <a16:creationId xmlns:a16="http://schemas.microsoft.com/office/drawing/2014/main" id="{10B13A75-4114-6EF3-4575-DE1811FE9216}"/>
              </a:ext>
            </a:extLst>
          </p:cNvPr>
          <p:cNvSpPr txBox="1">
            <a:spLocks/>
          </p:cNvSpPr>
          <p:nvPr/>
        </p:nvSpPr>
        <p:spPr>
          <a:xfrm>
            <a:off x="8213408" y="4432638"/>
            <a:ext cx="3583453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0">
                <a:solidFill>
                  <a:schemeClr val="accent6">
                    <a:lumMod val="10000"/>
                  </a:schemeClr>
                </a:solidFill>
                <a:latin typeface="Segoe UI Semilight"/>
                <a:cs typeface="Segoe UI Semilight"/>
              </a:rPr>
              <a:t>Typically represented in third-normal-form (3NF) as an Operational Data Store (ODS)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8767CA-A81B-3567-3048-0C8D223554F6}"/>
              </a:ext>
            </a:extLst>
          </p:cNvPr>
          <p:cNvCxnSpPr>
            <a:cxnSpLocks/>
          </p:cNvCxnSpPr>
          <p:nvPr/>
        </p:nvCxnSpPr>
        <p:spPr>
          <a:xfrm>
            <a:off x="5938190" y="4194336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464245-D5F1-BDE7-A98E-EE44463FB668}"/>
              </a:ext>
            </a:extLst>
          </p:cNvPr>
          <p:cNvGrpSpPr/>
          <p:nvPr/>
        </p:nvGrpSpPr>
        <p:grpSpPr>
          <a:xfrm>
            <a:off x="5436062" y="3126211"/>
            <a:ext cx="1004255" cy="1004255"/>
            <a:chOff x="5938190" y="3275167"/>
            <a:chExt cx="1004255" cy="100425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EB43ED-1277-AA25-47FF-A4BD8719D136}"/>
                </a:ext>
              </a:extLst>
            </p:cNvPr>
            <p:cNvSpPr/>
            <p:nvPr/>
          </p:nvSpPr>
          <p:spPr>
            <a:xfrm>
              <a:off x="5938190" y="3275167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accent2"/>
                </a:solidFill>
                <a:latin typeface="Tenorite" pitchFamily="2" charset="0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BDA9624D-7BE7-2B6E-F09F-A652E4C76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190914" y="3514188"/>
              <a:ext cx="498805" cy="526212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918AE9-0555-2772-13BE-FB56538A0F6F}"/>
              </a:ext>
            </a:extLst>
          </p:cNvPr>
          <p:cNvGrpSpPr/>
          <p:nvPr/>
        </p:nvGrpSpPr>
        <p:grpSpPr>
          <a:xfrm>
            <a:off x="1451364" y="3167522"/>
            <a:ext cx="1004255" cy="1004255"/>
            <a:chOff x="1453732" y="3407412"/>
            <a:chExt cx="1004255" cy="100425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04AF11-A522-CCB7-D6FB-295648B47E1D}"/>
                </a:ext>
              </a:extLst>
            </p:cNvPr>
            <p:cNvSpPr/>
            <p:nvPr/>
          </p:nvSpPr>
          <p:spPr>
            <a:xfrm>
              <a:off x="1453732" y="3407412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tx2"/>
                </a:solidFill>
                <a:latin typeface="Tenorite" pitchFamily="2" charset="0"/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B63E5B8B-4930-A6CC-4C66-59CA43D2E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706456" y="3646433"/>
              <a:ext cx="498805" cy="5262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2A8D5C-08FD-BE9D-FE67-730724D342B8}"/>
              </a:ext>
            </a:extLst>
          </p:cNvPr>
          <p:cNvGrpSpPr/>
          <p:nvPr/>
        </p:nvGrpSpPr>
        <p:grpSpPr>
          <a:xfrm>
            <a:off x="9519131" y="3153960"/>
            <a:ext cx="1004255" cy="1004255"/>
            <a:chOff x="10485794" y="2985399"/>
            <a:chExt cx="1004255" cy="100425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29FD05-6BA2-06E7-3129-5E8FE7CF02BC}"/>
                </a:ext>
              </a:extLst>
            </p:cNvPr>
            <p:cNvSpPr/>
            <p:nvPr/>
          </p:nvSpPr>
          <p:spPr>
            <a:xfrm>
              <a:off x="10485794" y="2985399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>
                <a:solidFill>
                  <a:schemeClr val="accent3"/>
                </a:solidFill>
                <a:latin typeface="Tenorite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291B7FE7-68C9-0F70-BA31-2C75F6D0E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738518" y="3224317"/>
              <a:ext cx="498805" cy="526212"/>
            </a:xfrm>
            <a:prstGeom prst="rect">
              <a:avLst/>
            </a:prstGeom>
          </p:spPr>
        </p:pic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3D783D-AC38-3917-BEEF-8ECAAE76852F}"/>
              </a:ext>
            </a:extLst>
          </p:cNvPr>
          <p:cNvCxnSpPr>
            <a:cxnSpLocks/>
          </p:cNvCxnSpPr>
          <p:nvPr/>
        </p:nvCxnSpPr>
        <p:spPr>
          <a:xfrm>
            <a:off x="10021257" y="4194336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ylinder 5">
            <a:extLst>
              <a:ext uri="{FF2B5EF4-FFF2-40B4-BE49-F238E27FC236}">
                <a16:creationId xmlns:a16="http://schemas.microsoft.com/office/drawing/2014/main" id="{AB8A5615-7A3F-FD33-204E-6D5712D0D0C1}"/>
              </a:ext>
            </a:extLst>
          </p:cNvPr>
          <p:cNvSpPr/>
          <p:nvPr/>
        </p:nvSpPr>
        <p:spPr>
          <a:xfrm>
            <a:off x="7709427" y="1403507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156A18D7-2646-DE3A-0D26-198C4B533B75}"/>
              </a:ext>
            </a:extLst>
          </p:cNvPr>
          <p:cNvSpPr/>
          <p:nvPr/>
        </p:nvSpPr>
        <p:spPr>
          <a:xfrm>
            <a:off x="7709427" y="1844956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26F8383E-9729-49EC-2FC8-D25AA0D52256}"/>
              </a:ext>
            </a:extLst>
          </p:cNvPr>
          <p:cNvSpPr/>
          <p:nvPr/>
        </p:nvSpPr>
        <p:spPr>
          <a:xfrm>
            <a:off x="7709426" y="2320239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Monitor with solid fill">
            <a:extLst>
              <a:ext uri="{FF2B5EF4-FFF2-40B4-BE49-F238E27FC236}">
                <a16:creationId xmlns:a16="http://schemas.microsoft.com/office/drawing/2014/main" id="{845937AE-02C3-29AF-1D0D-80358C175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0660" y="1559782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1D0B348-A202-E0DD-D652-78DA96077413}"/>
              </a:ext>
            </a:extLst>
          </p:cNvPr>
          <p:cNvSpPr txBox="1"/>
          <p:nvPr/>
        </p:nvSpPr>
        <p:spPr>
          <a:xfrm>
            <a:off x="7371743" y="1108364"/>
            <a:ext cx="1130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Segoe UI Semilight"/>
                <a:cs typeface="Segoe UI Semilight"/>
              </a:rPr>
              <a:t>Source Systems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1CCE5-F4F6-5B05-F7F9-8E2FAB3077E0}"/>
              </a:ext>
            </a:extLst>
          </p:cNvPr>
          <p:cNvSpPr txBox="1"/>
          <p:nvPr/>
        </p:nvSpPr>
        <p:spPr>
          <a:xfrm>
            <a:off x="8606595" y="1108364"/>
            <a:ext cx="1465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Segoe UI Semilight"/>
                <a:cs typeface="Segoe UI Semilight"/>
              </a:rPr>
              <a:t>Core Data Products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B9CA0F-DF27-2907-A1BC-5462BEE33CC6}"/>
              </a:ext>
            </a:extLst>
          </p:cNvPr>
          <p:cNvSpPr txBox="1"/>
          <p:nvPr/>
        </p:nvSpPr>
        <p:spPr>
          <a:xfrm>
            <a:off x="10389770" y="1108364"/>
            <a:ext cx="1130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latin typeface="Segoe UI Semilight"/>
                <a:cs typeface="Segoe UI Semilight"/>
              </a:rPr>
              <a:t>Use Cases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B8E6F5-B8E5-EC32-AD9C-438A08DFA07B}"/>
              </a:ext>
            </a:extLst>
          </p:cNvPr>
          <p:cNvCxnSpPr/>
          <p:nvPr/>
        </p:nvCxnSpPr>
        <p:spPr>
          <a:xfrm>
            <a:off x="8213408" y="1559782"/>
            <a:ext cx="590124" cy="28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BB8514-81B4-AEA1-CFD5-3AE314905862}"/>
              </a:ext>
            </a:extLst>
          </p:cNvPr>
          <p:cNvCxnSpPr>
            <a:cxnSpLocks/>
          </p:cNvCxnSpPr>
          <p:nvPr/>
        </p:nvCxnSpPr>
        <p:spPr>
          <a:xfrm>
            <a:off x="8132323" y="1984443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2B4682-D92B-7690-C762-83172C067884}"/>
              </a:ext>
            </a:extLst>
          </p:cNvPr>
          <p:cNvCxnSpPr>
            <a:cxnSpLocks/>
          </p:cNvCxnSpPr>
          <p:nvPr/>
        </p:nvCxnSpPr>
        <p:spPr>
          <a:xfrm flipV="1">
            <a:off x="8200417" y="2164922"/>
            <a:ext cx="671209" cy="260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34271E3-DB71-E892-BC2C-CC8C3D0B2E43}"/>
              </a:ext>
            </a:extLst>
          </p:cNvPr>
          <p:cNvCxnSpPr>
            <a:cxnSpLocks/>
          </p:cNvCxnSpPr>
          <p:nvPr/>
        </p:nvCxnSpPr>
        <p:spPr>
          <a:xfrm>
            <a:off x="9554604" y="1996349"/>
            <a:ext cx="739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04">
            <a:extLst>
              <a:ext uri="{FF2B5EF4-FFF2-40B4-BE49-F238E27FC236}">
                <a16:creationId xmlns:a16="http://schemas.microsoft.com/office/drawing/2014/main" id="{7326B366-5243-E906-D9E1-7C48FFD01EE4}"/>
              </a:ext>
            </a:extLst>
          </p:cNvPr>
          <p:cNvSpPr/>
          <p:nvPr/>
        </p:nvSpPr>
        <p:spPr>
          <a:xfrm>
            <a:off x="8996135" y="1852361"/>
            <a:ext cx="481216" cy="314612"/>
          </a:xfrm>
          <a:custGeom>
            <a:avLst/>
            <a:gdLst>
              <a:gd name="connsiteX0" fmla="*/ 642796 w 1086416"/>
              <a:gd name="connsiteY0" fmla="*/ 334978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42796 w 1086416"/>
              <a:gd name="connsiteY7" fmla="*/ 334978 h 832919"/>
              <a:gd name="connsiteX0" fmla="*/ 679010 w 1086416"/>
              <a:gd name="connsiteY0" fmla="*/ 325925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25925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60903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60903 w 1086416"/>
              <a:gd name="connsiteY7" fmla="*/ 316872 h 832919"/>
              <a:gd name="connsiteX0" fmla="*/ 660903 w 1086416"/>
              <a:gd name="connsiteY0" fmla="*/ 289711 h 805758"/>
              <a:gd name="connsiteX1" fmla="*/ 651849 w 1086416"/>
              <a:gd name="connsiteY1" fmla="*/ 108641 h 805758"/>
              <a:gd name="connsiteX2" fmla="*/ 1086416 w 1086416"/>
              <a:gd name="connsiteY2" fmla="*/ 398352 h 805758"/>
              <a:gd name="connsiteX3" fmla="*/ 651850 w 1086416"/>
              <a:gd name="connsiteY3" fmla="*/ 805758 h 805758"/>
              <a:gd name="connsiteX4" fmla="*/ 642796 w 1086416"/>
              <a:gd name="connsiteY4" fmla="*/ 470780 h 805758"/>
              <a:gd name="connsiteX5" fmla="*/ 0 w 1086416"/>
              <a:gd name="connsiteY5" fmla="*/ 796705 h 805758"/>
              <a:gd name="connsiteX6" fmla="*/ 9053 w 1086416"/>
              <a:gd name="connsiteY6" fmla="*/ 0 h 805758"/>
              <a:gd name="connsiteX7" fmla="*/ 660903 w 1086416"/>
              <a:gd name="connsiteY7" fmla="*/ 289711 h 805758"/>
              <a:gd name="connsiteX0" fmla="*/ 660903 w 1086416"/>
              <a:gd name="connsiteY0" fmla="*/ 289711 h 796705"/>
              <a:gd name="connsiteX1" fmla="*/ 651849 w 1086416"/>
              <a:gd name="connsiteY1" fmla="*/ 108641 h 796705"/>
              <a:gd name="connsiteX2" fmla="*/ 1086416 w 1086416"/>
              <a:gd name="connsiteY2" fmla="*/ 398352 h 796705"/>
              <a:gd name="connsiteX3" fmla="*/ 642796 w 1086416"/>
              <a:gd name="connsiteY3" fmla="*/ 660903 h 796705"/>
              <a:gd name="connsiteX4" fmla="*/ 642796 w 1086416"/>
              <a:gd name="connsiteY4" fmla="*/ 470780 h 796705"/>
              <a:gd name="connsiteX5" fmla="*/ 0 w 1086416"/>
              <a:gd name="connsiteY5" fmla="*/ 796705 h 796705"/>
              <a:gd name="connsiteX6" fmla="*/ 9053 w 1086416"/>
              <a:gd name="connsiteY6" fmla="*/ 0 h 796705"/>
              <a:gd name="connsiteX7" fmla="*/ 660903 w 1086416"/>
              <a:gd name="connsiteY7" fmla="*/ 289711 h 796705"/>
              <a:gd name="connsiteX0" fmla="*/ 660903 w 905347"/>
              <a:gd name="connsiteY0" fmla="*/ 289711 h 796705"/>
              <a:gd name="connsiteX1" fmla="*/ 651849 w 905347"/>
              <a:gd name="connsiteY1" fmla="*/ 108641 h 796705"/>
              <a:gd name="connsiteX2" fmla="*/ 905347 w 905347"/>
              <a:gd name="connsiteY2" fmla="*/ 407405 h 796705"/>
              <a:gd name="connsiteX3" fmla="*/ 642796 w 905347"/>
              <a:gd name="connsiteY3" fmla="*/ 660903 h 796705"/>
              <a:gd name="connsiteX4" fmla="*/ 642796 w 905347"/>
              <a:gd name="connsiteY4" fmla="*/ 470780 h 796705"/>
              <a:gd name="connsiteX5" fmla="*/ 0 w 905347"/>
              <a:gd name="connsiteY5" fmla="*/ 796705 h 796705"/>
              <a:gd name="connsiteX6" fmla="*/ 9053 w 905347"/>
              <a:gd name="connsiteY6" fmla="*/ 0 h 796705"/>
              <a:gd name="connsiteX7" fmla="*/ 660903 w 905347"/>
              <a:gd name="connsiteY7" fmla="*/ 289711 h 796705"/>
              <a:gd name="connsiteX0" fmla="*/ 737371 w 981815"/>
              <a:gd name="connsiteY0" fmla="*/ 289711 h 807313"/>
              <a:gd name="connsiteX1" fmla="*/ 728317 w 981815"/>
              <a:gd name="connsiteY1" fmla="*/ 108641 h 807313"/>
              <a:gd name="connsiteX2" fmla="*/ 981815 w 981815"/>
              <a:gd name="connsiteY2" fmla="*/ 407405 h 807313"/>
              <a:gd name="connsiteX3" fmla="*/ 719264 w 981815"/>
              <a:gd name="connsiteY3" fmla="*/ 660903 h 807313"/>
              <a:gd name="connsiteX4" fmla="*/ 719264 w 981815"/>
              <a:gd name="connsiteY4" fmla="*/ 470780 h 807313"/>
              <a:gd name="connsiteX5" fmla="*/ 76468 w 981815"/>
              <a:gd name="connsiteY5" fmla="*/ 796705 h 807313"/>
              <a:gd name="connsiteX6" fmla="*/ 85521 w 981815"/>
              <a:gd name="connsiteY6" fmla="*/ 0 h 807313"/>
              <a:gd name="connsiteX7" fmla="*/ 737371 w 981815"/>
              <a:gd name="connsiteY7" fmla="*/ 289711 h 807313"/>
              <a:gd name="connsiteX0" fmla="*/ 696694 w 941138"/>
              <a:gd name="connsiteY0" fmla="*/ 289711 h 816582"/>
              <a:gd name="connsiteX1" fmla="*/ 687640 w 941138"/>
              <a:gd name="connsiteY1" fmla="*/ 108641 h 816582"/>
              <a:gd name="connsiteX2" fmla="*/ 941138 w 941138"/>
              <a:gd name="connsiteY2" fmla="*/ 407405 h 816582"/>
              <a:gd name="connsiteX3" fmla="*/ 678587 w 941138"/>
              <a:gd name="connsiteY3" fmla="*/ 660903 h 816582"/>
              <a:gd name="connsiteX4" fmla="*/ 678587 w 941138"/>
              <a:gd name="connsiteY4" fmla="*/ 470780 h 816582"/>
              <a:gd name="connsiteX5" fmla="*/ 35791 w 941138"/>
              <a:gd name="connsiteY5" fmla="*/ 796705 h 816582"/>
              <a:gd name="connsiteX6" fmla="*/ 44844 w 941138"/>
              <a:gd name="connsiteY6" fmla="*/ 0 h 816582"/>
              <a:gd name="connsiteX7" fmla="*/ 696694 w 941138"/>
              <a:gd name="connsiteY7" fmla="*/ 289711 h 816582"/>
              <a:gd name="connsiteX0" fmla="*/ 707101 w 951545"/>
              <a:gd name="connsiteY0" fmla="*/ 289711 h 797976"/>
              <a:gd name="connsiteX1" fmla="*/ 698047 w 951545"/>
              <a:gd name="connsiteY1" fmla="*/ 108641 h 797976"/>
              <a:gd name="connsiteX2" fmla="*/ 951545 w 951545"/>
              <a:gd name="connsiteY2" fmla="*/ 407405 h 797976"/>
              <a:gd name="connsiteX3" fmla="*/ 688994 w 951545"/>
              <a:gd name="connsiteY3" fmla="*/ 660903 h 797976"/>
              <a:gd name="connsiteX4" fmla="*/ 688994 w 951545"/>
              <a:gd name="connsiteY4" fmla="*/ 470780 h 797976"/>
              <a:gd name="connsiteX5" fmla="*/ 46198 w 951545"/>
              <a:gd name="connsiteY5" fmla="*/ 796705 h 797976"/>
              <a:gd name="connsiteX6" fmla="*/ 55251 w 951545"/>
              <a:gd name="connsiteY6" fmla="*/ 0 h 797976"/>
              <a:gd name="connsiteX7" fmla="*/ 707101 w 951545"/>
              <a:gd name="connsiteY7" fmla="*/ 289711 h 797976"/>
              <a:gd name="connsiteX0" fmla="*/ 707101 w 951545"/>
              <a:gd name="connsiteY0" fmla="*/ 289711 h 806997"/>
              <a:gd name="connsiteX1" fmla="*/ 698047 w 951545"/>
              <a:gd name="connsiteY1" fmla="*/ 108641 h 806997"/>
              <a:gd name="connsiteX2" fmla="*/ 951545 w 951545"/>
              <a:gd name="connsiteY2" fmla="*/ 407405 h 806997"/>
              <a:gd name="connsiteX3" fmla="*/ 688994 w 951545"/>
              <a:gd name="connsiteY3" fmla="*/ 660903 h 806997"/>
              <a:gd name="connsiteX4" fmla="*/ 688994 w 951545"/>
              <a:gd name="connsiteY4" fmla="*/ 470780 h 806997"/>
              <a:gd name="connsiteX5" fmla="*/ 46198 w 951545"/>
              <a:gd name="connsiteY5" fmla="*/ 805759 h 806997"/>
              <a:gd name="connsiteX6" fmla="*/ 55251 w 951545"/>
              <a:gd name="connsiteY6" fmla="*/ 0 h 806997"/>
              <a:gd name="connsiteX7" fmla="*/ 707101 w 951545"/>
              <a:gd name="connsiteY7" fmla="*/ 289711 h 806997"/>
              <a:gd name="connsiteX0" fmla="*/ 713534 w 957978"/>
              <a:gd name="connsiteY0" fmla="*/ 289711 h 825044"/>
              <a:gd name="connsiteX1" fmla="*/ 704480 w 957978"/>
              <a:gd name="connsiteY1" fmla="*/ 108641 h 825044"/>
              <a:gd name="connsiteX2" fmla="*/ 957978 w 957978"/>
              <a:gd name="connsiteY2" fmla="*/ 407405 h 825044"/>
              <a:gd name="connsiteX3" fmla="*/ 695427 w 957978"/>
              <a:gd name="connsiteY3" fmla="*/ 660903 h 825044"/>
              <a:gd name="connsiteX4" fmla="*/ 695427 w 957978"/>
              <a:gd name="connsiteY4" fmla="*/ 470780 h 825044"/>
              <a:gd name="connsiteX5" fmla="*/ 34524 w 957978"/>
              <a:gd name="connsiteY5" fmla="*/ 823866 h 825044"/>
              <a:gd name="connsiteX6" fmla="*/ 61684 w 957978"/>
              <a:gd name="connsiteY6" fmla="*/ 0 h 825044"/>
              <a:gd name="connsiteX7" fmla="*/ 713534 w 957978"/>
              <a:gd name="connsiteY7" fmla="*/ 289711 h 825044"/>
              <a:gd name="connsiteX0" fmla="*/ 837387 w 1081831"/>
              <a:gd name="connsiteY0" fmla="*/ 289711 h 876824"/>
              <a:gd name="connsiteX1" fmla="*/ 828333 w 1081831"/>
              <a:gd name="connsiteY1" fmla="*/ 108641 h 876824"/>
              <a:gd name="connsiteX2" fmla="*/ 1081831 w 1081831"/>
              <a:gd name="connsiteY2" fmla="*/ 407405 h 876824"/>
              <a:gd name="connsiteX3" fmla="*/ 819280 w 1081831"/>
              <a:gd name="connsiteY3" fmla="*/ 660903 h 876824"/>
              <a:gd name="connsiteX4" fmla="*/ 819280 w 1081831"/>
              <a:gd name="connsiteY4" fmla="*/ 470780 h 876824"/>
              <a:gd name="connsiteX5" fmla="*/ 158377 w 1081831"/>
              <a:gd name="connsiteY5" fmla="*/ 823866 h 876824"/>
              <a:gd name="connsiteX6" fmla="*/ 185537 w 1081831"/>
              <a:gd name="connsiteY6" fmla="*/ 0 h 876824"/>
              <a:gd name="connsiteX7" fmla="*/ 837387 w 1081831"/>
              <a:gd name="connsiteY7" fmla="*/ 289711 h 876824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42323 w 1086767"/>
              <a:gd name="connsiteY0" fmla="*/ 289711 h 823866"/>
              <a:gd name="connsiteX1" fmla="*/ 833269 w 1086767"/>
              <a:gd name="connsiteY1" fmla="*/ 108641 h 823866"/>
              <a:gd name="connsiteX2" fmla="*/ 1086767 w 1086767"/>
              <a:gd name="connsiteY2" fmla="*/ 407405 h 823866"/>
              <a:gd name="connsiteX3" fmla="*/ 824216 w 1086767"/>
              <a:gd name="connsiteY3" fmla="*/ 660903 h 823866"/>
              <a:gd name="connsiteX4" fmla="*/ 824216 w 1086767"/>
              <a:gd name="connsiteY4" fmla="*/ 470780 h 823866"/>
              <a:gd name="connsiteX5" fmla="*/ 163313 w 1086767"/>
              <a:gd name="connsiteY5" fmla="*/ 823866 h 823866"/>
              <a:gd name="connsiteX6" fmla="*/ 190473 w 1086767"/>
              <a:gd name="connsiteY6" fmla="*/ 0 h 823866"/>
              <a:gd name="connsiteX7" fmla="*/ 842323 w 1086767"/>
              <a:gd name="connsiteY7" fmla="*/ 289711 h 823866"/>
              <a:gd name="connsiteX0" fmla="*/ 858475 w 1102919"/>
              <a:gd name="connsiteY0" fmla="*/ 289711 h 823866"/>
              <a:gd name="connsiteX1" fmla="*/ 849421 w 1102919"/>
              <a:gd name="connsiteY1" fmla="*/ 108641 h 823866"/>
              <a:gd name="connsiteX2" fmla="*/ 1102919 w 1102919"/>
              <a:gd name="connsiteY2" fmla="*/ 407405 h 823866"/>
              <a:gd name="connsiteX3" fmla="*/ 840368 w 1102919"/>
              <a:gd name="connsiteY3" fmla="*/ 660903 h 823866"/>
              <a:gd name="connsiteX4" fmla="*/ 840368 w 1102919"/>
              <a:gd name="connsiteY4" fmla="*/ 470780 h 823866"/>
              <a:gd name="connsiteX5" fmla="*/ 179465 w 1102919"/>
              <a:gd name="connsiteY5" fmla="*/ 823866 h 823866"/>
              <a:gd name="connsiteX6" fmla="*/ 206625 w 1102919"/>
              <a:gd name="connsiteY6" fmla="*/ 0 h 823866"/>
              <a:gd name="connsiteX7" fmla="*/ 858475 w 1102919"/>
              <a:gd name="connsiteY7" fmla="*/ 289711 h 823866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68066 w 1112510"/>
              <a:gd name="connsiteY0" fmla="*/ 289711 h 760491"/>
              <a:gd name="connsiteX1" fmla="*/ 859012 w 1112510"/>
              <a:gd name="connsiteY1" fmla="*/ 108641 h 760491"/>
              <a:gd name="connsiteX2" fmla="*/ 1112510 w 1112510"/>
              <a:gd name="connsiteY2" fmla="*/ 407405 h 760491"/>
              <a:gd name="connsiteX3" fmla="*/ 849959 w 1112510"/>
              <a:gd name="connsiteY3" fmla="*/ 660903 h 760491"/>
              <a:gd name="connsiteX4" fmla="*/ 849959 w 1112510"/>
              <a:gd name="connsiteY4" fmla="*/ 470780 h 760491"/>
              <a:gd name="connsiteX5" fmla="*/ 170949 w 1112510"/>
              <a:gd name="connsiteY5" fmla="*/ 760491 h 760491"/>
              <a:gd name="connsiteX6" fmla="*/ 216216 w 1112510"/>
              <a:gd name="connsiteY6" fmla="*/ 0 h 760491"/>
              <a:gd name="connsiteX7" fmla="*/ 868066 w 1112510"/>
              <a:gd name="connsiteY7" fmla="*/ 289711 h 760491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49362 w 1093806"/>
              <a:gd name="connsiteY0" fmla="*/ 289711 h 769545"/>
              <a:gd name="connsiteX1" fmla="*/ 840308 w 1093806"/>
              <a:gd name="connsiteY1" fmla="*/ 108641 h 769545"/>
              <a:gd name="connsiteX2" fmla="*/ 1093806 w 1093806"/>
              <a:gd name="connsiteY2" fmla="*/ 407405 h 769545"/>
              <a:gd name="connsiteX3" fmla="*/ 831255 w 1093806"/>
              <a:gd name="connsiteY3" fmla="*/ 660903 h 769545"/>
              <a:gd name="connsiteX4" fmla="*/ 831255 w 1093806"/>
              <a:gd name="connsiteY4" fmla="*/ 470780 h 769545"/>
              <a:gd name="connsiteX5" fmla="*/ 188459 w 1093806"/>
              <a:gd name="connsiteY5" fmla="*/ 769545 h 769545"/>
              <a:gd name="connsiteX6" fmla="*/ 197512 w 1093806"/>
              <a:gd name="connsiteY6" fmla="*/ 0 h 769545"/>
              <a:gd name="connsiteX7" fmla="*/ 849362 w 1093806"/>
              <a:gd name="connsiteY7" fmla="*/ 289711 h 769545"/>
              <a:gd name="connsiteX0" fmla="*/ 840369 w 1084813"/>
              <a:gd name="connsiteY0" fmla="*/ 253497 h 733331"/>
              <a:gd name="connsiteX1" fmla="*/ 831315 w 1084813"/>
              <a:gd name="connsiteY1" fmla="*/ 72427 h 733331"/>
              <a:gd name="connsiteX2" fmla="*/ 1084813 w 1084813"/>
              <a:gd name="connsiteY2" fmla="*/ 371191 h 733331"/>
              <a:gd name="connsiteX3" fmla="*/ 822262 w 1084813"/>
              <a:gd name="connsiteY3" fmla="*/ 624689 h 733331"/>
              <a:gd name="connsiteX4" fmla="*/ 822262 w 1084813"/>
              <a:gd name="connsiteY4" fmla="*/ 434566 h 733331"/>
              <a:gd name="connsiteX5" fmla="*/ 179466 w 1084813"/>
              <a:gd name="connsiteY5" fmla="*/ 733331 h 733331"/>
              <a:gd name="connsiteX6" fmla="*/ 206626 w 1084813"/>
              <a:gd name="connsiteY6" fmla="*/ 0 h 733331"/>
              <a:gd name="connsiteX7" fmla="*/ 840369 w 1084813"/>
              <a:gd name="connsiteY7" fmla="*/ 253497 h 733331"/>
              <a:gd name="connsiteX0" fmla="*/ 850463 w 1094907"/>
              <a:gd name="connsiteY0" fmla="*/ 253497 h 733331"/>
              <a:gd name="connsiteX1" fmla="*/ 841409 w 1094907"/>
              <a:gd name="connsiteY1" fmla="*/ 72427 h 733331"/>
              <a:gd name="connsiteX2" fmla="*/ 1094907 w 1094907"/>
              <a:gd name="connsiteY2" fmla="*/ 371191 h 733331"/>
              <a:gd name="connsiteX3" fmla="*/ 832356 w 1094907"/>
              <a:gd name="connsiteY3" fmla="*/ 624689 h 733331"/>
              <a:gd name="connsiteX4" fmla="*/ 832356 w 1094907"/>
              <a:gd name="connsiteY4" fmla="*/ 434566 h 733331"/>
              <a:gd name="connsiteX5" fmla="*/ 189560 w 1094907"/>
              <a:gd name="connsiteY5" fmla="*/ 733331 h 733331"/>
              <a:gd name="connsiteX6" fmla="*/ 216720 w 1094907"/>
              <a:gd name="connsiteY6" fmla="*/ 0 h 733331"/>
              <a:gd name="connsiteX7" fmla="*/ 850463 w 1094907"/>
              <a:gd name="connsiteY7" fmla="*/ 253497 h 733331"/>
              <a:gd name="connsiteX0" fmla="*/ 847098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47098 w 1091542"/>
              <a:gd name="connsiteY7" fmla="*/ 253497 h 733331"/>
              <a:gd name="connsiteX0" fmla="*/ 838045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1993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4709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52396 w 1105893"/>
              <a:gd name="connsiteY0" fmla="*/ 289711 h 769545"/>
              <a:gd name="connsiteX1" fmla="*/ 861449 w 1105893"/>
              <a:gd name="connsiteY1" fmla="*/ 108641 h 769545"/>
              <a:gd name="connsiteX2" fmla="*/ 1105893 w 1105893"/>
              <a:gd name="connsiteY2" fmla="*/ 407405 h 769545"/>
              <a:gd name="connsiteX3" fmla="*/ 843342 w 1105893"/>
              <a:gd name="connsiteY3" fmla="*/ 660903 h 769545"/>
              <a:gd name="connsiteX4" fmla="*/ 843342 w 1105893"/>
              <a:gd name="connsiteY4" fmla="*/ 470780 h 769545"/>
              <a:gd name="connsiteX5" fmla="*/ 200546 w 1105893"/>
              <a:gd name="connsiteY5" fmla="*/ 769545 h 769545"/>
              <a:gd name="connsiteX6" fmla="*/ 200546 w 1105893"/>
              <a:gd name="connsiteY6" fmla="*/ 0 h 769545"/>
              <a:gd name="connsiteX7" fmla="*/ 852396 w 1105893"/>
              <a:gd name="connsiteY7" fmla="*/ 289711 h 769545"/>
              <a:gd name="connsiteX0" fmla="*/ 834715 w 1088212"/>
              <a:gd name="connsiteY0" fmla="*/ 289711 h 769545"/>
              <a:gd name="connsiteX1" fmla="*/ 843768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34715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23411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23411 w 1088212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60903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47581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6163 w 1074007"/>
              <a:gd name="connsiteY0" fmla="*/ 289711 h 756223"/>
              <a:gd name="connsiteX1" fmla="*/ 829563 w 1074007"/>
              <a:gd name="connsiteY1" fmla="*/ 108641 h 756223"/>
              <a:gd name="connsiteX2" fmla="*/ 1074007 w 1074007"/>
              <a:gd name="connsiteY2" fmla="*/ 380762 h 756223"/>
              <a:gd name="connsiteX3" fmla="*/ 828413 w 1074007"/>
              <a:gd name="connsiteY3" fmla="*/ 647581 h 756223"/>
              <a:gd name="connsiteX4" fmla="*/ 828413 w 1074007"/>
              <a:gd name="connsiteY4" fmla="*/ 470780 h 756223"/>
              <a:gd name="connsiteX5" fmla="*/ 179964 w 1074007"/>
              <a:gd name="connsiteY5" fmla="*/ 756223 h 756223"/>
              <a:gd name="connsiteX6" fmla="*/ 185617 w 1074007"/>
              <a:gd name="connsiteY6" fmla="*/ 0 h 756223"/>
              <a:gd name="connsiteX7" fmla="*/ 826163 w 1074007"/>
              <a:gd name="connsiteY7" fmla="*/ 289711 h 756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4007" h="756223">
                <a:moveTo>
                  <a:pt x="826163" y="289711"/>
                </a:moveTo>
                <a:cubicBezTo>
                  <a:pt x="826163" y="229354"/>
                  <a:pt x="829563" y="168998"/>
                  <a:pt x="829563" y="108641"/>
                </a:cubicBezTo>
                <a:lnTo>
                  <a:pt x="1074007" y="380762"/>
                </a:lnTo>
                <a:lnTo>
                  <a:pt x="828413" y="647581"/>
                </a:lnTo>
                <a:lnTo>
                  <a:pt x="828413" y="470780"/>
                </a:lnTo>
                <a:cubicBezTo>
                  <a:pt x="721280" y="493414"/>
                  <a:pt x="510415" y="579680"/>
                  <a:pt x="179964" y="756223"/>
                </a:cubicBezTo>
                <a:cubicBezTo>
                  <a:pt x="-52409" y="505745"/>
                  <a:pt x="-69387" y="256515"/>
                  <a:pt x="185617" y="0"/>
                </a:cubicBezTo>
                <a:lnTo>
                  <a:pt x="826163" y="28971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389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FF44-3775-4639-E5B2-A5F12831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Products: Core vs Use Case specific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30C40-C40D-6ACE-1080-C6176AEC48F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15775" y="6480175"/>
            <a:ext cx="276225" cy="142875"/>
          </a:xfrm>
        </p:spPr>
        <p:txBody>
          <a:bodyPr/>
          <a:lstStyle/>
          <a:p>
            <a:pPr marL="50799" marR="0" lvl="0" indent="0" algn="l" defTabSz="914400" rtl="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GB" sz="1800" b="0" i="0" u="none" strike="noStrike" kern="1200" cap="none" spc="40" normalizeH="0" baseline="0" noProof="0" smtClean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50799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800" b="0" i="0" u="none" strike="noStrike" kern="1200" cap="none" spc="40" normalizeH="0" baseline="0" noProof="0">
              <a:ln>
                <a:noFill/>
              </a:ln>
              <a:solidFill>
                <a:srgbClr val="5F606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02D54-C01F-386D-C769-A764281E7BA6}"/>
              </a:ext>
            </a:extLst>
          </p:cNvPr>
          <p:cNvSpPr txBox="1"/>
          <p:nvPr/>
        </p:nvSpPr>
        <p:spPr>
          <a:xfrm>
            <a:off x="518214" y="1370175"/>
            <a:ext cx="590032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3B6E8F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Use Case Data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C9A9E-9238-E120-F4D2-79259083AB1A}"/>
              </a:ext>
            </a:extLst>
          </p:cNvPr>
          <p:cNvSpPr txBox="1"/>
          <p:nvPr/>
        </p:nvSpPr>
        <p:spPr>
          <a:xfrm>
            <a:off x="533199" y="1770688"/>
            <a:ext cx="6634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Is a data-driven solution developed to address specific business problems or fulfill specific user needs.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Often built on top of core data products but are more specialized and use case-oriented</a:t>
            </a:r>
          </a:p>
        </p:txBody>
      </p:sp>
      <p:sp>
        <p:nvSpPr>
          <p:cNvPr id="14" name="Text Placeholder 80">
            <a:extLst>
              <a:ext uri="{FF2B5EF4-FFF2-40B4-BE49-F238E27FC236}">
                <a16:creationId xmlns:a16="http://schemas.microsoft.com/office/drawing/2014/main" id="{A6BEF42F-EB9F-74C5-04B0-9446EFB9C426}"/>
              </a:ext>
            </a:extLst>
          </p:cNvPr>
          <p:cNvSpPr txBox="1">
            <a:spLocks/>
          </p:cNvSpPr>
          <p:nvPr/>
        </p:nvSpPr>
        <p:spPr>
          <a:xfrm>
            <a:off x="-1" y="4553969"/>
            <a:ext cx="3083665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Tailored to serve a specific use case or set of use cases within an organization, focusing on delivering targeted insights, functionalities, or outcomes to meet business process or user group requirements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298AE-E0B2-6B1C-E77C-CD74C0208405}"/>
              </a:ext>
            </a:extLst>
          </p:cNvPr>
          <p:cNvCxnSpPr>
            <a:cxnSpLocks/>
          </p:cNvCxnSpPr>
          <p:nvPr/>
        </p:nvCxnSpPr>
        <p:spPr>
          <a:xfrm>
            <a:off x="1409484" y="4370244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80">
            <a:extLst>
              <a:ext uri="{FF2B5EF4-FFF2-40B4-BE49-F238E27FC236}">
                <a16:creationId xmlns:a16="http://schemas.microsoft.com/office/drawing/2014/main" id="{3D905604-5DB2-6632-072B-873B5EF368B8}"/>
              </a:ext>
            </a:extLst>
          </p:cNvPr>
          <p:cNvSpPr txBox="1">
            <a:spLocks/>
          </p:cNvSpPr>
          <p:nvPr/>
        </p:nvSpPr>
        <p:spPr>
          <a:xfrm>
            <a:off x="3209161" y="4576596"/>
            <a:ext cx="2357772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Typically represented as a denormalized dimensional model, optimizing runtime performance for heavy workloads</a:t>
            </a:r>
          </a:p>
        </p:txBody>
      </p:sp>
      <p:sp>
        <p:nvSpPr>
          <p:cNvPr id="26" name="Text Placeholder 80">
            <a:extLst>
              <a:ext uri="{FF2B5EF4-FFF2-40B4-BE49-F238E27FC236}">
                <a16:creationId xmlns:a16="http://schemas.microsoft.com/office/drawing/2014/main" id="{10B13A75-4114-6EF3-4575-DE1811FE9216}"/>
              </a:ext>
            </a:extLst>
          </p:cNvPr>
          <p:cNvSpPr txBox="1">
            <a:spLocks/>
          </p:cNvSpPr>
          <p:nvPr/>
        </p:nvSpPr>
        <p:spPr>
          <a:xfrm>
            <a:off x="6236032" y="4553968"/>
            <a:ext cx="2357772" cy="1772051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ML Models are utilized to address predictive and prescriptive use cases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8767CA-A81B-3567-3048-0C8D223554F6}"/>
              </a:ext>
            </a:extLst>
          </p:cNvPr>
          <p:cNvCxnSpPr>
            <a:cxnSpLocks/>
          </p:cNvCxnSpPr>
          <p:nvPr/>
        </p:nvCxnSpPr>
        <p:spPr>
          <a:xfrm>
            <a:off x="4378320" y="4370244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464245-D5F1-BDE7-A98E-EE44463FB668}"/>
              </a:ext>
            </a:extLst>
          </p:cNvPr>
          <p:cNvGrpSpPr/>
          <p:nvPr/>
        </p:nvGrpSpPr>
        <p:grpSpPr>
          <a:xfrm>
            <a:off x="3885919" y="3279617"/>
            <a:ext cx="1004255" cy="1004255"/>
            <a:chOff x="5938190" y="3275167"/>
            <a:chExt cx="1004255" cy="100425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EB43ED-1277-AA25-47FF-A4BD8719D136}"/>
                </a:ext>
              </a:extLst>
            </p:cNvPr>
            <p:cNvSpPr/>
            <p:nvPr/>
          </p:nvSpPr>
          <p:spPr>
            <a:xfrm>
              <a:off x="5938190" y="3275167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3B6E8F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BDA9624D-7BE7-2B6E-F09F-A652E4C76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190914" y="3514188"/>
              <a:ext cx="498805" cy="526212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4918AE9-0555-2772-13BE-FB56538A0F6F}"/>
              </a:ext>
            </a:extLst>
          </p:cNvPr>
          <p:cNvGrpSpPr/>
          <p:nvPr/>
        </p:nvGrpSpPr>
        <p:grpSpPr>
          <a:xfrm>
            <a:off x="917083" y="3279617"/>
            <a:ext cx="1004255" cy="1004255"/>
            <a:chOff x="1453732" y="3407412"/>
            <a:chExt cx="1004255" cy="100425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04AF11-A522-CCB7-D6FB-295648B47E1D}"/>
                </a:ext>
              </a:extLst>
            </p:cNvPr>
            <p:cNvSpPr/>
            <p:nvPr/>
          </p:nvSpPr>
          <p:spPr>
            <a:xfrm>
              <a:off x="1453732" y="3407412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3B6E8F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B63E5B8B-4930-A6CC-4C66-59CA43D2E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706456" y="3646433"/>
              <a:ext cx="498805" cy="5262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2A8D5C-08FD-BE9D-FE67-730724D342B8}"/>
              </a:ext>
            </a:extLst>
          </p:cNvPr>
          <p:cNvGrpSpPr/>
          <p:nvPr/>
        </p:nvGrpSpPr>
        <p:grpSpPr>
          <a:xfrm>
            <a:off x="6799696" y="3279617"/>
            <a:ext cx="1004255" cy="1004255"/>
            <a:chOff x="10485794" y="2985399"/>
            <a:chExt cx="1004255" cy="100425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29FD05-6BA2-06E7-3129-5E8FE7CF02BC}"/>
                </a:ext>
              </a:extLst>
            </p:cNvPr>
            <p:cNvSpPr/>
            <p:nvPr/>
          </p:nvSpPr>
          <p:spPr>
            <a:xfrm>
              <a:off x="10485794" y="2985399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FBB040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291B7FE7-68C9-0F70-BA31-2C75F6D0E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738518" y="3224317"/>
              <a:ext cx="498805" cy="526212"/>
            </a:xfrm>
            <a:prstGeom prst="rect">
              <a:avLst/>
            </a:prstGeom>
          </p:spPr>
        </p:pic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3D783D-AC38-3917-BEEF-8ECAAE76852F}"/>
              </a:ext>
            </a:extLst>
          </p:cNvPr>
          <p:cNvCxnSpPr>
            <a:cxnSpLocks/>
          </p:cNvCxnSpPr>
          <p:nvPr/>
        </p:nvCxnSpPr>
        <p:spPr>
          <a:xfrm>
            <a:off x="7284137" y="4370244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0">
            <a:extLst>
              <a:ext uri="{FF2B5EF4-FFF2-40B4-BE49-F238E27FC236}">
                <a16:creationId xmlns:a16="http://schemas.microsoft.com/office/drawing/2014/main" id="{49A72AD6-0D15-DD86-40AA-D0C07F611B07}"/>
              </a:ext>
            </a:extLst>
          </p:cNvPr>
          <p:cNvSpPr txBox="1">
            <a:spLocks/>
          </p:cNvSpPr>
          <p:nvPr/>
        </p:nvSpPr>
        <p:spPr>
          <a:xfrm>
            <a:off x="9111262" y="4608546"/>
            <a:ext cx="2840451" cy="1772051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0" indent="0" algn="r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350" b="1" kern="12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2pPr>
            <a:lvl3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3pPr>
            <a:lvl4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788" kern="1200" dirty="0" smtClean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4pPr>
            <a:lvl5pPr marL="67866" indent="-6786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IN" sz="788" kern="1200" dirty="0">
                <a:solidFill>
                  <a:srgbClr val="2A2A2A"/>
                </a:solidFill>
                <a:latin typeface="PT Sans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Segoe UI Semilight"/>
                <a:ea typeface="Calibri"/>
                <a:cs typeface="Segoe UI Semilight"/>
              </a:rPr>
              <a:t>Designed to address specific business objectives or improve specific aspects of operations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E19982-7012-F3E1-3D01-F9E8571B2ACE}"/>
              </a:ext>
            </a:extLst>
          </p:cNvPr>
          <p:cNvCxnSpPr>
            <a:cxnSpLocks/>
          </p:cNvCxnSpPr>
          <p:nvPr/>
        </p:nvCxnSpPr>
        <p:spPr>
          <a:xfrm>
            <a:off x="10272360" y="4370244"/>
            <a:ext cx="0" cy="238302"/>
          </a:xfrm>
          <a:prstGeom prst="line">
            <a:avLst/>
          </a:prstGeom>
          <a:ln w="158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D94AD7-E367-73DC-1BC7-A3BD35C355A1}"/>
              </a:ext>
            </a:extLst>
          </p:cNvPr>
          <p:cNvGrpSpPr/>
          <p:nvPr/>
        </p:nvGrpSpPr>
        <p:grpSpPr>
          <a:xfrm>
            <a:off x="9779957" y="3279617"/>
            <a:ext cx="1004255" cy="1004255"/>
            <a:chOff x="5938190" y="3275167"/>
            <a:chExt cx="1004255" cy="100425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E68B09-2E3E-507D-960D-3F7CA2EC2596}"/>
                </a:ext>
              </a:extLst>
            </p:cNvPr>
            <p:cNvSpPr/>
            <p:nvPr/>
          </p:nvSpPr>
          <p:spPr>
            <a:xfrm>
              <a:off x="5938190" y="3275167"/>
              <a:ext cx="1004255" cy="1004255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3B6E8F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28B2205-024A-76E2-04A3-F262E111F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190914" y="3514188"/>
              <a:ext cx="498805" cy="526212"/>
            </a:xfrm>
            <a:prstGeom prst="rect">
              <a:avLst/>
            </a:prstGeom>
          </p:spPr>
        </p:pic>
      </p:grpSp>
      <p:sp>
        <p:nvSpPr>
          <p:cNvPr id="21" name="Cylinder 20">
            <a:extLst>
              <a:ext uri="{FF2B5EF4-FFF2-40B4-BE49-F238E27FC236}">
                <a16:creationId xmlns:a16="http://schemas.microsoft.com/office/drawing/2014/main" id="{E14F245C-0281-AD4C-8FFE-9F25CF9F51C0}"/>
              </a:ext>
            </a:extLst>
          </p:cNvPr>
          <p:cNvSpPr/>
          <p:nvPr/>
        </p:nvSpPr>
        <p:spPr>
          <a:xfrm>
            <a:off x="7709427" y="1403507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0E82C296-563C-25E3-6643-ED07CD0E6CD2}"/>
              </a:ext>
            </a:extLst>
          </p:cNvPr>
          <p:cNvSpPr/>
          <p:nvPr/>
        </p:nvSpPr>
        <p:spPr>
          <a:xfrm>
            <a:off x="7709427" y="1844956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34E12F23-3A4F-9834-8284-6F264C2EEC63}"/>
              </a:ext>
            </a:extLst>
          </p:cNvPr>
          <p:cNvSpPr/>
          <p:nvPr/>
        </p:nvSpPr>
        <p:spPr>
          <a:xfrm>
            <a:off x="7709426" y="2320239"/>
            <a:ext cx="258087" cy="3027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Graphic 24" descr="Monitor with solid fill">
            <a:extLst>
              <a:ext uri="{FF2B5EF4-FFF2-40B4-BE49-F238E27FC236}">
                <a16:creationId xmlns:a16="http://schemas.microsoft.com/office/drawing/2014/main" id="{CBC34097-79CA-2A19-300F-9443450A3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1459" y="1427267"/>
            <a:ext cx="548400" cy="548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15B4903-1BB5-CDCA-A298-0B3993E40445}"/>
              </a:ext>
            </a:extLst>
          </p:cNvPr>
          <p:cNvSpPr txBox="1"/>
          <p:nvPr/>
        </p:nvSpPr>
        <p:spPr>
          <a:xfrm>
            <a:off x="7099274" y="1105995"/>
            <a:ext cx="1130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Source Systems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1A2B52-074A-8597-722A-C6CD728F4CCD}"/>
              </a:ext>
            </a:extLst>
          </p:cNvPr>
          <p:cNvSpPr txBox="1"/>
          <p:nvPr/>
        </p:nvSpPr>
        <p:spPr>
          <a:xfrm>
            <a:off x="8223187" y="1105995"/>
            <a:ext cx="1465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Core Data Products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C7130C-F9F8-A09E-8A81-688FA5C44AEF}"/>
              </a:ext>
            </a:extLst>
          </p:cNvPr>
          <p:cNvSpPr txBox="1"/>
          <p:nvPr/>
        </p:nvSpPr>
        <p:spPr>
          <a:xfrm>
            <a:off x="11290133" y="1105995"/>
            <a:ext cx="8393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Use Cases</a:t>
            </a:r>
          </a:p>
        </p:txBody>
      </p:sp>
      <p:pic>
        <p:nvPicPr>
          <p:cNvPr id="38" name="Graphic 37" descr="Monitor with solid fill">
            <a:extLst>
              <a:ext uri="{FF2B5EF4-FFF2-40B4-BE49-F238E27FC236}">
                <a16:creationId xmlns:a16="http://schemas.microsoft.com/office/drawing/2014/main" id="{1B4F56AD-FBF3-C6CE-1E97-0D31CC53D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03313" y="2150343"/>
            <a:ext cx="548400" cy="548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EE202FF-67F5-A96E-3A1B-36E4B3718067}"/>
              </a:ext>
            </a:extLst>
          </p:cNvPr>
          <p:cNvSpPr txBox="1"/>
          <p:nvPr/>
        </p:nvSpPr>
        <p:spPr>
          <a:xfrm>
            <a:off x="9622829" y="1105995"/>
            <a:ext cx="18173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5F6062"/>
                </a:solidFill>
                <a:effectLst/>
                <a:uLnTx/>
                <a:uFillTx/>
                <a:latin typeface="Segoe UI Semilight"/>
                <a:ea typeface="+mn-ea"/>
                <a:cs typeface="Segoe UI Semilight"/>
              </a:rPr>
              <a:t>Use Case Data Products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CEDAFBA-290F-84AB-34F0-A08E5AEDDFCD}"/>
              </a:ext>
            </a:extLst>
          </p:cNvPr>
          <p:cNvCxnSpPr>
            <a:cxnSpLocks/>
          </p:cNvCxnSpPr>
          <p:nvPr/>
        </p:nvCxnSpPr>
        <p:spPr>
          <a:xfrm>
            <a:off x="8213408" y="1559782"/>
            <a:ext cx="380396" cy="210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B5FF6D0-E1A3-812C-0E28-653B06326DC9}"/>
              </a:ext>
            </a:extLst>
          </p:cNvPr>
          <p:cNvCxnSpPr>
            <a:cxnSpLocks/>
          </p:cNvCxnSpPr>
          <p:nvPr/>
        </p:nvCxnSpPr>
        <p:spPr>
          <a:xfrm>
            <a:off x="8132323" y="1984443"/>
            <a:ext cx="461481" cy="1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238394-DF93-6FF9-51D9-1D2022BC84C1}"/>
              </a:ext>
            </a:extLst>
          </p:cNvPr>
          <p:cNvCxnSpPr>
            <a:cxnSpLocks/>
          </p:cNvCxnSpPr>
          <p:nvPr/>
        </p:nvCxnSpPr>
        <p:spPr>
          <a:xfrm flipV="1">
            <a:off x="8200417" y="2273150"/>
            <a:ext cx="393387" cy="152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12FB13-AB19-1655-5C38-C8092FFE0FB0}"/>
              </a:ext>
            </a:extLst>
          </p:cNvPr>
          <p:cNvCxnSpPr>
            <a:cxnSpLocks/>
          </p:cNvCxnSpPr>
          <p:nvPr/>
        </p:nvCxnSpPr>
        <p:spPr>
          <a:xfrm flipV="1">
            <a:off x="9293378" y="1706293"/>
            <a:ext cx="739303" cy="26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03FFC39-0058-BE60-1BED-11D7C968F0A3}"/>
              </a:ext>
            </a:extLst>
          </p:cNvPr>
          <p:cNvCxnSpPr>
            <a:cxnSpLocks/>
          </p:cNvCxnSpPr>
          <p:nvPr/>
        </p:nvCxnSpPr>
        <p:spPr>
          <a:xfrm>
            <a:off x="9328852" y="2120895"/>
            <a:ext cx="697538" cy="296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04D9513-1768-FF02-9887-747803D4E2F5}"/>
              </a:ext>
            </a:extLst>
          </p:cNvPr>
          <p:cNvCxnSpPr>
            <a:cxnSpLocks/>
          </p:cNvCxnSpPr>
          <p:nvPr/>
        </p:nvCxnSpPr>
        <p:spPr>
          <a:xfrm>
            <a:off x="10779329" y="1686637"/>
            <a:ext cx="461481" cy="1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C053B94-0F19-9B0C-3924-568DB02A44E5}"/>
              </a:ext>
            </a:extLst>
          </p:cNvPr>
          <p:cNvCxnSpPr>
            <a:cxnSpLocks/>
          </p:cNvCxnSpPr>
          <p:nvPr/>
        </p:nvCxnSpPr>
        <p:spPr>
          <a:xfrm>
            <a:off x="10779329" y="2459726"/>
            <a:ext cx="461481" cy="1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04">
            <a:extLst>
              <a:ext uri="{FF2B5EF4-FFF2-40B4-BE49-F238E27FC236}">
                <a16:creationId xmlns:a16="http://schemas.microsoft.com/office/drawing/2014/main" id="{0DAB95B1-43BF-4247-07AA-B6412198ACB1}"/>
              </a:ext>
            </a:extLst>
          </p:cNvPr>
          <p:cNvSpPr/>
          <p:nvPr/>
        </p:nvSpPr>
        <p:spPr>
          <a:xfrm>
            <a:off x="8730710" y="1864755"/>
            <a:ext cx="481216" cy="314612"/>
          </a:xfrm>
          <a:custGeom>
            <a:avLst/>
            <a:gdLst>
              <a:gd name="connsiteX0" fmla="*/ 642796 w 1086416"/>
              <a:gd name="connsiteY0" fmla="*/ 334978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42796 w 1086416"/>
              <a:gd name="connsiteY7" fmla="*/ 334978 h 832919"/>
              <a:gd name="connsiteX0" fmla="*/ 679010 w 1086416"/>
              <a:gd name="connsiteY0" fmla="*/ 325925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25925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60903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60903 w 1086416"/>
              <a:gd name="connsiteY7" fmla="*/ 316872 h 832919"/>
              <a:gd name="connsiteX0" fmla="*/ 660903 w 1086416"/>
              <a:gd name="connsiteY0" fmla="*/ 289711 h 805758"/>
              <a:gd name="connsiteX1" fmla="*/ 651849 w 1086416"/>
              <a:gd name="connsiteY1" fmla="*/ 108641 h 805758"/>
              <a:gd name="connsiteX2" fmla="*/ 1086416 w 1086416"/>
              <a:gd name="connsiteY2" fmla="*/ 398352 h 805758"/>
              <a:gd name="connsiteX3" fmla="*/ 651850 w 1086416"/>
              <a:gd name="connsiteY3" fmla="*/ 805758 h 805758"/>
              <a:gd name="connsiteX4" fmla="*/ 642796 w 1086416"/>
              <a:gd name="connsiteY4" fmla="*/ 470780 h 805758"/>
              <a:gd name="connsiteX5" fmla="*/ 0 w 1086416"/>
              <a:gd name="connsiteY5" fmla="*/ 796705 h 805758"/>
              <a:gd name="connsiteX6" fmla="*/ 9053 w 1086416"/>
              <a:gd name="connsiteY6" fmla="*/ 0 h 805758"/>
              <a:gd name="connsiteX7" fmla="*/ 660903 w 1086416"/>
              <a:gd name="connsiteY7" fmla="*/ 289711 h 805758"/>
              <a:gd name="connsiteX0" fmla="*/ 660903 w 1086416"/>
              <a:gd name="connsiteY0" fmla="*/ 289711 h 796705"/>
              <a:gd name="connsiteX1" fmla="*/ 651849 w 1086416"/>
              <a:gd name="connsiteY1" fmla="*/ 108641 h 796705"/>
              <a:gd name="connsiteX2" fmla="*/ 1086416 w 1086416"/>
              <a:gd name="connsiteY2" fmla="*/ 398352 h 796705"/>
              <a:gd name="connsiteX3" fmla="*/ 642796 w 1086416"/>
              <a:gd name="connsiteY3" fmla="*/ 660903 h 796705"/>
              <a:gd name="connsiteX4" fmla="*/ 642796 w 1086416"/>
              <a:gd name="connsiteY4" fmla="*/ 470780 h 796705"/>
              <a:gd name="connsiteX5" fmla="*/ 0 w 1086416"/>
              <a:gd name="connsiteY5" fmla="*/ 796705 h 796705"/>
              <a:gd name="connsiteX6" fmla="*/ 9053 w 1086416"/>
              <a:gd name="connsiteY6" fmla="*/ 0 h 796705"/>
              <a:gd name="connsiteX7" fmla="*/ 660903 w 1086416"/>
              <a:gd name="connsiteY7" fmla="*/ 289711 h 796705"/>
              <a:gd name="connsiteX0" fmla="*/ 660903 w 905347"/>
              <a:gd name="connsiteY0" fmla="*/ 289711 h 796705"/>
              <a:gd name="connsiteX1" fmla="*/ 651849 w 905347"/>
              <a:gd name="connsiteY1" fmla="*/ 108641 h 796705"/>
              <a:gd name="connsiteX2" fmla="*/ 905347 w 905347"/>
              <a:gd name="connsiteY2" fmla="*/ 407405 h 796705"/>
              <a:gd name="connsiteX3" fmla="*/ 642796 w 905347"/>
              <a:gd name="connsiteY3" fmla="*/ 660903 h 796705"/>
              <a:gd name="connsiteX4" fmla="*/ 642796 w 905347"/>
              <a:gd name="connsiteY4" fmla="*/ 470780 h 796705"/>
              <a:gd name="connsiteX5" fmla="*/ 0 w 905347"/>
              <a:gd name="connsiteY5" fmla="*/ 796705 h 796705"/>
              <a:gd name="connsiteX6" fmla="*/ 9053 w 905347"/>
              <a:gd name="connsiteY6" fmla="*/ 0 h 796705"/>
              <a:gd name="connsiteX7" fmla="*/ 660903 w 905347"/>
              <a:gd name="connsiteY7" fmla="*/ 289711 h 796705"/>
              <a:gd name="connsiteX0" fmla="*/ 737371 w 981815"/>
              <a:gd name="connsiteY0" fmla="*/ 289711 h 807313"/>
              <a:gd name="connsiteX1" fmla="*/ 728317 w 981815"/>
              <a:gd name="connsiteY1" fmla="*/ 108641 h 807313"/>
              <a:gd name="connsiteX2" fmla="*/ 981815 w 981815"/>
              <a:gd name="connsiteY2" fmla="*/ 407405 h 807313"/>
              <a:gd name="connsiteX3" fmla="*/ 719264 w 981815"/>
              <a:gd name="connsiteY3" fmla="*/ 660903 h 807313"/>
              <a:gd name="connsiteX4" fmla="*/ 719264 w 981815"/>
              <a:gd name="connsiteY4" fmla="*/ 470780 h 807313"/>
              <a:gd name="connsiteX5" fmla="*/ 76468 w 981815"/>
              <a:gd name="connsiteY5" fmla="*/ 796705 h 807313"/>
              <a:gd name="connsiteX6" fmla="*/ 85521 w 981815"/>
              <a:gd name="connsiteY6" fmla="*/ 0 h 807313"/>
              <a:gd name="connsiteX7" fmla="*/ 737371 w 981815"/>
              <a:gd name="connsiteY7" fmla="*/ 289711 h 807313"/>
              <a:gd name="connsiteX0" fmla="*/ 696694 w 941138"/>
              <a:gd name="connsiteY0" fmla="*/ 289711 h 816582"/>
              <a:gd name="connsiteX1" fmla="*/ 687640 w 941138"/>
              <a:gd name="connsiteY1" fmla="*/ 108641 h 816582"/>
              <a:gd name="connsiteX2" fmla="*/ 941138 w 941138"/>
              <a:gd name="connsiteY2" fmla="*/ 407405 h 816582"/>
              <a:gd name="connsiteX3" fmla="*/ 678587 w 941138"/>
              <a:gd name="connsiteY3" fmla="*/ 660903 h 816582"/>
              <a:gd name="connsiteX4" fmla="*/ 678587 w 941138"/>
              <a:gd name="connsiteY4" fmla="*/ 470780 h 816582"/>
              <a:gd name="connsiteX5" fmla="*/ 35791 w 941138"/>
              <a:gd name="connsiteY5" fmla="*/ 796705 h 816582"/>
              <a:gd name="connsiteX6" fmla="*/ 44844 w 941138"/>
              <a:gd name="connsiteY6" fmla="*/ 0 h 816582"/>
              <a:gd name="connsiteX7" fmla="*/ 696694 w 941138"/>
              <a:gd name="connsiteY7" fmla="*/ 289711 h 816582"/>
              <a:gd name="connsiteX0" fmla="*/ 707101 w 951545"/>
              <a:gd name="connsiteY0" fmla="*/ 289711 h 797976"/>
              <a:gd name="connsiteX1" fmla="*/ 698047 w 951545"/>
              <a:gd name="connsiteY1" fmla="*/ 108641 h 797976"/>
              <a:gd name="connsiteX2" fmla="*/ 951545 w 951545"/>
              <a:gd name="connsiteY2" fmla="*/ 407405 h 797976"/>
              <a:gd name="connsiteX3" fmla="*/ 688994 w 951545"/>
              <a:gd name="connsiteY3" fmla="*/ 660903 h 797976"/>
              <a:gd name="connsiteX4" fmla="*/ 688994 w 951545"/>
              <a:gd name="connsiteY4" fmla="*/ 470780 h 797976"/>
              <a:gd name="connsiteX5" fmla="*/ 46198 w 951545"/>
              <a:gd name="connsiteY5" fmla="*/ 796705 h 797976"/>
              <a:gd name="connsiteX6" fmla="*/ 55251 w 951545"/>
              <a:gd name="connsiteY6" fmla="*/ 0 h 797976"/>
              <a:gd name="connsiteX7" fmla="*/ 707101 w 951545"/>
              <a:gd name="connsiteY7" fmla="*/ 289711 h 797976"/>
              <a:gd name="connsiteX0" fmla="*/ 707101 w 951545"/>
              <a:gd name="connsiteY0" fmla="*/ 289711 h 806997"/>
              <a:gd name="connsiteX1" fmla="*/ 698047 w 951545"/>
              <a:gd name="connsiteY1" fmla="*/ 108641 h 806997"/>
              <a:gd name="connsiteX2" fmla="*/ 951545 w 951545"/>
              <a:gd name="connsiteY2" fmla="*/ 407405 h 806997"/>
              <a:gd name="connsiteX3" fmla="*/ 688994 w 951545"/>
              <a:gd name="connsiteY3" fmla="*/ 660903 h 806997"/>
              <a:gd name="connsiteX4" fmla="*/ 688994 w 951545"/>
              <a:gd name="connsiteY4" fmla="*/ 470780 h 806997"/>
              <a:gd name="connsiteX5" fmla="*/ 46198 w 951545"/>
              <a:gd name="connsiteY5" fmla="*/ 805759 h 806997"/>
              <a:gd name="connsiteX6" fmla="*/ 55251 w 951545"/>
              <a:gd name="connsiteY6" fmla="*/ 0 h 806997"/>
              <a:gd name="connsiteX7" fmla="*/ 707101 w 951545"/>
              <a:gd name="connsiteY7" fmla="*/ 289711 h 806997"/>
              <a:gd name="connsiteX0" fmla="*/ 713534 w 957978"/>
              <a:gd name="connsiteY0" fmla="*/ 289711 h 825044"/>
              <a:gd name="connsiteX1" fmla="*/ 704480 w 957978"/>
              <a:gd name="connsiteY1" fmla="*/ 108641 h 825044"/>
              <a:gd name="connsiteX2" fmla="*/ 957978 w 957978"/>
              <a:gd name="connsiteY2" fmla="*/ 407405 h 825044"/>
              <a:gd name="connsiteX3" fmla="*/ 695427 w 957978"/>
              <a:gd name="connsiteY3" fmla="*/ 660903 h 825044"/>
              <a:gd name="connsiteX4" fmla="*/ 695427 w 957978"/>
              <a:gd name="connsiteY4" fmla="*/ 470780 h 825044"/>
              <a:gd name="connsiteX5" fmla="*/ 34524 w 957978"/>
              <a:gd name="connsiteY5" fmla="*/ 823866 h 825044"/>
              <a:gd name="connsiteX6" fmla="*/ 61684 w 957978"/>
              <a:gd name="connsiteY6" fmla="*/ 0 h 825044"/>
              <a:gd name="connsiteX7" fmla="*/ 713534 w 957978"/>
              <a:gd name="connsiteY7" fmla="*/ 289711 h 825044"/>
              <a:gd name="connsiteX0" fmla="*/ 837387 w 1081831"/>
              <a:gd name="connsiteY0" fmla="*/ 289711 h 876824"/>
              <a:gd name="connsiteX1" fmla="*/ 828333 w 1081831"/>
              <a:gd name="connsiteY1" fmla="*/ 108641 h 876824"/>
              <a:gd name="connsiteX2" fmla="*/ 1081831 w 1081831"/>
              <a:gd name="connsiteY2" fmla="*/ 407405 h 876824"/>
              <a:gd name="connsiteX3" fmla="*/ 819280 w 1081831"/>
              <a:gd name="connsiteY3" fmla="*/ 660903 h 876824"/>
              <a:gd name="connsiteX4" fmla="*/ 819280 w 1081831"/>
              <a:gd name="connsiteY4" fmla="*/ 470780 h 876824"/>
              <a:gd name="connsiteX5" fmla="*/ 158377 w 1081831"/>
              <a:gd name="connsiteY5" fmla="*/ 823866 h 876824"/>
              <a:gd name="connsiteX6" fmla="*/ 185537 w 1081831"/>
              <a:gd name="connsiteY6" fmla="*/ 0 h 876824"/>
              <a:gd name="connsiteX7" fmla="*/ 837387 w 1081831"/>
              <a:gd name="connsiteY7" fmla="*/ 289711 h 876824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42323 w 1086767"/>
              <a:gd name="connsiteY0" fmla="*/ 289711 h 823866"/>
              <a:gd name="connsiteX1" fmla="*/ 833269 w 1086767"/>
              <a:gd name="connsiteY1" fmla="*/ 108641 h 823866"/>
              <a:gd name="connsiteX2" fmla="*/ 1086767 w 1086767"/>
              <a:gd name="connsiteY2" fmla="*/ 407405 h 823866"/>
              <a:gd name="connsiteX3" fmla="*/ 824216 w 1086767"/>
              <a:gd name="connsiteY3" fmla="*/ 660903 h 823866"/>
              <a:gd name="connsiteX4" fmla="*/ 824216 w 1086767"/>
              <a:gd name="connsiteY4" fmla="*/ 470780 h 823866"/>
              <a:gd name="connsiteX5" fmla="*/ 163313 w 1086767"/>
              <a:gd name="connsiteY5" fmla="*/ 823866 h 823866"/>
              <a:gd name="connsiteX6" fmla="*/ 190473 w 1086767"/>
              <a:gd name="connsiteY6" fmla="*/ 0 h 823866"/>
              <a:gd name="connsiteX7" fmla="*/ 842323 w 1086767"/>
              <a:gd name="connsiteY7" fmla="*/ 289711 h 823866"/>
              <a:gd name="connsiteX0" fmla="*/ 858475 w 1102919"/>
              <a:gd name="connsiteY0" fmla="*/ 289711 h 823866"/>
              <a:gd name="connsiteX1" fmla="*/ 849421 w 1102919"/>
              <a:gd name="connsiteY1" fmla="*/ 108641 h 823866"/>
              <a:gd name="connsiteX2" fmla="*/ 1102919 w 1102919"/>
              <a:gd name="connsiteY2" fmla="*/ 407405 h 823866"/>
              <a:gd name="connsiteX3" fmla="*/ 840368 w 1102919"/>
              <a:gd name="connsiteY3" fmla="*/ 660903 h 823866"/>
              <a:gd name="connsiteX4" fmla="*/ 840368 w 1102919"/>
              <a:gd name="connsiteY4" fmla="*/ 470780 h 823866"/>
              <a:gd name="connsiteX5" fmla="*/ 179465 w 1102919"/>
              <a:gd name="connsiteY5" fmla="*/ 823866 h 823866"/>
              <a:gd name="connsiteX6" fmla="*/ 206625 w 1102919"/>
              <a:gd name="connsiteY6" fmla="*/ 0 h 823866"/>
              <a:gd name="connsiteX7" fmla="*/ 858475 w 1102919"/>
              <a:gd name="connsiteY7" fmla="*/ 289711 h 823866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68066 w 1112510"/>
              <a:gd name="connsiteY0" fmla="*/ 289711 h 760491"/>
              <a:gd name="connsiteX1" fmla="*/ 859012 w 1112510"/>
              <a:gd name="connsiteY1" fmla="*/ 108641 h 760491"/>
              <a:gd name="connsiteX2" fmla="*/ 1112510 w 1112510"/>
              <a:gd name="connsiteY2" fmla="*/ 407405 h 760491"/>
              <a:gd name="connsiteX3" fmla="*/ 849959 w 1112510"/>
              <a:gd name="connsiteY3" fmla="*/ 660903 h 760491"/>
              <a:gd name="connsiteX4" fmla="*/ 849959 w 1112510"/>
              <a:gd name="connsiteY4" fmla="*/ 470780 h 760491"/>
              <a:gd name="connsiteX5" fmla="*/ 170949 w 1112510"/>
              <a:gd name="connsiteY5" fmla="*/ 760491 h 760491"/>
              <a:gd name="connsiteX6" fmla="*/ 216216 w 1112510"/>
              <a:gd name="connsiteY6" fmla="*/ 0 h 760491"/>
              <a:gd name="connsiteX7" fmla="*/ 868066 w 1112510"/>
              <a:gd name="connsiteY7" fmla="*/ 289711 h 760491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49362 w 1093806"/>
              <a:gd name="connsiteY0" fmla="*/ 289711 h 769545"/>
              <a:gd name="connsiteX1" fmla="*/ 840308 w 1093806"/>
              <a:gd name="connsiteY1" fmla="*/ 108641 h 769545"/>
              <a:gd name="connsiteX2" fmla="*/ 1093806 w 1093806"/>
              <a:gd name="connsiteY2" fmla="*/ 407405 h 769545"/>
              <a:gd name="connsiteX3" fmla="*/ 831255 w 1093806"/>
              <a:gd name="connsiteY3" fmla="*/ 660903 h 769545"/>
              <a:gd name="connsiteX4" fmla="*/ 831255 w 1093806"/>
              <a:gd name="connsiteY4" fmla="*/ 470780 h 769545"/>
              <a:gd name="connsiteX5" fmla="*/ 188459 w 1093806"/>
              <a:gd name="connsiteY5" fmla="*/ 769545 h 769545"/>
              <a:gd name="connsiteX6" fmla="*/ 197512 w 1093806"/>
              <a:gd name="connsiteY6" fmla="*/ 0 h 769545"/>
              <a:gd name="connsiteX7" fmla="*/ 849362 w 1093806"/>
              <a:gd name="connsiteY7" fmla="*/ 289711 h 769545"/>
              <a:gd name="connsiteX0" fmla="*/ 840369 w 1084813"/>
              <a:gd name="connsiteY0" fmla="*/ 253497 h 733331"/>
              <a:gd name="connsiteX1" fmla="*/ 831315 w 1084813"/>
              <a:gd name="connsiteY1" fmla="*/ 72427 h 733331"/>
              <a:gd name="connsiteX2" fmla="*/ 1084813 w 1084813"/>
              <a:gd name="connsiteY2" fmla="*/ 371191 h 733331"/>
              <a:gd name="connsiteX3" fmla="*/ 822262 w 1084813"/>
              <a:gd name="connsiteY3" fmla="*/ 624689 h 733331"/>
              <a:gd name="connsiteX4" fmla="*/ 822262 w 1084813"/>
              <a:gd name="connsiteY4" fmla="*/ 434566 h 733331"/>
              <a:gd name="connsiteX5" fmla="*/ 179466 w 1084813"/>
              <a:gd name="connsiteY5" fmla="*/ 733331 h 733331"/>
              <a:gd name="connsiteX6" fmla="*/ 206626 w 1084813"/>
              <a:gd name="connsiteY6" fmla="*/ 0 h 733331"/>
              <a:gd name="connsiteX7" fmla="*/ 840369 w 1084813"/>
              <a:gd name="connsiteY7" fmla="*/ 253497 h 733331"/>
              <a:gd name="connsiteX0" fmla="*/ 850463 w 1094907"/>
              <a:gd name="connsiteY0" fmla="*/ 253497 h 733331"/>
              <a:gd name="connsiteX1" fmla="*/ 841409 w 1094907"/>
              <a:gd name="connsiteY1" fmla="*/ 72427 h 733331"/>
              <a:gd name="connsiteX2" fmla="*/ 1094907 w 1094907"/>
              <a:gd name="connsiteY2" fmla="*/ 371191 h 733331"/>
              <a:gd name="connsiteX3" fmla="*/ 832356 w 1094907"/>
              <a:gd name="connsiteY3" fmla="*/ 624689 h 733331"/>
              <a:gd name="connsiteX4" fmla="*/ 832356 w 1094907"/>
              <a:gd name="connsiteY4" fmla="*/ 434566 h 733331"/>
              <a:gd name="connsiteX5" fmla="*/ 189560 w 1094907"/>
              <a:gd name="connsiteY5" fmla="*/ 733331 h 733331"/>
              <a:gd name="connsiteX6" fmla="*/ 216720 w 1094907"/>
              <a:gd name="connsiteY6" fmla="*/ 0 h 733331"/>
              <a:gd name="connsiteX7" fmla="*/ 850463 w 1094907"/>
              <a:gd name="connsiteY7" fmla="*/ 253497 h 733331"/>
              <a:gd name="connsiteX0" fmla="*/ 847098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47098 w 1091542"/>
              <a:gd name="connsiteY7" fmla="*/ 253497 h 733331"/>
              <a:gd name="connsiteX0" fmla="*/ 838045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1993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4709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52396 w 1105893"/>
              <a:gd name="connsiteY0" fmla="*/ 289711 h 769545"/>
              <a:gd name="connsiteX1" fmla="*/ 861449 w 1105893"/>
              <a:gd name="connsiteY1" fmla="*/ 108641 h 769545"/>
              <a:gd name="connsiteX2" fmla="*/ 1105893 w 1105893"/>
              <a:gd name="connsiteY2" fmla="*/ 407405 h 769545"/>
              <a:gd name="connsiteX3" fmla="*/ 843342 w 1105893"/>
              <a:gd name="connsiteY3" fmla="*/ 660903 h 769545"/>
              <a:gd name="connsiteX4" fmla="*/ 843342 w 1105893"/>
              <a:gd name="connsiteY4" fmla="*/ 470780 h 769545"/>
              <a:gd name="connsiteX5" fmla="*/ 200546 w 1105893"/>
              <a:gd name="connsiteY5" fmla="*/ 769545 h 769545"/>
              <a:gd name="connsiteX6" fmla="*/ 200546 w 1105893"/>
              <a:gd name="connsiteY6" fmla="*/ 0 h 769545"/>
              <a:gd name="connsiteX7" fmla="*/ 852396 w 1105893"/>
              <a:gd name="connsiteY7" fmla="*/ 289711 h 769545"/>
              <a:gd name="connsiteX0" fmla="*/ 834715 w 1088212"/>
              <a:gd name="connsiteY0" fmla="*/ 289711 h 769545"/>
              <a:gd name="connsiteX1" fmla="*/ 843768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34715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23411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23411 w 1088212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60903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47581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6163 w 1074007"/>
              <a:gd name="connsiteY0" fmla="*/ 289711 h 756223"/>
              <a:gd name="connsiteX1" fmla="*/ 829563 w 1074007"/>
              <a:gd name="connsiteY1" fmla="*/ 108641 h 756223"/>
              <a:gd name="connsiteX2" fmla="*/ 1074007 w 1074007"/>
              <a:gd name="connsiteY2" fmla="*/ 380762 h 756223"/>
              <a:gd name="connsiteX3" fmla="*/ 828413 w 1074007"/>
              <a:gd name="connsiteY3" fmla="*/ 647581 h 756223"/>
              <a:gd name="connsiteX4" fmla="*/ 828413 w 1074007"/>
              <a:gd name="connsiteY4" fmla="*/ 470780 h 756223"/>
              <a:gd name="connsiteX5" fmla="*/ 179964 w 1074007"/>
              <a:gd name="connsiteY5" fmla="*/ 756223 h 756223"/>
              <a:gd name="connsiteX6" fmla="*/ 185617 w 1074007"/>
              <a:gd name="connsiteY6" fmla="*/ 0 h 756223"/>
              <a:gd name="connsiteX7" fmla="*/ 826163 w 1074007"/>
              <a:gd name="connsiteY7" fmla="*/ 289711 h 756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4007" h="756223">
                <a:moveTo>
                  <a:pt x="826163" y="289711"/>
                </a:moveTo>
                <a:cubicBezTo>
                  <a:pt x="826163" y="229354"/>
                  <a:pt x="829563" y="168998"/>
                  <a:pt x="829563" y="108641"/>
                </a:cubicBezTo>
                <a:lnTo>
                  <a:pt x="1074007" y="380762"/>
                </a:lnTo>
                <a:lnTo>
                  <a:pt x="828413" y="647581"/>
                </a:lnTo>
                <a:lnTo>
                  <a:pt x="828413" y="470780"/>
                </a:lnTo>
                <a:cubicBezTo>
                  <a:pt x="721280" y="493414"/>
                  <a:pt x="510415" y="579680"/>
                  <a:pt x="179964" y="756223"/>
                </a:cubicBezTo>
                <a:cubicBezTo>
                  <a:pt x="-52409" y="505745"/>
                  <a:pt x="-69387" y="256515"/>
                  <a:pt x="185617" y="0"/>
                </a:cubicBezTo>
                <a:lnTo>
                  <a:pt x="826163" y="28971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 104">
            <a:extLst>
              <a:ext uri="{FF2B5EF4-FFF2-40B4-BE49-F238E27FC236}">
                <a16:creationId xmlns:a16="http://schemas.microsoft.com/office/drawing/2014/main" id="{E7C20142-8A1D-BE91-B536-B8022038142E}"/>
              </a:ext>
            </a:extLst>
          </p:cNvPr>
          <p:cNvSpPr/>
          <p:nvPr/>
        </p:nvSpPr>
        <p:spPr>
          <a:xfrm>
            <a:off x="10193330" y="1532466"/>
            <a:ext cx="481216" cy="314612"/>
          </a:xfrm>
          <a:custGeom>
            <a:avLst/>
            <a:gdLst>
              <a:gd name="connsiteX0" fmla="*/ 642796 w 1086416"/>
              <a:gd name="connsiteY0" fmla="*/ 334978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42796 w 1086416"/>
              <a:gd name="connsiteY7" fmla="*/ 334978 h 832919"/>
              <a:gd name="connsiteX0" fmla="*/ 679010 w 1086416"/>
              <a:gd name="connsiteY0" fmla="*/ 325925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25925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60903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60903 w 1086416"/>
              <a:gd name="connsiteY7" fmla="*/ 316872 h 832919"/>
              <a:gd name="connsiteX0" fmla="*/ 660903 w 1086416"/>
              <a:gd name="connsiteY0" fmla="*/ 289711 h 805758"/>
              <a:gd name="connsiteX1" fmla="*/ 651849 w 1086416"/>
              <a:gd name="connsiteY1" fmla="*/ 108641 h 805758"/>
              <a:gd name="connsiteX2" fmla="*/ 1086416 w 1086416"/>
              <a:gd name="connsiteY2" fmla="*/ 398352 h 805758"/>
              <a:gd name="connsiteX3" fmla="*/ 651850 w 1086416"/>
              <a:gd name="connsiteY3" fmla="*/ 805758 h 805758"/>
              <a:gd name="connsiteX4" fmla="*/ 642796 w 1086416"/>
              <a:gd name="connsiteY4" fmla="*/ 470780 h 805758"/>
              <a:gd name="connsiteX5" fmla="*/ 0 w 1086416"/>
              <a:gd name="connsiteY5" fmla="*/ 796705 h 805758"/>
              <a:gd name="connsiteX6" fmla="*/ 9053 w 1086416"/>
              <a:gd name="connsiteY6" fmla="*/ 0 h 805758"/>
              <a:gd name="connsiteX7" fmla="*/ 660903 w 1086416"/>
              <a:gd name="connsiteY7" fmla="*/ 289711 h 805758"/>
              <a:gd name="connsiteX0" fmla="*/ 660903 w 1086416"/>
              <a:gd name="connsiteY0" fmla="*/ 289711 h 796705"/>
              <a:gd name="connsiteX1" fmla="*/ 651849 w 1086416"/>
              <a:gd name="connsiteY1" fmla="*/ 108641 h 796705"/>
              <a:gd name="connsiteX2" fmla="*/ 1086416 w 1086416"/>
              <a:gd name="connsiteY2" fmla="*/ 398352 h 796705"/>
              <a:gd name="connsiteX3" fmla="*/ 642796 w 1086416"/>
              <a:gd name="connsiteY3" fmla="*/ 660903 h 796705"/>
              <a:gd name="connsiteX4" fmla="*/ 642796 w 1086416"/>
              <a:gd name="connsiteY4" fmla="*/ 470780 h 796705"/>
              <a:gd name="connsiteX5" fmla="*/ 0 w 1086416"/>
              <a:gd name="connsiteY5" fmla="*/ 796705 h 796705"/>
              <a:gd name="connsiteX6" fmla="*/ 9053 w 1086416"/>
              <a:gd name="connsiteY6" fmla="*/ 0 h 796705"/>
              <a:gd name="connsiteX7" fmla="*/ 660903 w 1086416"/>
              <a:gd name="connsiteY7" fmla="*/ 289711 h 796705"/>
              <a:gd name="connsiteX0" fmla="*/ 660903 w 905347"/>
              <a:gd name="connsiteY0" fmla="*/ 289711 h 796705"/>
              <a:gd name="connsiteX1" fmla="*/ 651849 w 905347"/>
              <a:gd name="connsiteY1" fmla="*/ 108641 h 796705"/>
              <a:gd name="connsiteX2" fmla="*/ 905347 w 905347"/>
              <a:gd name="connsiteY2" fmla="*/ 407405 h 796705"/>
              <a:gd name="connsiteX3" fmla="*/ 642796 w 905347"/>
              <a:gd name="connsiteY3" fmla="*/ 660903 h 796705"/>
              <a:gd name="connsiteX4" fmla="*/ 642796 w 905347"/>
              <a:gd name="connsiteY4" fmla="*/ 470780 h 796705"/>
              <a:gd name="connsiteX5" fmla="*/ 0 w 905347"/>
              <a:gd name="connsiteY5" fmla="*/ 796705 h 796705"/>
              <a:gd name="connsiteX6" fmla="*/ 9053 w 905347"/>
              <a:gd name="connsiteY6" fmla="*/ 0 h 796705"/>
              <a:gd name="connsiteX7" fmla="*/ 660903 w 905347"/>
              <a:gd name="connsiteY7" fmla="*/ 289711 h 796705"/>
              <a:gd name="connsiteX0" fmla="*/ 737371 w 981815"/>
              <a:gd name="connsiteY0" fmla="*/ 289711 h 807313"/>
              <a:gd name="connsiteX1" fmla="*/ 728317 w 981815"/>
              <a:gd name="connsiteY1" fmla="*/ 108641 h 807313"/>
              <a:gd name="connsiteX2" fmla="*/ 981815 w 981815"/>
              <a:gd name="connsiteY2" fmla="*/ 407405 h 807313"/>
              <a:gd name="connsiteX3" fmla="*/ 719264 w 981815"/>
              <a:gd name="connsiteY3" fmla="*/ 660903 h 807313"/>
              <a:gd name="connsiteX4" fmla="*/ 719264 w 981815"/>
              <a:gd name="connsiteY4" fmla="*/ 470780 h 807313"/>
              <a:gd name="connsiteX5" fmla="*/ 76468 w 981815"/>
              <a:gd name="connsiteY5" fmla="*/ 796705 h 807313"/>
              <a:gd name="connsiteX6" fmla="*/ 85521 w 981815"/>
              <a:gd name="connsiteY6" fmla="*/ 0 h 807313"/>
              <a:gd name="connsiteX7" fmla="*/ 737371 w 981815"/>
              <a:gd name="connsiteY7" fmla="*/ 289711 h 807313"/>
              <a:gd name="connsiteX0" fmla="*/ 696694 w 941138"/>
              <a:gd name="connsiteY0" fmla="*/ 289711 h 816582"/>
              <a:gd name="connsiteX1" fmla="*/ 687640 w 941138"/>
              <a:gd name="connsiteY1" fmla="*/ 108641 h 816582"/>
              <a:gd name="connsiteX2" fmla="*/ 941138 w 941138"/>
              <a:gd name="connsiteY2" fmla="*/ 407405 h 816582"/>
              <a:gd name="connsiteX3" fmla="*/ 678587 w 941138"/>
              <a:gd name="connsiteY3" fmla="*/ 660903 h 816582"/>
              <a:gd name="connsiteX4" fmla="*/ 678587 w 941138"/>
              <a:gd name="connsiteY4" fmla="*/ 470780 h 816582"/>
              <a:gd name="connsiteX5" fmla="*/ 35791 w 941138"/>
              <a:gd name="connsiteY5" fmla="*/ 796705 h 816582"/>
              <a:gd name="connsiteX6" fmla="*/ 44844 w 941138"/>
              <a:gd name="connsiteY6" fmla="*/ 0 h 816582"/>
              <a:gd name="connsiteX7" fmla="*/ 696694 w 941138"/>
              <a:gd name="connsiteY7" fmla="*/ 289711 h 816582"/>
              <a:gd name="connsiteX0" fmla="*/ 707101 w 951545"/>
              <a:gd name="connsiteY0" fmla="*/ 289711 h 797976"/>
              <a:gd name="connsiteX1" fmla="*/ 698047 w 951545"/>
              <a:gd name="connsiteY1" fmla="*/ 108641 h 797976"/>
              <a:gd name="connsiteX2" fmla="*/ 951545 w 951545"/>
              <a:gd name="connsiteY2" fmla="*/ 407405 h 797976"/>
              <a:gd name="connsiteX3" fmla="*/ 688994 w 951545"/>
              <a:gd name="connsiteY3" fmla="*/ 660903 h 797976"/>
              <a:gd name="connsiteX4" fmla="*/ 688994 w 951545"/>
              <a:gd name="connsiteY4" fmla="*/ 470780 h 797976"/>
              <a:gd name="connsiteX5" fmla="*/ 46198 w 951545"/>
              <a:gd name="connsiteY5" fmla="*/ 796705 h 797976"/>
              <a:gd name="connsiteX6" fmla="*/ 55251 w 951545"/>
              <a:gd name="connsiteY6" fmla="*/ 0 h 797976"/>
              <a:gd name="connsiteX7" fmla="*/ 707101 w 951545"/>
              <a:gd name="connsiteY7" fmla="*/ 289711 h 797976"/>
              <a:gd name="connsiteX0" fmla="*/ 707101 w 951545"/>
              <a:gd name="connsiteY0" fmla="*/ 289711 h 806997"/>
              <a:gd name="connsiteX1" fmla="*/ 698047 w 951545"/>
              <a:gd name="connsiteY1" fmla="*/ 108641 h 806997"/>
              <a:gd name="connsiteX2" fmla="*/ 951545 w 951545"/>
              <a:gd name="connsiteY2" fmla="*/ 407405 h 806997"/>
              <a:gd name="connsiteX3" fmla="*/ 688994 w 951545"/>
              <a:gd name="connsiteY3" fmla="*/ 660903 h 806997"/>
              <a:gd name="connsiteX4" fmla="*/ 688994 w 951545"/>
              <a:gd name="connsiteY4" fmla="*/ 470780 h 806997"/>
              <a:gd name="connsiteX5" fmla="*/ 46198 w 951545"/>
              <a:gd name="connsiteY5" fmla="*/ 805759 h 806997"/>
              <a:gd name="connsiteX6" fmla="*/ 55251 w 951545"/>
              <a:gd name="connsiteY6" fmla="*/ 0 h 806997"/>
              <a:gd name="connsiteX7" fmla="*/ 707101 w 951545"/>
              <a:gd name="connsiteY7" fmla="*/ 289711 h 806997"/>
              <a:gd name="connsiteX0" fmla="*/ 713534 w 957978"/>
              <a:gd name="connsiteY0" fmla="*/ 289711 h 825044"/>
              <a:gd name="connsiteX1" fmla="*/ 704480 w 957978"/>
              <a:gd name="connsiteY1" fmla="*/ 108641 h 825044"/>
              <a:gd name="connsiteX2" fmla="*/ 957978 w 957978"/>
              <a:gd name="connsiteY2" fmla="*/ 407405 h 825044"/>
              <a:gd name="connsiteX3" fmla="*/ 695427 w 957978"/>
              <a:gd name="connsiteY3" fmla="*/ 660903 h 825044"/>
              <a:gd name="connsiteX4" fmla="*/ 695427 w 957978"/>
              <a:gd name="connsiteY4" fmla="*/ 470780 h 825044"/>
              <a:gd name="connsiteX5" fmla="*/ 34524 w 957978"/>
              <a:gd name="connsiteY5" fmla="*/ 823866 h 825044"/>
              <a:gd name="connsiteX6" fmla="*/ 61684 w 957978"/>
              <a:gd name="connsiteY6" fmla="*/ 0 h 825044"/>
              <a:gd name="connsiteX7" fmla="*/ 713534 w 957978"/>
              <a:gd name="connsiteY7" fmla="*/ 289711 h 825044"/>
              <a:gd name="connsiteX0" fmla="*/ 837387 w 1081831"/>
              <a:gd name="connsiteY0" fmla="*/ 289711 h 876824"/>
              <a:gd name="connsiteX1" fmla="*/ 828333 w 1081831"/>
              <a:gd name="connsiteY1" fmla="*/ 108641 h 876824"/>
              <a:gd name="connsiteX2" fmla="*/ 1081831 w 1081831"/>
              <a:gd name="connsiteY2" fmla="*/ 407405 h 876824"/>
              <a:gd name="connsiteX3" fmla="*/ 819280 w 1081831"/>
              <a:gd name="connsiteY3" fmla="*/ 660903 h 876824"/>
              <a:gd name="connsiteX4" fmla="*/ 819280 w 1081831"/>
              <a:gd name="connsiteY4" fmla="*/ 470780 h 876824"/>
              <a:gd name="connsiteX5" fmla="*/ 158377 w 1081831"/>
              <a:gd name="connsiteY5" fmla="*/ 823866 h 876824"/>
              <a:gd name="connsiteX6" fmla="*/ 185537 w 1081831"/>
              <a:gd name="connsiteY6" fmla="*/ 0 h 876824"/>
              <a:gd name="connsiteX7" fmla="*/ 837387 w 1081831"/>
              <a:gd name="connsiteY7" fmla="*/ 289711 h 876824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42323 w 1086767"/>
              <a:gd name="connsiteY0" fmla="*/ 289711 h 823866"/>
              <a:gd name="connsiteX1" fmla="*/ 833269 w 1086767"/>
              <a:gd name="connsiteY1" fmla="*/ 108641 h 823866"/>
              <a:gd name="connsiteX2" fmla="*/ 1086767 w 1086767"/>
              <a:gd name="connsiteY2" fmla="*/ 407405 h 823866"/>
              <a:gd name="connsiteX3" fmla="*/ 824216 w 1086767"/>
              <a:gd name="connsiteY3" fmla="*/ 660903 h 823866"/>
              <a:gd name="connsiteX4" fmla="*/ 824216 w 1086767"/>
              <a:gd name="connsiteY4" fmla="*/ 470780 h 823866"/>
              <a:gd name="connsiteX5" fmla="*/ 163313 w 1086767"/>
              <a:gd name="connsiteY5" fmla="*/ 823866 h 823866"/>
              <a:gd name="connsiteX6" fmla="*/ 190473 w 1086767"/>
              <a:gd name="connsiteY6" fmla="*/ 0 h 823866"/>
              <a:gd name="connsiteX7" fmla="*/ 842323 w 1086767"/>
              <a:gd name="connsiteY7" fmla="*/ 289711 h 823866"/>
              <a:gd name="connsiteX0" fmla="*/ 858475 w 1102919"/>
              <a:gd name="connsiteY0" fmla="*/ 289711 h 823866"/>
              <a:gd name="connsiteX1" fmla="*/ 849421 w 1102919"/>
              <a:gd name="connsiteY1" fmla="*/ 108641 h 823866"/>
              <a:gd name="connsiteX2" fmla="*/ 1102919 w 1102919"/>
              <a:gd name="connsiteY2" fmla="*/ 407405 h 823866"/>
              <a:gd name="connsiteX3" fmla="*/ 840368 w 1102919"/>
              <a:gd name="connsiteY3" fmla="*/ 660903 h 823866"/>
              <a:gd name="connsiteX4" fmla="*/ 840368 w 1102919"/>
              <a:gd name="connsiteY4" fmla="*/ 470780 h 823866"/>
              <a:gd name="connsiteX5" fmla="*/ 179465 w 1102919"/>
              <a:gd name="connsiteY5" fmla="*/ 823866 h 823866"/>
              <a:gd name="connsiteX6" fmla="*/ 206625 w 1102919"/>
              <a:gd name="connsiteY6" fmla="*/ 0 h 823866"/>
              <a:gd name="connsiteX7" fmla="*/ 858475 w 1102919"/>
              <a:gd name="connsiteY7" fmla="*/ 289711 h 823866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68066 w 1112510"/>
              <a:gd name="connsiteY0" fmla="*/ 289711 h 760491"/>
              <a:gd name="connsiteX1" fmla="*/ 859012 w 1112510"/>
              <a:gd name="connsiteY1" fmla="*/ 108641 h 760491"/>
              <a:gd name="connsiteX2" fmla="*/ 1112510 w 1112510"/>
              <a:gd name="connsiteY2" fmla="*/ 407405 h 760491"/>
              <a:gd name="connsiteX3" fmla="*/ 849959 w 1112510"/>
              <a:gd name="connsiteY3" fmla="*/ 660903 h 760491"/>
              <a:gd name="connsiteX4" fmla="*/ 849959 w 1112510"/>
              <a:gd name="connsiteY4" fmla="*/ 470780 h 760491"/>
              <a:gd name="connsiteX5" fmla="*/ 170949 w 1112510"/>
              <a:gd name="connsiteY5" fmla="*/ 760491 h 760491"/>
              <a:gd name="connsiteX6" fmla="*/ 216216 w 1112510"/>
              <a:gd name="connsiteY6" fmla="*/ 0 h 760491"/>
              <a:gd name="connsiteX7" fmla="*/ 868066 w 1112510"/>
              <a:gd name="connsiteY7" fmla="*/ 289711 h 760491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49362 w 1093806"/>
              <a:gd name="connsiteY0" fmla="*/ 289711 h 769545"/>
              <a:gd name="connsiteX1" fmla="*/ 840308 w 1093806"/>
              <a:gd name="connsiteY1" fmla="*/ 108641 h 769545"/>
              <a:gd name="connsiteX2" fmla="*/ 1093806 w 1093806"/>
              <a:gd name="connsiteY2" fmla="*/ 407405 h 769545"/>
              <a:gd name="connsiteX3" fmla="*/ 831255 w 1093806"/>
              <a:gd name="connsiteY3" fmla="*/ 660903 h 769545"/>
              <a:gd name="connsiteX4" fmla="*/ 831255 w 1093806"/>
              <a:gd name="connsiteY4" fmla="*/ 470780 h 769545"/>
              <a:gd name="connsiteX5" fmla="*/ 188459 w 1093806"/>
              <a:gd name="connsiteY5" fmla="*/ 769545 h 769545"/>
              <a:gd name="connsiteX6" fmla="*/ 197512 w 1093806"/>
              <a:gd name="connsiteY6" fmla="*/ 0 h 769545"/>
              <a:gd name="connsiteX7" fmla="*/ 849362 w 1093806"/>
              <a:gd name="connsiteY7" fmla="*/ 289711 h 769545"/>
              <a:gd name="connsiteX0" fmla="*/ 840369 w 1084813"/>
              <a:gd name="connsiteY0" fmla="*/ 253497 h 733331"/>
              <a:gd name="connsiteX1" fmla="*/ 831315 w 1084813"/>
              <a:gd name="connsiteY1" fmla="*/ 72427 h 733331"/>
              <a:gd name="connsiteX2" fmla="*/ 1084813 w 1084813"/>
              <a:gd name="connsiteY2" fmla="*/ 371191 h 733331"/>
              <a:gd name="connsiteX3" fmla="*/ 822262 w 1084813"/>
              <a:gd name="connsiteY3" fmla="*/ 624689 h 733331"/>
              <a:gd name="connsiteX4" fmla="*/ 822262 w 1084813"/>
              <a:gd name="connsiteY4" fmla="*/ 434566 h 733331"/>
              <a:gd name="connsiteX5" fmla="*/ 179466 w 1084813"/>
              <a:gd name="connsiteY5" fmla="*/ 733331 h 733331"/>
              <a:gd name="connsiteX6" fmla="*/ 206626 w 1084813"/>
              <a:gd name="connsiteY6" fmla="*/ 0 h 733331"/>
              <a:gd name="connsiteX7" fmla="*/ 840369 w 1084813"/>
              <a:gd name="connsiteY7" fmla="*/ 253497 h 733331"/>
              <a:gd name="connsiteX0" fmla="*/ 850463 w 1094907"/>
              <a:gd name="connsiteY0" fmla="*/ 253497 h 733331"/>
              <a:gd name="connsiteX1" fmla="*/ 841409 w 1094907"/>
              <a:gd name="connsiteY1" fmla="*/ 72427 h 733331"/>
              <a:gd name="connsiteX2" fmla="*/ 1094907 w 1094907"/>
              <a:gd name="connsiteY2" fmla="*/ 371191 h 733331"/>
              <a:gd name="connsiteX3" fmla="*/ 832356 w 1094907"/>
              <a:gd name="connsiteY3" fmla="*/ 624689 h 733331"/>
              <a:gd name="connsiteX4" fmla="*/ 832356 w 1094907"/>
              <a:gd name="connsiteY4" fmla="*/ 434566 h 733331"/>
              <a:gd name="connsiteX5" fmla="*/ 189560 w 1094907"/>
              <a:gd name="connsiteY5" fmla="*/ 733331 h 733331"/>
              <a:gd name="connsiteX6" fmla="*/ 216720 w 1094907"/>
              <a:gd name="connsiteY6" fmla="*/ 0 h 733331"/>
              <a:gd name="connsiteX7" fmla="*/ 850463 w 1094907"/>
              <a:gd name="connsiteY7" fmla="*/ 253497 h 733331"/>
              <a:gd name="connsiteX0" fmla="*/ 847098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47098 w 1091542"/>
              <a:gd name="connsiteY7" fmla="*/ 253497 h 733331"/>
              <a:gd name="connsiteX0" fmla="*/ 838045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1993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4709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52396 w 1105893"/>
              <a:gd name="connsiteY0" fmla="*/ 289711 h 769545"/>
              <a:gd name="connsiteX1" fmla="*/ 861449 w 1105893"/>
              <a:gd name="connsiteY1" fmla="*/ 108641 h 769545"/>
              <a:gd name="connsiteX2" fmla="*/ 1105893 w 1105893"/>
              <a:gd name="connsiteY2" fmla="*/ 407405 h 769545"/>
              <a:gd name="connsiteX3" fmla="*/ 843342 w 1105893"/>
              <a:gd name="connsiteY3" fmla="*/ 660903 h 769545"/>
              <a:gd name="connsiteX4" fmla="*/ 843342 w 1105893"/>
              <a:gd name="connsiteY4" fmla="*/ 470780 h 769545"/>
              <a:gd name="connsiteX5" fmla="*/ 200546 w 1105893"/>
              <a:gd name="connsiteY5" fmla="*/ 769545 h 769545"/>
              <a:gd name="connsiteX6" fmla="*/ 200546 w 1105893"/>
              <a:gd name="connsiteY6" fmla="*/ 0 h 769545"/>
              <a:gd name="connsiteX7" fmla="*/ 852396 w 1105893"/>
              <a:gd name="connsiteY7" fmla="*/ 289711 h 769545"/>
              <a:gd name="connsiteX0" fmla="*/ 834715 w 1088212"/>
              <a:gd name="connsiteY0" fmla="*/ 289711 h 769545"/>
              <a:gd name="connsiteX1" fmla="*/ 843768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34715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23411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23411 w 1088212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60903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47581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6163 w 1074007"/>
              <a:gd name="connsiteY0" fmla="*/ 289711 h 756223"/>
              <a:gd name="connsiteX1" fmla="*/ 829563 w 1074007"/>
              <a:gd name="connsiteY1" fmla="*/ 108641 h 756223"/>
              <a:gd name="connsiteX2" fmla="*/ 1074007 w 1074007"/>
              <a:gd name="connsiteY2" fmla="*/ 380762 h 756223"/>
              <a:gd name="connsiteX3" fmla="*/ 828413 w 1074007"/>
              <a:gd name="connsiteY3" fmla="*/ 647581 h 756223"/>
              <a:gd name="connsiteX4" fmla="*/ 828413 w 1074007"/>
              <a:gd name="connsiteY4" fmla="*/ 470780 h 756223"/>
              <a:gd name="connsiteX5" fmla="*/ 179964 w 1074007"/>
              <a:gd name="connsiteY5" fmla="*/ 756223 h 756223"/>
              <a:gd name="connsiteX6" fmla="*/ 185617 w 1074007"/>
              <a:gd name="connsiteY6" fmla="*/ 0 h 756223"/>
              <a:gd name="connsiteX7" fmla="*/ 826163 w 1074007"/>
              <a:gd name="connsiteY7" fmla="*/ 289711 h 756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4007" h="756223">
                <a:moveTo>
                  <a:pt x="826163" y="289711"/>
                </a:moveTo>
                <a:cubicBezTo>
                  <a:pt x="826163" y="229354"/>
                  <a:pt x="829563" y="168998"/>
                  <a:pt x="829563" y="108641"/>
                </a:cubicBezTo>
                <a:lnTo>
                  <a:pt x="1074007" y="380762"/>
                </a:lnTo>
                <a:lnTo>
                  <a:pt x="828413" y="647581"/>
                </a:lnTo>
                <a:lnTo>
                  <a:pt x="828413" y="470780"/>
                </a:lnTo>
                <a:cubicBezTo>
                  <a:pt x="721280" y="493414"/>
                  <a:pt x="510415" y="579680"/>
                  <a:pt x="179964" y="756223"/>
                </a:cubicBezTo>
                <a:cubicBezTo>
                  <a:pt x="-52409" y="505745"/>
                  <a:pt x="-69387" y="256515"/>
                  <a:pt x="185617" y="0"/>
                </a:cubicBezTo>
                <a:lnTo>
                  <a:pt x="826163" y="289711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 104">
            <a:extLst>
              <a:ext uri="{FF2B5EF4-FFF2-40B4-BE49-F238E27FC236}">
                <a16:creationId xmlns:a16="http://schemas.microsoft.com/office/drawing/2014/main" id="{40363FE7-1706-48E1-317D-C6BDA0DEB239}"/>
              </a:ext>
            </a:extLst>
          </p:cNvPr>
          <p:cNvSpPr/>
          <p:nvPr/>
        </p:nvSpPr>
        <p:spPr>
          <a:xfrm>
            <a:off x="10121891" y="2283581"/>
            <a:ext cx="481216" cy="314612"/>
          </a:xfrm>
          <a:custGeom>
            <a:avLst/>
            <a:gdLst>
              <a:gd name="connsiteX0" fmla="*/ 642796 w 1086416"/>
              <a:gd name="connsiteY0" fmla="*/ 334978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42796 w 1086416"/>
              <a:gd name="connsiteY7" fmla="*/ 334978 h 832919"/>
              <a:gd name="connsiteX0" fmla="*/ 679010 w 1086416"/>
              <a:gd name="connsiteY0" fmla="*/ 325925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25925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88887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79010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79010 w 1086416"/>
              <a:gd name="connsiteY7" fmla="*/ 316872 h 832919"/>
              <a:gd name="connsiteX0" fmla="*/ 660903 w 1086416"/>
              <a:gd name="connsiteY0" fmla="*/ 316872 h 832919"/>
              <a:gd name="connsiteX1" fmla="*/ 660903 w 1086416"/>
              <a:gd name="connsiteY1" fmla="*/ 0 h 832919"/>
              <a:gd name="connsiteX2" fmla="*/ 1086416 w 1086416"/>
              <a:gd name="connsiteY2" fmla="*/ 425513 h 832919"/>
              <a:gd name="connsiteX3" fmla="*/ 651850 w 1086416"/>
              <a:gd name="connsiteY3" fmla="*/ 832919 h 832919"/>
              <a:gd name="connsiteX4" fmla="*/ 642796 w 1086416"/>
              <a:gd name="connsiteY4" fmla="*/ 497941 h 832919"/>
              <a:gd name="connsiteX5" fmla="*/ 0 w 1086416"/>
              <a:gd name="connsiteY5" fmla="*/ 823866 h 832919"/>
              <a:gd name="connsiteX6" fmla="*/ 9053 w 1086416"/>
              <a:gd name="connsiteY6" fmla="*/ 27161 h 832919"/>
              <a:gd name="connsiteX7" fmla="*/ 660903 w 1086416"/>
              <a:gd name="connsiteY7" fmla="*/ 316872 h 832919"/>
              <a:gd name="connsiteX0" fmla="*/ 660903 w 1086416"/>
              <a:gd name="connsiteY0" fmla="*/ 289711 h 805758"/>
              <a:gd name="connsiteX1" fmla="*/ 651849 w 1086416"/>
              <a:gd name="connsiteY1" fmla="*/ 108641 h 805758"/>
              <a:gd name="connsiteX2" fmla="*/ 1086416 w 1086416"/>
              <a:gd name="connsiteY2" fmla="*/ 398352 h 805758"/>
              <a:gd name="connsiteX3" fmla="*/ 651850 w 1086416"/>
              <a:gd name="connsiteY3" fmla="*/ 805758 h 805758"/>
              <a:gd name="connsiteX4" fmla="*/ 642796 w 1086416"/>
              <a:gd name="connsiteY4" fmla="*/ 470780 h 805758"/>
              <a:gd name="connsiteX5" fmla="*/ 0 w 1086416"/>
              <a:gd name="connsiteY5" fmla="*/ 796705 h 805758"/>
              <a:gd name="connsiteX6" fmla="*/ 9053 w 1086416"/>
              <a:gd name="connsiteY6" fmla="*/ 0 h 805758"/>
              <a:gd name="connsiteX7" fmla="*/ 660903 w 1086416"/>
              <a:gd name="connsiteY7" fmla="*/ 289711 h 805758"/>
              <a:gd name="connsiteX0" fmla="*/ 660903 w 1086416"/>
              <a:gd name="connsiteY0" fmla="*/ 289711 h 796705"/>
              <a:gd name="connsiteX1" fmla="*/ 651849 w 1086416"/>
              <a:gd name="connsiteY1" fmla="*/ 108641 h 796705"/>
              <a:gd name="connsiteX2" fmla="*/ 1086416 w 1086416"/>
              <a:gd name="connsiteY2" fmla="*/ 398352 h 796705"/>
              <a:gd name="connsiteX3" fmla="*/ 642796 w 1086416"/>
              <a:gd name="connsiteY3" fmla="*/ 660903 h 796705"/>
              <a:gd name="connsiteX4" fmla="*/ 642796 w 1086416"/>
              <a:gd name="connsiteY4" fmla="*/ 470780 h 796705"/>
              <a:gd name="connsiteX5" fmla="*/ 0 w 1086416"/>
              <a:gd name="connsiteY5" fmla="*/ 796705 h 796705"/>
              <a:gd name="connsiteX6" fmla="*/ 9053 w 1086416"/>
              <a:gd name="connsiteY6" fmla="*/ 0 h 796705"/>
              <a:gd name="connsiteX7" fmla="*/ 660903 w 1086416"/>
              <a:gd name="connsiteY7" fmla="*/ 289711 h 796705"/>
              <a:gd name="connsiteX0" fmla="*/ 660903 w 905347"/>
              <a:gd name="connsiteY0" fmla="*/ 289711 h 796705"/>
              <a:gd name="connsiteX1" fmla="*/ 651849 w 905347"/>
              <a:gd name="connsiteY1" fmla="*/ 108641 h 796705"/>
              <a:gd name="connsiteX2" fmla="*/ 905347 w 905347"/>
              <a:gd name="connsiteY2" fmla="*/ 407405 h 796705"/>
              <a:gd name="connsiteX3" fmla="*/ 642796 w 905347"/>
              <a:gd name="connsiteY3" fmla="*/ 660903 h 796705"/>
              <a:gd name="connsiteX4" fmla="*/ 642796 w 905347"/>
              <a:gd name="connsiteY4" fmla="*/ 470780 h 796705"/>
              <a:gd name="connsiteX5" fmla="*/ 0 w 905347"/>
              <a:gd name="connsiteY5" fmla="*/ 796705 h 796705"/>
              <a:gd name="connsiteX6" fmla="*/ 9053 w 905347"/>
              <a:gd name="connsiteY6" fmla="*/ 0 h 796705"/>
              <a:gd name="connsiteX7" fmla="*/ 660903 w 905347"/>
              <a:gd name="connsiteY7" fmla="*/ 289711 h 796705"/>
              <a:gd name="connsiteX0" fmla="*/ 737371 w 981815"/>
              <a:gd name="connsiteY0" fmla="*/ 289711 h 807313"/>
              <a:gd name="connsiteX1" fmla="*/ 728317 w 981815"/>
              <a:gd name="connsiteY1" fmla="*/ 108641 h 807313"/>
              <a:gd name="connsiteX2" fmla="*/ 981815 w 981815"/>
              <a:gd name="connsiteY2" fmla="*/ 407405 h 807313"/>
              <a:gd name="connsiteX3" fmla="*/ 719264 w 981815"/>
              <a:gd name="connsiteY3" fmla="*/ 660903 h 807313"/>
              <a:gd name="connsiteX4" fmla="*/ 719264 w 981815"/>
              <a:gd name="connsiteY4" fmla="*/ 470780 h 807313"/>
              <a:gd name="connsiteX5" fmla="*/ 76468 w 981815"/>
              <a:gd name="connsiteY5" fmla="*/ 796705 h 807313"/>
              <a:gd name="connsiteX6" fmla="*/ 85521 w 981815"/>
              <a:gd name="connsiteY6" fmla="*/ 0 h 807313"/>
              <a:gd name="connsiteX7" fmla="*/ 737371 w 981815"/>
              <a:gd name="connsiteY7" fmla="*/ 289711 h 807313"/>
              <a:gd name="connsiteX0" fmla="*/ 696694 w 941138"/>
              <a:gd name="connsiteY0" fmla="*/ 289711 h 816582"/>
              <a:gd name="connsiteX1" fmla="*/ 687640 w 941138"/>
              <a:gd name="connsiteY1" fmla="*/ 108641 h 816582"/>
              <a:gd name="connsiteX2" fmla="*/ 941138 w 941138"/>
              <a:gd name="connsiteY2" fmla="*/ 407405 h 816582"/>
              <a:gd name="connsiteX3" fmla="*/ 678587 w 941138"/>
              <a:gd name="connsiteY3" fmla="*/ 660903 h 816582"/>
              <a:gd name="connsiteX4" fmla="*/ 678587 w 941138"/>
              <a:gd name="connsiteY4" fmla="*/ 470780 h 816582"/>
              <a:gd name="connsiteX5" fmla="*/ 35791 w 941138"/>
              <a:gd name="connsiteY5" fmla="*/ 796705 h 816582"/>
              <a:gd name="connsiteX6" fmla="*/ 44844 w 941138"/>
              <a:gd name="connsiteY6" fmla="*/ 0 h 816582"/>
              <a:gd name="connsiteX7" fmla="*/ 696694 w 941138"/>
              <a:gd name="connsiteY7" fmla="*/ 289711 h 816582"/>
              <a:gd name="connsiteX0" fmla="*/ 707101 w 951545"/>
              <a:gd name="connsiteY0" fmla="*/ 289711 h 797976"/>
              <a:gd name="connsiteX1" fmla="*/ 698047 w 951545"/>
              <a:gd name="connsiteY1" fmla="*/ 108641 h 797976"/>
              <a:gd name="connsiteX2" fmla="*/ 951545 w 951545"/>
              <a:gd name="connsiteY2" fmla="*/ 407405 h 797976"/>
              <a:gd name="connsiteX3" fmla="*/ 688994 w 951545"/>
              <a:gd name="connsiteY3" fmla="*/ 660903 h 797976"/>
              <a:gd name="connsiteX4" fmla="*/ 688994 w 951545"/>
              <a:gd name="connsiteY4" fmla="*/ 470780 h 797976"/>
              <a:gd name="connsiteX5" fmla="*/ 46198 w 951545"/>
              <a:gd name="connsiteY5" fmla="*/ 796705 h 797976"/>
              <a:gd name="connsiteX6" fmla="*/ 55251 w 951545"/>
              <a:gd name="connsiteY6" fmla="*/ 0 h 797976"/>
              <a:gd name="connsiteX7" fmla="*/ 707101 w 951545"/>
              <a:gd name="connsiteY7" fmla="*/ 289711 h 797976"/>
              <a:gd name="connsiteX0" fmla="*/ 707101 w 951545"/>
              <a:gd name="connsiteY0" fmla="*/ 289711 h 806997"/>
              <a:gd name="connsiteX1" fmla="*/ 698047 w 951545"/>
              <a:gd name="connsiteY1" fmla="*/ 108641 h 806997"/>
              <a:gd name="connsiteX2" fmla="*/ 951545 w 951545"/>
              <a:gd name="connsiteY2" fmla="*/ 407405 h 806997"/>
              <a:gd name="connsiteX3" fmla="*/ 688994 w 951545"/>
              <a:gd name="connsiteY3" fmla="*/ 660903 h 806997"/>
              <a:gd name="connsiteX4" fmla="*/ 688994 w 951545"/>
              <a:gd name="connsiteY4" fmla="*/ 470780 h 806997"/>
              <a:gd name="connsiteX5" fmla="*/ 46198 w 951545"/>
              <a:gd name="connsiteY5" fmla="*/ 805759 h 806997"/>
              <a:gd name="connsiteX6" fmla="*/ 55251 w 951545"/>
              <a:gd name="connsiteY6" fmla="*/ 0 h 806997"/>
              <a:gd name="connsiteX7" fmla="*/ 707101 w 951545"/>
              <a:gd name="connsiteY7" fmla="*/ 289711 h 806997"/>
              <a:gd name="connsiteX0" fmla="*/ 713534 w 957978"/>
              <a:gd name="connsiteY0" fmla="*/ 289711 h 825044"/>
              <a:gd name="connsiteX1" fmla="*/ 704480 w 957978"/>
              <a:gd name="connsiteY1" fmla="*/ 108641 h 825044"/>
              <a:gd name="connsiteX2" fmla="*/ 957978 w 957978"/>
              <a:gd name="connsiteY2" fmla="*/ 407405 h 825044"/>
              <a:gd name="connsiteX3" fmla="*/ 695427 w 957978"/>
              <a:gd name="connsiteY3" fmla="*/ 660903 h 825044"/>
              <a:gd name="connsiteX4" fmla="*/ 695427 w 957978"/>
              <a:gd name="connsiteY4" fmla="*/ 470780 h 825044"/>
              <a:gd name="connsiteX5" fmla="*/ 34524 w 957978"/>
              <a:gd name="connsiteY5" fmla="*/ 823866 h 825044"/>
              <a:gd name="connsiteX6" fmla="*/ 61684 w 957978"/>
              <a:gd name="connsiteY6" fmla="*/ 0 h 825044"/>
              <a:gd name="connsiteX7" fmla="*/ 713534 w 957978"/>
              <a:gd name="connsiteY7" fmla="*/ 289711 h 825044"/>
              <a:gd name="connsiteX0" fmla="*/ 837387 w 1081831"/>
              <a:gd name="connsiteY0" fmla="*/ 289711 h 876824"/>
              <a:gd name="connsiteX1" fmla="*/ 828333 w 1081831"/>
              <a:gd name="connsiteY1" fmla="*/ 108641 h 876824"/>
              <a:gd name="connsiteX2" fmla="*/ 1081831 w 1081831"/>
              <a:gd name="connsiteY2" fmla="*/ 407405 h 876824"/>
              <a:gd name="connsiteX3" fmla="*/ 819280 w 1081831"/>
              <a:gd name="connsiteY3" fmla="*/ 660903 h 876824"/>
              <a:gd name="connsiteX4" fmla="*/ 819280 w 1081831"/>
              <a:gd name="connsiteY4" fmla="*/ 470780 h 876824"/>
              <a:gd name="connsiteX5" fmla="*/ 158377 w 1081831"/>
              <a:gd name="connsiteY5" fmla="*/ 823866 h 876824"/>
              <a:gd name="connsiteX6" fmla="*/ 185537 w 1081831"/>
              <a:gd name="connsiteY6" fmla="*/ 0 h 876824"/>
              <a:gd name="connsiteX7" fmla="*/ 837387 w 1081831"/>
              <a:gd name="connsiteY7" fmla="*/ 289711 h 876824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997563 w 1242007"/>
              <a:gd name="connsiteY0" fmla="*/ 289711 h 886568"/>
              <a:gd name="connsiteX1" fmla="*/ 988509 w 1242007"/>
              <a:gd name="connsiteY1" fmla="*/ 108641 h 886568"/>
              <a:gd name="connsiteX2" fmla="*/ 1242007 w 1242007"/>
              <a:gd name="connsiteY2" fmla="*/ 407405 h 886568"/>
              <a:gd name="connsiteX3" fmla="*/ 979456 w 1242007"/>
              <a:gd name="connsiteY3" fmla="*/ 660903 h 886568"/>
              <a:gd name="connsiteX4" fmla="*/ 979456 w 1242007"/>
              <a:gd name="connsiteY4" fmla="*/ 470780 h 886568"/>
              <a:gd name="connsiteX5" fmla="*/ 318553 w 1242007"/>
              <a:gd name="connsiteY5" fmla="*/ 823866 h 886568"/>
              <a:gd name="connsiteX6" fmla="*/ 345713 w 1242007"/>
              <a:gd name="connsiteY6" fmla="*/ 0 h 886568"/>
              <a:gd name="connsiteX7" fmla="*/ 997563 w 1242007"/>
              <a:gd name="connsiteY7" fmla="*/ 289711 h 886568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05624 w 1050068"/>
              <a:gd name="connsiteY0" fmla="*/ 289711 h 823866"/>
              <a:gd name="connsiteX1" fmla="*/ 796570 w 1050068"/>
              <a:gd name="connsiteY1" fmla="*/ 108641 h 823866"/>
              <a:gd name="connsiteX2" fmla="*/ 1050068 w 1050068"/>
              <a:gd name="connsiteY2" fmla="*/ 407405 h 823866"/>
              <a:gd name="connsiteX3" fmla="*/ 787517 w 1050068"/>
              <a:gd name="connsiteY3" fmla="*/ 660903 h 823866"/>
              <a:gd name="connsiteX4" fmla="*/ 787517 w 1050068"/>
              <a:gd name="connsiteY4" fmla="*/ 470780 h 823866"/>
              <a:gd name="connsiteX5" fmla="*/ 126614 w 1050068"/>
              <a:gd name="connsiteY5" fmla="*/ 823866 h 823866"/>
              <a:gd name="connsiteX6" fmla="*/ 153774 w 1050068"/>
              <a:gd name="connsiteY6" fmla="*/ 0 h 823866"/>
              <a:gd name="connsiteX7" fmla="*/ 805624 w 1050068"/>
              <a:gd name="connsiteY7" fmla="*/ 289711 h 823866"/>
              <a:gd name="connsiteX0" fmla="*/ 842323 w 1086767"/>
              <a:gd name="connsiteY0" fmla="*/ 289711 h 823866"/>
              <a:gd name="connsiteX1" fmla="*/ 833269 w 1086767"/>
              <a:gd name="connsiteY1" fmla="*/ 108641 h 823866"/>
              <a:gd name="connsiteX2" fmla="*/ 1086767 w 1086767"/>
              <a:gd name="connsiteY2" fmla="*/ 407405 h 823866"/>
              <a:gd name="connsiteX3" fmla="*/ 824216 w 1086767"/>
              <a:gd name="connsiteY3" fmla="*/ 660903 h 823866"/>
              <a:gd name="connsiteX4" fmla="*/ 824216 w 1086767"/>
              <a:gd name="connsiteY4" fmla="*/ 470780 h 823866"/>
              <a:gd name="connsiteX5" fmla="*/ 163313 w 1086767"/>
              <a:gd name="connsiteY5" fmla="*/ 823866 h 823866"/>
              <a:gd name="connsiteX6" fmla="*/ 190473 w 1086767"/>
              <a:gd name="connsiteY6" fmla="*/ 0 h 823866"/>
              <a:gd name="connsiteX7" fmla="*/ 842323 w 1086767"/>
              <a:gd name="connsiteY7" fmla="*/ 289711 h 823866"/>
              <a:gd name="connsiteX0" fmla="*/ 858475 w 1102919"/>
              <a:gd name="connsiteY0" fmla="*/ 289711 h 823866"/>
              <a:gd name="connsiteX1" fmla="*/ 849421 w 1102919"/>
              <a:gd name="connsiteY1" fmla="*/ 108641 h 823866"/>
              <a:gd name="connsiteX2" fmla="*/ 1102919 w 1102919"/>
              <a:gd name="connsiteY2" fmla="*/ 407405 h 823866"/>
              <a:gd name="connsiteX3" fmla="*/ 840368 w 1102919"/>
              <a:gd name="connsiteY3" fmla="*/ 660903 h 823866"/>
              <a:gd name="connsiteX4" fmla="*/ 840368 w 1102919"/>
              <a:gd name="connsiteY4" fmla="*/ 470780 h 823866"/>
              <a:gd name="connsiteX5" fmla="*/ 179465 w 1102919"/>
              <a:gd name="connsiteY5" fmla="*/ 823866 h 823866"/>
              <a:gd name="connsiteX6" fmla="*/ 206625 w 1102919"/>
              <a:gd name="connsiteY6" fmla="*/ 0 h 823866"/>
              <a:gd name="connsiteX7" fmla="*/ 858475 w 1102919"/>
              <a:gd name="connsiteY7" fmla="*/ 289711 h 823866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68066 w 1112510"/>
              <a:gd name="connsiteY0" fmla="*/ 289711 h 760491"/>
              <a:gd name="connsiteX1" fmla="*/ 859012 w 1112510"/>
              <a:gd name="connsiteY1" fmla="*/ 108641 h 760491"/>
              <a:gd name="connsiteX2" fmla="*/ 1112510 w 1112510"/>
              <a:gd name="connsiteY2" fmla="*/ 407405 h 760491"/>
              <a:gd name="connsiteX3" fmla="*/ 849959 w 1112510"/>
              <a:gd name="connsiteY3" fmla="*/ 660903 h 760491"/>
              <a:gd name="connsiteX4" fmla="*/ 849959 w 1112510"/>
              <a:gd name="connsiteY4" fmla="*/ 470780 h 760491"/>
              <a:gd name="connsiteX5" fmla="*/ 170949 w 1112510"/>
              <a:gd name="connsiteY5" fmla="*/ 760491 h 760491"/>
              <a:gd name="connsiteX6" fmla="*/ 216216 w 1112510"/>
              <a:gd name="connsiteY6" fmla="*/ 0 h 760491"/>
              <a:gd name="connsiteX7" fmla="*/ 868066 w 1112510"/>
              <a:gd name="connsiteY7" fmla="*/ 289711 h 760491"/>
              <a:gd name="connsiteX0" fmla="*/ 836584 w 1081028"/>
              <a:gd name="connsiteY0" fmla="*/ 289711 h 760491"/>
              <a:gd name="connsiteX1" fmla="*/ 827530 w 1081028"/>
              <a:gd name="connsiteY1" fmla="*/ 108641 h 760491"/>
              <a:gd name="connsiteX2" fmla="*/ 1081028 w 1081028"/>
              <a:gd name="connsiteY2" fmla="*/ 407405 h 760491"/>
              <a:gd name="connsiteX3" fmla="*/ 818477 w 1081028"/>
              <a:gd name="connsiteY3" fmla="*/ 660903 h 760491"/>
              <a:gd name="connsiteX4" fmla="*/ 818477 w 1081028"/>
              <a:gd name="connsiteY4" fmla="*/ 470780 h 760491"/>
              <a:gd name="connsiteX5" fmla="*/ 202841 w 1081028"/>
              <a:gd name="connsiteY5" fmla="*/ 760491 h 760491"/>
              <a:gd name="connsiteX6" fmla="*/ 184734 w 1081028"/>
              <a:gd name="connsiteY6" fmla="*/ 0 h 760491"/>
              <a:gd name="connsiteX7" fmla="*/ 836584 w 1081028"/>
              <a:gd name="connsiteY7" fmla="*/ 289711 h 760491"/>
              <a:gd name="connsiteX0" fmla="*/ 849362 w 1093806"/>
              <a:gd name="connsiteY0" fmla="*/ 289711 h 769545"/>
              <a:gd name="connsiteX1" fmla="*/ 840308 w 1093806"/>
              <a:gd name="connsiteY1" fmla="*/ 108641 h 769545"/>
              <a:gd name="connsiteX2" fmla="*/ 1093806 w 1093806"/>
              <a:gd name="connsiteY2" fmla="*/ 407405 h 769545"/>
              <a:gd name="connsiteX3" fmla="*/ 831255 w 1093806"/>
              <a:gd name="connsiteY3" fmla="*/ 660903 h 769545"/>
              <a:gd name="connsiteX4" fmla="*/ 831255 w 1093806"/>
              <a:gd name="connsiteY4" fmla="*/ 470780 h 769545"/>
              <a:gd name="connsiteX5" fmla="*/ 188459 w 1093806"/>
              <a:gd name="connsiteY5" fmla="*/ 769545 h 769545"/>
              <a:gd name="connsiteX6" fmla="*/ 197512 w 1093806"/>
              <a:gd name="connsiteY6" fmla="*/ 0 h 769545"/>
              <a:gd name="connsiteX7" fmla="*/ 849362 w 1093806"/>
              <a:gd name="connsiteY7" fmla="*/ 289711 h 769545"/>
              <a:gd name="connsiteX0" fmla="*/ 840369 w 1084813"/>
              <a:gd name="connsiteY0" fmla="*/ 253497 h 733331"/>
              <a:gd name="connsiteX1" fmla="*/ 831315 w 1084813"/>
              <a:gd name="connsiteY1" fmla="*/ 72427 h 733331"/>
              <a:gd name="connsiteX2" fmla="*/ 1084813 w 1084813"/>
              <a:gd name="connsiteY2" fmla="*/ 371191 h 733331"/>
              <a:gd name="connsiteX3" fmla="*/ 822262 w 1084813"/>
              <a:gd name="connsiteY3" fmla="*/ 624689 h 733331"/>
              <a:gd name="connsiteX4" fmla="*/ 822262 w 1084813"/>
              <a:gd name="connsiteY4" fmla="*/ 434566 h 733331"/>
              <a:gd name="connsiteX5" fmla="*/ 179466 w 1084813"/>
              <a:gd name="connsiteY5" fmla="*/ 733331 h 733331"/>
              <a:gd name="connsiteX6" fmla="*/ 206626 w 1084813"/>
              <a:gd name="connsiteY6" fmla="*/ 0 h 733331"/>
              <a:gd name="connsiteX7" fmla="*/ 840369 w 1084813"/>
              <a:gd name="connsiteY7" fmla="*/ 253497 h 733331"/>
              <a:gd name="connsiteX0" fmla="*/ 850463 w 1094907"/>
              <a:gd name="connsiteY0" fmla="*/ 253497 h 733331"/>
              <a:gd name="connsiteX1" fmla="*/ 841409 w 1094907"/>
              <a:gd name="connsiteY1" fmla="*/ 72427 h 733331"/>
              <a:gd name="connsiteX2" fmla="*/ 1094907 w 1094907"/>
              <a:gd name="connsiteY2" fmla="*/ 371191 h 733331"/>
              <a:gd name="connsiteX3" fmla="*/ 832356 w 1094907"/>
              <a:gd name="connsiteY3" fmla="*/ 624689 h 733331"/>
              <a:gd name="connsiteX4" fmla="*/ 832356 w 1094907"/>
              <a:gd name="connsiteY4" fmla="*/ 434566 h 733331"/>
              <a:gd name="connsiteX5" fmla="*/ 189560 w 1094907"/>
              <a:gd name="connsiteY5" fmla="*/ 733331 h 733331"/>
              <a:gd name="connsiteX6" fmla="*/ 216720 w 1094907"/>
              <a:gd name="connsiteY6" fmla="*/ 0 h 733331"/>
              <a:gd name="connsiteX7" fmla="*/ 850463 w 1094907"/>
              <a:gd name="connsiteY7" fmla="*/ 253497 h 733331"/>
              <a:gd name="connsiteX0" fmla="*/ 847098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47098 w 1091542"/>
              <a:gd name="connsiteY7" fmla="*/ 253497 h 733331"/>
              <a:gd name="connsiteX0" fmla="*/ 838045 w 1091542"/>
              <a:gd name="connsiteY0" fmla="*/ 253497 h 733331"/>
              <a:gd name="connsiteX1" fmla="*/ 838044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1993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38045 w 1091542"/>
              <a:gd name="connsiteY0" fmla="*/ 253497 h 733331"/>
              <a:gd name="connsiteX1" fmla="*/ 847098 w 1091542"/>
              <a:gd name="connsiteY1" fmla="*/ 72427 h 733331"/>
              <a:gd name="connsiteX2" fmla="*/ 1091542 w 1091542"/>
              <a:gd name="connsiteY2" fmla="*/ 371191 h 733331"/>
              <a:gd name="connsiteX3" fmla="*/ 828991 w 1091542"/>
              <a:gd name="connsiteY3" fmla="*/ 624689 h 733331"/>
              <a:gd name="connsiteX4" fmla="*/ 828991 w 1091542"/>
              <a:gd name="connsiteY4" fmla="*/ 434566 h 733331"/>
              <a:gd name="connsiteX5" fmla="*/ 186195 w 1091542"/>
              <a:gd name="connsiteY5" fmla="*/ 733331 h 733331"/>
              <a:gd name="connsiteX6" fmla="*/ 213355 w 1091542"/>
              <a:gd name="connsiteY6" fmla="*/ 0 h 733331"/>
              <a:gd name="connsiteX7" fmla="*/ 838045 w 1091542"/>
              <a:gd name="connsiteY7" fmla="*/ 253497 h 733331"/>
              <a:gd name="connsiteX0" fmla="*/ 852396 w 1105893"/>
              <a:gd name="connsiteY0" fmla="*/ 289711 h 769545"/>
              <a:gd name="connsiteX1" fmla="*/ 861449 w 1105893"/>
              <a:gd name="connsiteY1" fmla="*/ 108641 h 769545"/>
              <a:gd name="connsiteX2" fmla="*/ 1105893 w 1105893"/>
              <a:gd name="connsiteY2" fmla="*/ 407405 h 769545"/>
              <a:gd name="connsiteX3" fmla="*/ 843342 w 1105893"/>
              <a:gd name="connsiteY3" fmla="*/ 660903 h 769545"/>
              <a:gd name="connsiteX4" fmla="*/ 843342 w 1105893"/>
              <a:gd name="connsiteY4" fmla="*/ 470780 h 769545"/>
              <a:gd name="connsiteX5" fmla="*/ 200546 w 1105893"/>
              <a:gd name="connsiteY5" fmla="*/ 769545 h 769545"/>
              <a:gd name="connsiteX6" fmla="*/ 200546 w 1105893"/>
              <a:gd name="connsiteY6" fmla="*/ 0 h 769545"/>
              <a:gd name="connsiteX7" fmla="*/ 852396 w 1105893"/>
              <a:gd name="connsiteY7" fmla="*/ 289711 h 769545"/>
              <a:gd name="connsiteX0" fmla="*/ 834715 w 1088212"/>
              <a:gd name="connsiteY0" fmla="*/ 289711 h 769545"/>
              <a:gd name="connsiteX1" fmla="*/ 843768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34715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34715 w 1088212"/>
              <a:gd name="connsiteY7" fmla="*/ 289711 h 769545"/>
              <a:gd name="connsiteX0" fmla="*/ 823411 w 1088212"/>
              <a:gd name="connsiteY0" fmla="*/ 289711 h 769545"/>
              <a:gd name="connsiteX1" fmla="*/ 826811 w 1088212"/>
              <a:gd name="connsiteY1" fmla="*/ 108641 h 769545"/>
              <a:gd name="connsiteX2" fmla="*/ 1088212 w 1088212"/>
              <a:gd name="connsiteY2" fmla="*/ 407405 h 769545"/>
              <a:gd name="connsiteX3" fmla="*/ 825661 w 1088212"/>
              <a:gd name="connsiteY3" fmla="*/ 660903 h 769545"/>
              <a:gd name="connsiteX4" fmla="*/ 825661 w 1088212"/>
              <a:gd name="connsiteY4" fmla="*/ 470780 h 769545"/>
              <a:gd name="connsiteX5" fmla="*/ 182865 w 1088212"/>
              <a:gd name="connsiteY5" fmla="*/ 769545 h 769545"/>
              <a:gd name="connsiteX6" fmla="*/ 182865 w 1088212"/>
              <a:gd name="connsiteY6" fmla="*/ 0 h 769545"/>
              <a:gd name="connsiteX7" fmla="*/ 823411 w 1088212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60903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3411 w 1071255"/>
              <a:gd name="connsiteY0" fmla="*/ 289711 h 769545"/>
              <a:gd name="connsiteX1" fmla="*/ 826811 w 1071255"/>
              <a:gd name="connsiteY1" fmla="*/ 108641 h 769545"/>
              <a:gd name="connsiteX2" fmla="*/ 1071255 w 1071255"/>
              <a:gd name="connsiteY2" fmla="*/ 380762 h 769545"/>
              <a:gd name="connsiteX3" fmla="*/ 825661 w 1071255"/>
              <a:gd name="connsiteY3" fmla="*/ 647581 h 769545"/>
              <a:gd name="connsiteX4" fmla="*/ 825661 w 1071255"/>
              <a:gd name="connsiteY4" fmla="*/ 470780 h 769545"/>
              <a:gd name="connsiteX5" fmla="*/ 182865 w 1071255"/>
              <a:gd name="connsiteY5" fmla="*/ 769545 h 769545"/>
              <a:gd name="connsiteX6" fmla="*/ 182865 w 1071255"/>
              <a:gd name="connsiteY6" fmla="*/ 0 h 769545"/>
              <a:gd name="connsiteX7" fmla="*/ 823411 w 1071255"/>
              <a:gd name="connsiteY7" fmla="*/ 289711 h 769545"/>
              <a:gd name="connsiteX0" fmla="*/ 826163 w 1074007"/>
              <a:gd name="connsiteY0" fmla="*/ 289711 h 756223"/>
              <a:gd name="connsiteX1" fmla="*/ 829563 w 1074007"/>
              <a:gd name="connsiteY1" fmla="*/ 108641 h 756223"/>
              <a:gd name="connsiteX2" fmla="*/ 1074007 w 1074007"/>
              <a:gd name="connsiteY2" fmla="*/ 380762 h 756223"/>
              <a:gd name="connsiteX3" fmla="*/ 828413 w 1074007"/>
              <a:gd name="connsiteY3" fmla="*/ 647581 h 756223"/>
              <a:gd name="connsiteX4" fmla="*/ 828413 w 1074007"/>
              <a:gd name="connsiteY4" fmla="*/ 470780 h 756223"/>
              <a:gd name="connsiteX5" fmla="*/ 179964 w 1074007"/>
              <a:gd name="connsiteY5" fmla="*/ 756223 h 756223"/>
              <a:gd name="connsiteX6" fmla="*/ 185617 w 1074007"/>
              <a:gd name="connsiteY6" fmla="*/ 0 h 756223"/>
              <a:gd name="connsiteX7" fmla="*/ 826163 w 1074007"/>
              <a:gd name="connsiteY7" fmla="*/ 289711 h 756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4007" h="756223">
                <a:moveTo>
                  <a:pt x="826163" y="289711"/>
                </a:moveTo>
                <a:cubicBezTo>
                  <a:pt x="826163" y="229354"/>
                  <a:pt x="829563" y="168998"/>
                  <a:pt x="829563" y="108641"/>
                </a:cubicBezTo>
                <a:lnTo>
                  <a:pt x="1074007" y="380762"/>
                </a:lnTo>
                <a:lnTo>
                  <a:pt x="828413" y="647581"/>
                </a:lnTo>
                <a:lnTo>
                  <a:pt x="828413" y="470780"/>
                </a:lnTo>
                <a:cubicBezTo>
                  <a:pt x="721280" y="493414"/>
                  <a:pt x="510415" y="579680"/>
                  <a:pt x="179964" y="756223"/>
                </a:cubicBezTo>
                <a:cubicBezTo>
                  <a:pt x="-52409" y="505745"/>
                  <a:pt x="-69387" y="256515"/>
                  <a:pt x="185617" y="0"/>
                </a:cubicBezTo>
                <a:lnTo>
                  <a:pt x="826163" y="289711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2F2F2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076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17FA-059E-2E9C-F765-2F2DF2D3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A2D5-EA6E-1243-1C9D-F1CC4F8E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2 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DLH Platform – Architectural Influences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694626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C7F483-C919-D4A2-4199-335DF8F5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66256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Why a Consumption Architecture</a:t>
            </a:r>
            <a:endParaRPr lang="en-US" sz="2200">
              <a:latin typeface="Segoe UI Semibold"/>
              <a:cs typeface="Segoe UI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2D395-2724-CA24-D4BE-480E608229F1}"/>
              </a:ext>
            </a:extLst>
          </p:cNvPr>
          <p:cNvSpPr txBox="1"/>
          <p:nvPr/>
        </p:nvSpPr>
        <p:spPr>
          <a:xfrm>
            <a:off x="192464" y="1989785"/>
            <a:ext cx="30447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Enterprise-Controlled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Single, governed DLH consumption layer — no direct extracts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CDM-based Data Products as the authoritative enterprise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Controlled schema evolution with versioning and stability guarantees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Stable interfaces that protect downstream consumers</a:t>
            </a:r>
          </a:p>
          <a:p>
            <a:endParaRPr lang="en-US" sz="1400" b="1"/>
          </a:p>
          <a:p>
            <a:endParaRPr lang="en-US" sz="1400" b="1"/>
          </a:p>
          <a:p>
            <a:r>
              <a:rPr lang="en-US" sz="1400" b="1">
                <a:solidFill>
                  <a:schemeClr val="tx2"/>
                </a:solidFill>
              </a:rPr>
              <a:t>Delivers:</a:t>
            </a:r>
            <a:r>
              <a:rPr lang="en-US" sz="1400"/>
              <a:t> Consistency, change protection, and architectural discipline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15C4A-A7BF-8188-7F93-30B9882E3A92}"/>
              </a:ext>
            </a:extLst>
          </p:cNvPr>
          <p:cNvSpPr txBox="1"/>
          <p:nvPr/>
        </p:nvSpPr>
        <p:spPr>
          <a:xfrm>
            <a:off x="26007" y="602751"/>
            <a:ext cx="79138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Grounding Tenet:</a:t>
            </a:r>
            <a:r>
              <a:rPr lang="en-US" sz="1600" b="1"/>
              <a:t> </a:t>
            </a:r>
          </a:p>
          <a:p>
            <a:r>
              <a:rPr lang="en-US" sz="1200"/>
              <a:t>To standardize how the enterprise consumes data — with governance, reuse, auditability, and scalability built 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0C5247-AC8D-C857-BF10-4FE56F4B27D9}"/>
              </a:ext>
            </a:extLst>
          </p:cNvPr>
          <p:cNvSpPr txBox="1"/>
          <p:nvPr/>
        </p:nvSpPr>
        <p:spPr>
          <a:xfrm>
            <a:off x="3263196" y="1989784"/>
            <a:ext cx="3044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Reuse by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Reusable filtering, aggregation, enrichment, and reconciliation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Data quality and governance logic implemented once, reused everywhere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Cross-domain alignment through canonical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Eliminates one-off pipelines and duplicated transformation logic</a:t>
            </a:r>
          </a:p>
          <a:p>
            <a:endParaRPr lang="en-US" sz="1400" b="1"/>
          </a:p>
          <a:p>
            <a:r>
              <a:rPr lang="en-US" sz="1400" b="1">
                <a:solidFill>
                  <a:schemeClr val="tx2"/>
                </a:solidFill>
              </a:rPr>
              <a:t>Delivers:</a:t>
            </a:r>
            <a:r>
              <a:rPr lang="en-US" sz="1400"/>
              <a:t> Lower cost, faster onboarding, reduced technical debt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2ABA-941D-2621-11A4-B79452FD2512}"/>
              </a:ext>
            </a:extLst>
          </p:cNvPr>
          <p:cNvSpPr txBox="1"/>
          <p:nvPr/>
        </p:nvSpPr>
        <p:spPr>
          <a:xfrm>
            <a:off x="6142433" y="1989784"/>
            <a:ext cx="3044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Audit-Ready by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Built-in lineage, quality validation, and execution status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Centralized monitoring and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Accountable SLAs (freshness, latency, completeness)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Compliance and AI oversight embedded into runtime</a:t>
            </a:r>
          </a:p>
          <a:p>
            <a:endParaRPr lang="en-US" sz="1400" b="1"/>
          </a:p>
          <a:p>
            <a:endParaRPr lang="en-US" sz="1400" b="1"/>
          </a:p>
          <a:p>
            <a:endParaRPr lang="en-US" sz="1400" b="1"/>
          </a:p>
          <a:p>
            <a:r>
              <a:rPr lang="en-US" sz="1400" b="1">
                <a:solidFill>
                  <a:schemeClr val="tx2"/>
                </a:solidFill>
              </a:rPr>
              <a:t>Delivers:</a:t>
            </a:r>
            <a:r>
              <a:rPr lang="en-US" sz="1400"/>
              <a:t> Regulatory confidence and operational transparency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D9AC6-C2D9-38DF-F00D-32B46EC924EA}"/>
              </a:ext>
            </a:extLst>
          </p:cNvPr>
          <p:cNvSpPr txBox="1"/>
          <p:nvPr/>
        </p:nvSpPr>
        <p:spPr>
          <a:xfrm>
            <a:off x="9088510" y="1989784"/>
            <a:ext cx="30447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Scalable, Resilient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Supports simple and complex use cases without custom builds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Protects upstream systems from ad-hoc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Uniformly supports analytics, operational APIs, and AI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Designed for enterprise IT transformation readiness</a:t>
            </a:r>
          </a:p>
          <a:p>
            <a:endParaRPr lang="en-US" sz="1400" b="1"/>
          </a:p>
          <a:p>
            <a:endParaRPr lang="en-US" sz="1400" b="1"/>
          </a:p>
          <a:p>
            <a:endParaRPr lang="en-US" sz="1400" b="1"/>
          </a:p>
          <a:p>
            <a:r>
              <a:rPr lang="en-US" sz="1400" b="1">
                <a:solidFill>
                  <a:schemeClr val="tx2"/>
                </a:solidFill>
              </a:rPr>
              <a:t>Delivers:</a:t>
            </a:r>
            <a:r>
              <a:rPr lang="en-US" sz="1400"/>
              <a:t> Enterprise scale without architectural chaos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C70B2F-BBBA-4D21-3C6D-DD689207BA4A}"/>
              </a:ext>
            </a:extLst>
          </p:cNvPr>
          <p:cNvSpPr txBox="1"/>
          <p:nvPr/>
        </p:nvSpPr>
        <p:spPr>
          <a:xfrm>
            <a:off x="3236309" y="6556694"/>
            <a:ext cx="6143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/>
              <a:t>A consumption architecture ensures Navitus scales with control — not complexity</a:t>
            </a:r>
          </a:p>
        </p:txBody>
      </p:sp>
    </p:spTree>
    <p:extLst>
      <p:ext uri="{BB962C8B-B14F-4D97-AF65-F5344CB8AC3E}">
        <p14:creationId xmlns:p14="http://schemas.microsoft.com/office/powerpoint/2010/main" val="1977243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980B88-4B38-1D95-3385-81F87CB0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92597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From Ingestion-Driven to Outcome-Driven Architecture</a:t>
            </a:r>
            <a:br>
              <a:rPr lang="en-US"/>
            </a:br>
            <a:r>
              <a:rPr lang="en-US" sz="2200"/>
              <a:t>Right-to-Left Thinking: Designing from the Product Back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EB10B-65CD-A5CB-5EFA-2F772584BE2C}"/>
              </a:ext>
            </a:extLst>
          </p:cNvPr>
          <p:cNvSpPr txBox="1"/>
          <p:nvPr/>
        </p:nvSpPr>
        <p:spPr>
          <a:xfrm>
            <a:off x="3545325" y="6526903"/>
            <a:ext cx="6143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>
                <a:latin typeface="Segoe UI Semilight" panose="020B0402040204020203" pitchFamily="34" charset="0"/>
                <a:cs typeface="Segoe UI Semilight" panose="020B0402040204020203" pitchFamily="34" charset="0"/>
              </a:rPr>
              <a:t>Data Products align platform investment to business outcomes — not source systems</a:t>
            </a:r>
            <a:endParaRPr lang="en-US" sz="11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AE5B0-C5D6-9078-6C21-142BD93CABAB}"/>
              </a:ext>
            </a:extLst>
          </p:cNvPr>
          <p:cNvSpPr txBox="1"/>
          <p:nvPr/>
        </p:nvSpPr>
        <p:spPr>
          <a:xfrm>
            <a:off x="3048744" y="4134115"/>
            <a:ext cx="5617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Core Shift</a:t>
            </a:r>
          </a:p>
          <a:p>
            <a:endParaRPr lang="en-US" sz="600" b="1">
              <a:solidFill>
                <a:schemeClr val="tx2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pPr>
              <a:buClr>
                <a:schemeClr val="accent1"/>
              </a:buClr>
            </a:pPr>
            <a:r>
              <a:rPr lang="en-US" sz="1200">
                <a:latin typeface="Segoe UI Semilight" panose="020B0402040204020203" pitchFamily="34" charset="0"/>
                <a:cs typeface="Segoe UI Semilight" panose="020B0402040204020203" pitchFamily="34" charset="0"/>
              </a:rPr>
              <a:t>From		            To</a:t>
            </a:r>
          </a:p>
          <a:p>
            <a:pPr lvl="1">
              <a:buClr>
                <a:schemeClr val="accent1"/>
              </a:buClr>
            </a:pPr>
            <a:r>
              <a:rPr lang="en-US" sz="1200" b="1">
                <a:latin typeface="Segoe UI Semilight" panose="020B0402040204020203" pitchFamily="34" charset="0"/>
                <a:cs typeface="Segoe UI Semilight" panose="020B0402040204020203" pitchFamily="34" charset="0"/>
              </a:rPr>
              <a:t>What data do we have?	What data product must we deliver?</a:t>
            </a:r>
            <a:endParaRPr lang="en-US" sz="1400" b="1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endParaRPr lang="en-US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92FCCE-D88E-A874-62D5-4C18F7A73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32269"/>
              </p:ext>
            </p:extLst>
          </p:nvPr>
        </p:nvGraphicFramePr>
        <p:xfrm>
          <a:off x="814389" y="1841282"/>
          <a:ext cx="11377611" cy="2103120"/>
        </p:xfrm>
        <a:graphic>
          <a:graphicData uri="http://schemas.openxmlformats.org/drawingml/2006/table">
            <a:tbl>
              <a:tblPr/>
              <a:tblGrid>
                <a:gridCol w="3792537">
                  <a:extLst>
                    <a:ext uri="{9D8B030D-6E8A-4147-A177-3AD203B41FA5}">
                      <a16:colId xmlns:a16="http://schemas.microsoft.com/office/drawing/2014/main" val="4020078362"/>
                    </a:ext>
                  </a:extLst>
                </a:gridCol>
                <a:gridCol w="3792537">
                  <a:extLst>
                    <a:ext uri="{9D8B030D-6E8A-4147-A177-3AD203B41FA5}">
                      <a16:colId xmlns:a16="http://schemas.microsoft.com/office/drawing/2014/main" val="644211402"/>
                    </a:ext>
                  </a:extLst>
                </a:gridCol>
                <a:gridCol w="3792537">
                  <a:extLst>
                    <a:ext uri="{9D8B030D-6E8A-4147-A177-3AD203B41FA5}">
                      <a16:colId xmlns:a16="http://schemas.microsoft.com/office/drawing/2014/main" val="37982022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Traditional Model (Left </a:t>
                      </a:r>
                      <a:r>
                        <a:rPr lang="en-US" sz="1800" b="1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→</a:t>
                      </a:r>
                      <a:r>
                        <a:rPr lang="en-US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  <a:sym typeface="Wingdings" panose="05000000000000000000" pitchFamily="2" charset="2"/>
                        </a:rPr>
                        <a:t> Right)</a:t>
                      </a:r>
                      <a:endParaRPr lang="en-US">
                        <a:solidFill>
                          <a:schemeClr val="tx2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Data Product Model (Right </a:t>
                      </a:r>
                      <a:r>
                        <a:rPr lang="en-US" sz="1800" b="1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→ Left)</a:t>
                      </a:r>
                      <a:endParaRPr lang="en-US">
                        <a:solidFill>
                          <a:schemeClr val="tx2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What This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8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Start with available source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Start with required business outcome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Consumption drives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6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Build pipelines around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Define governed product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Products define contracts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318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Hydrate CDMs based on 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Hydrate CDMs based on product 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Intentional data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56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Implementation driven by feeds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Implementation driven by product contract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Pipelines serve 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00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Architecture is driven by </a:t>
                      </a:r>
                      <a:r>
                        <a:rPr lang="en-US" sz="1400" b="1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what data exists</a:t>
                      </a: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400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Architecture is driven by </a:t>
                      </a:r>
                      <a:r>
                        <a:rPr lang="en-US" sz="1400" b="1"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how the data will be used</a:t>
                      </a:r>
                      <a:endParaRPr lang="en-US" sz="1400"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§"/>
                      </a:pPr>
                      <a:endParaRPr lang="en-US" sz="1400"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159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233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25CD6E9F-F172-A000-2F53-20CB4E04A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5" y="219454"/>
            <a:ext cx="10922000" cy="7112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Target-State Lakehouse Consumption Architecture: 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2200">
                <a:latin typeface="Segoe UI Semibold"/>
                <a:cs typeface="Segoe UI Semibold"/>
              </a:rPr>
              <a:t>CDM + Pattern Modules </a:t>
            </a:r>
            <a:r>
              <a:rPr lang="en-US" sz="2200">
                <a:latin typeface="Segoe UI Semibold"/>
                <a:cs typeface="Segoe UI Semibold"/>
                <a:sym typeface="Wingdings" panose="05000000000000000000" pitchFamily="2" charset="2"/>
              </a:rPr>
              <a:t> </a:t>
            </a:r>
            <a:r>
              <a:rPr lang="en-US" sz="2200">
                <a:latin typeface="Segoe UI Semibold"/>
                <a:cs typeface="Segoe UI Semibold"/>
              </a:rPr>
              <a:t>Data Products </a:t>
            </a:r>
            <a:r>
              <a:rPr lang="en-US" sz="2200">
                <a:latin typeface="Segoe UI Semibold"/>
                <a:cs typeface="Segoe UI Semibold"/>
                <a:sym typeface="Wingdings" panose="05000000000000000000" pitchFamily="2" charset="2"/>
              </a:rPr>
              <a:t> Consumables</a:t>
            </a:r>
            <a:br>
              <a:rPr lang="en-US" sz="2400">
                <a:latin typeface="Segoe UI Semibold"/>
                <a:cs typeface="Segoe UI Semibold"/>
              </a:rPr>
            </a:b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4F7360-507A-B1D6-B69E-6332CFF469CD}"/>
              </a:ext>
            </a:extLst>
          </p:cNvPr>
          <p:cNvSpPr/>
          <p:nvPr/>
        </p:nvSpPr>
        <p:spPr>
          <a:xfrm>
            <a:off x="469917" y="1022793"/>
            <a:ext cx="5432382" cy="38958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SOURCES INGRESS TO  CANONICAL STANDARD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BD93A9-FA01-E9EA-8DF2-507C3E870C6E}"/>
              </a:ext>
            </a:extLst>
          </p:cNvPr>
          <p:cNvSpPr/>
          <p:nvPr/>
        </p:nvSpPr>
        <p:spPr>
          <a:xfrm>
            <a:off x="5824106" y="999945"/>
            <a:ext cx="5432383" cy="389586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PRODUCTS EGRESS FROM CANONICAL 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0C3421-2695-1AFD-2FB0-DA6FD8337E99}"/>
              </a:ext>
            </a:extLst>
          </p:cNvPr>
          <p:cNvCxnSpPr>
            <a:cxnSpLocks/>
          </p:cNvCxnSpPr>
          <p:nvPr/>
        </p:nvCxnSpPr>
        <p:spPr>
          <a:xfrm>
            <a:off x="844677" y="1383720"/>
            <a:ext cx="4650708" cy="0"/>
          </a:xfrm>
          <a:prstGeom prst="straightConnector1">
            <a:avLst/>
          </a:prstGeom>
          <a:ln w="76200">
            <a:solidFill>
              <a:schemeClr val="accent2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8BD4BC2-34AC-A302-8660-7C36B3084EAC}"/>
              </a:ext>
            </a:extLst>
          </p:cNvPr>
          <p:cNvSpPr/>
          <p:nvPr/>
        </p:nvSpPr>
        <p:spPr>
          <a:xfrm>
            <a:off x="6336573" y="2868791"/>
            <a:ext cx="3524066" cy="2223469"/>
          </a:xfrm>
          <a:custGeom>
            <a:avLst/>
            <a:gdLst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1614374 w 3052540"/>
              <a:gd name="connsiteY10" fmla="*/ 1883273 h 1945804"/>
              <a:gd name="connsiteX11" fmla="*/ 1614374 w 3052540"/>
              <a:gd name="connsiteY11" fmla="*/ 672788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1614374 w 3052540"/>
              <a:gd name="connsiteY10" fmla="*/ 1883273 h 1945804"/>
              <a:gd name="connsiteX11" fmla="*/ 2299168 w 3052540"/>
              <a:gd name="connsiteY11" fmla="*/ 663710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299168 w 3052540"/>
              <a:gd name="connsiteY11" fmla="*/ 663710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5410 w 3052540"/>
              <a:gd name="connsiteY11" fmla="*/ 663710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9536 w 3052540"/>
              <a:gd name="connsiteY11" fmla="*/ 668250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7474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5412 w 3052540"/>
              <a:gd name="connsiteY11" fmla="*/ 668250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5412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79538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1676905 w 3052540"/>
              <a:gd name="connsiteY9" fmla="*/ 1945804 h 1945804"/>
              <a:gd name="connsiteX10" fmla="*/ 2191911 w 3052540"/>
              <a:gd name="connsiteY10" fmla="*/ 1910508 h 1945804"/>
              <a:gd name="connsiteX11" fmla="*/ 2181600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2266819 w 3052540"/>
              <a:gd name="connsiteY9" fmla="*/ 1945804 h 1945804"/>
              <a:gd name="connsiteX10" fmla="*/ 2191911 w 3052540"/>
              <a:gd name="connsiteY10" fmla="*/ 1910508 h 1945804"/>
              <a:gd name="connsiteX11" fmla="*/ 2181600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2266819 w 3052540"/>
              <a:gd name="connsiteY9" fmla="*/ 1945804 h 1945804"/>
              <a:gd name="connsiteX10" fmla="*/ 2191911 w 3052540"/>
              <a:gd name="connsiteY10" fmla="*/ 1887812 h 1945804"/>
              <a:gd name="connsiteX11" fmla="*/ 2181600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2266819 w 3052540"/>
              <a:gd name="connsiteY9" fmla="*/ 1945804 h 1945804"/>
              <a:gd name="connsiteX10" fmla="*/ 2189848 w 3052540"/>
              <a:gd name="connsiteY10" fmla="*/ 1887812 h 1945804"/>
              <a:gd name="connsiteX11" fmla="*/ 2181600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  <a:gd name="connsiteX0" fmla="*/ 29253 w 3052540"/>
              <a:gd name="connsiteY0" fmla="*/ 0 h 1945804"/>
              <a:gd name="connsiteX1" fmla="*/ 1676905 w 3052540"/>
              <a:gd name="connsiteY1" fmla="*/ 0 h 1945804"/>
              <a:gd name="connsiteX2" fmla="*/ 2990009 w 3052540"/>
              <a:gd name="connsiteY2" fmla="*/ 0 h 1945804"/>
              <a:gd name="connsiteX3" fmla="*/ 3014270 w 3052540"/>
              <a:gd name="connsiteY3" fmla="*/ 0 h 1945804"/>
              <a:gd name="connsiteX4" fmla="*/ 3043523 w 3052540"/>
              <a:gd name="connsiteY4" fmla="*/ 29253 h 1945804"/>
              <a:gd name="connsiteX5" fmla="*/ 3043523 w 3052540"/>
              <a:gd name="connsiteY5" fmla="*/ 40762 h 1945804"/>
              <a:gd name="connsiteX6" fmla="*/ 3052540 w 3052540"/>
              <a:gd name="connsiteY6" fmla="*/ 62531 h 1945804"/>
              <a:gd name="connsiteX7" fmla="*/ 3052540 w 3052540"/>
              <a:gd name="connsiteY7" fmla="*/ 1883273 h 1945804"/>
              <a:gd name="connsiteX8" fmla="*/ 2990009 w 3052540"/>
              <a:gd name="connsiteY8" fmla="*/ 1945804 h 1945804"/>
              <a:gd name="connsiteX9" fmla="*/ 2266819 w 3052540"/>
              <a:gd name="connsiteY9" fmla="*/ 1945804 h 1945804"/>
              <a:gd name="connsiteX10" fmla="*/ 2185722 w 3052540"/>
              <a:gd name="connsiteY10" fmla="*/ 1887812 h 1945804"/>
              <a:gd name="connsiteX11" fmla="*/ 2181600 w 3052540"/>
              <a:gd name="connsiteY11" fmla="*/ 675059 h 1945804"/>
              <a:gd name="connsiteX12" fmla="*/ 29253 w 3052540"/>
              <a:gd name="connsiteY12" fmla="*/ 672788 h 1945804"/>
              <a:gd name="connsiteX13" fmla="*/ 0 w 3052540"/>
              <a:gd name="connsiteY13" fmla="*/ 643535 h 1945804"/>
              <a:gd name="connsiteX14" fmla="*/ 0 w 3052540"/>
              <a:gd name="connsiteY14" fmla="*/ 29253 h 1945804"/>
              <a:gd name="connsiteX15" fmla="*/ 29253 w 3052540"/>
              <a:gd name="connsiteY15" fmla="*/ 0 h 194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52540" h="1945804">
                <a:moveTo>
                  <a:pt x="29253" y="0"/>
                </a:moveTo>
                <a:lnTo>
                  <a:pt x="1676905" y="0"/>
                </a:lnTo>
                <a:lnTo>
                  <a:pt x="2990009" y="0"/>
                </a:lnTo>
                <a:lnTo>
                  <a:pt x="3014270" y="0"/>
                </a:lnTo>
                <a:cubicBezTo>
                  <a:pt x="3030426" y="0"/>
                  <a:pt x="3043523" y="13097"/>
                  <a:pt x="3043523" y="29253"/>
                </a:cubicBezTo>
                <a:lnTo>
                  <a:pt x="3043523" y="40762"/>
                </a:lnTo>
                <a:lnTo>
                  <a:pt x="3052540" y="62531"/>
                </a:lnTo>
                <a:lnTo>
                  <a:pt x="3052540" y="1883273"/>
                </a:lnTo>
                <a:cubicBezTo>
                  <a:pt x="3052540" y="1917808"/>
                  <a:pt x="3024544" y="1945804"/>
                  <a:pt x="2990009" y="1945804"/>
                </a:cubicBezTo>
                <a:lnTo>
                  <a:pt x="2266819" y="1945804"/>
                </a:lnTo>
                <a:cubicBezTo>
                  <a:pt x="2232284" y="1945804"/>
                  <a:pt x="2185722" y="1922347"/>
                  <a:pt x="2185722" y="1887812"/>
                </a:cubicBezTo>
                <a:cubicBezTo>
                  <a:pt x="2182973" y="1483561"/>
                  <a:pt x="2184349" y="1079310"/>
                  <a:pt x="2181600" y="675059"/>
                </a:cubicBezTo>
                <a:lnTo>
                  <a:pt x="29253" y="672788"/>
                </a:lnTo>
                <a:cubicBezTo>
                  <a:pt x="13097" y="672788"/>
                  <a:pt x="0" y="659691"/>
                  <a:pt x="0" y="643535"/>
                </a:cubicBezTo>
                <a:lnTo>
                  <a:pt x="0" y="29253"/>
                </a:lnTo>
                <a:cubicBezTo>
                  <a:pt x="0" y="13097"/>
                  <a:pt x="13097" y="0"/>
                  <a:pt x="29253" y="0"/>
                </a:cubicBezTo>
                <a:close/>
              </a:path>
            </a:pathLst>
          </a:cu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CASE DATA PRODUCTS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7E3BA0-3796-A906-19E7-0436767A3C02}"/>
              </a:ext>
            </a:extLst>
          </p:cNvPr>
          <p:cNvSpPr/>
          <p:nvPr/>
        </p:nvSpPr>
        <p:spPr>
          <a:xfrm>
            <a:off x="8950216" y="3741902"/>
            <a:ext cx="822649" cy="12557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F38F9B-58A8-6148-5782-0460F845EF37}"/>
              </a:ext>
            </a:extLst>
          </p:cNvPr>
          <p:cNvSpPr/>
          <p:nvPr/>
        </p:nvSpPr>
        <p:spPr>
          <a:xfrm>
            <a:off x="742689" y="5230113"/>
            <a:ext cx="10867857" cy="856362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GOVERNANCE &amp; DATA MANAGEMENT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27601-6EAE-2FD9-AF10-EE677250343F}"/>
              </a:ext>
            </a:extLst>
          </p:cNvPr>
          <p:cNvSpPr txBox="1"/>
          <p:nvPr/>
        </p:nvSpPr>
        <p:spPr>
          <a:xfrm>
            <a:off x="1467415" y="5538696"/>
            <a:ext cx="1583886" cy="51118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Synchronization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Quality Standards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269266-7A4D-162F-A8E7-1444BD90A1EE}"/>
              </a:ext>
            </a:extLst>
          </p:cNvPr>
          <p:cNvSpPr/>
          <p:nvPr/>
        </p:nvSpPr>
        <p:spPr>
          <a:xfrm>
            <a:off x="6336573" y="1811246"/>
            <a:ext cx="5293231" cy="916733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DATA PRODUCTS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C7EBD3-C1BD-4F0C-6612-4D0E039C9681}"/>
              </a:ext>
            </a:extLst>
          </p:cNvPr>
          <p:cNvSpPr/>
          <p:nvPr/>
        </p:nvSpPr>
        <p:spPr>
          <a:xfrm>
            <a:off x="4656429" y="1801985"/>
            <a:ext cx="1521535" cy="3290275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ENTERPRISE STANDARD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00448D-4BCC-3AA8-A1C5-A3F316F2183F}"/>
              </a:ext>
            </a:extLst>
          </p:cNvPr>
          <p:cNvSpPr/>
          <p:nvPr/>
        </p:nvSpPr>
        <p:spPr>
          <a:xfrm>
            <a:off x="6336573" y="3741906"/>
            <a:ext cx="2465274" cy="1351634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RULE SERVICES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98FA6-5445-1A7E-6123-DBDE8AD61F21}"/>
              </a:ext>
            </a:extLst>
          </p:cNvPr>
          <p:cNvSpPr/>
          <p:nvPr/>
        </p:nvSpPr>
        <p:spPr>
          <a:xfrm>
            <a:off x="9947252" y="2864558"/>
            <a:ext cx="1660319" cy="2227705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CONSUMABLE PATTERNS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122B9-8685-B760-9D46-E8BA1B322C92}"/>
              </a:ext>
            </a:extLst>
          </p:cNvPr>
          <p:cNvSpPr txBox="1"/>
          <p:nvPr/>
        </p:nvSpPr>
        <p:spPr>
          <a:xfrm>
            <a:off x="10143933" y="3510006"/>
            <a:ext cx="1421227" cy="139108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Pattern Templates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ODS/Native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Warehouse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Curated Data Sets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Vector / Rag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Transactional / APIs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BE1BA544-0E04-CFBB-AC4A-94BA83C27A06}"/>
              </a:ext>
            </a:extLst>
          </p:cNvPr>
          <p:cNvSpPr/>
          <p:nvPr/>
        </p:nvSpPr>
        <p:spPr>
          <a:xfrm>
            <a:off x="4846207" y="2337638"/>
            <a:ext cx="1128507" cy="635690"/>
          </a:xfrm>
          <a:prstGeom prst="can">
            <a:avLst>
              <a:gd name="adj" fmla="val 18122"/>
            </a:avLst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C4D8EC-FC17-A19B-96C4-DF2CE0B50023}"/>
              </a:ext>
            </a:extLst>
          </p:cNvPr>
          <p:cNvSpPr txBox="1"/>
          <p:nvPr/>
        </p:nvSpPr>
        <p:spPr>
          <a:xfrm>
            <a:off x="8913019" y="3730170"/>
            <a:ext cx="844079" cy="368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DATA PRODUCT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7759A-B30D-46C9-F02F-1E61C54D5625}"/>
              </a:ext>
            </a:extLst>
          </p:cNvPr>
          <p:cNvSpPr txBox="1"/>
          <p:nvPr/>
        </p:nvSpPr>
        <p:spPr>
          <a:xfrm>
            <a:off x="7016811" y="5538696"/>
            <a:ext cx="1307872" cy="51118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Logging &amp; Journaling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Snapshot / Archive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93DD0A-9F88-F3EB-66A9-D7D7B5A8E7D3}"/>
              </a:ext>
            </a:extLst>
          </p:cNvPr>
          <p:cNvSpPr txBox="1"/>
          <p:nvPr/>
        </p:nvSpPr>
        <p:spPr>
          <a:xfrm>
            <a:off x="4242113" y="5538696"/>
            <a:ext cx="1583886" cy="51118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Cleansing Standards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7B6E6F-8BA3-CE29-1E73-DAF4607A8B5B}"/>
              </a:ext>
            </a:extLst>
          </p:cNvPr>
          <p:cNvSpPr txBox="1"/>
          <p:nvPr/>
        </p:nvSpPr>
        <p:spPr>
          <a:xfrm>
            <a:off x="9515494" y="5538696"/>
            <a:ext cx="1307872" cy="51118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Data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Master Data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5F3D62-C096-3EC7-65DF-A5CC3CFE45FD}"/>
              </a:ext>
            </a:extLst>
          </p:cNvPr>
          <p:cNvSpPr/>
          <p:nvPr/>
        </p:nvSpPr>
        <p:spPr>
          <a:xfrm>
            <a:off x="761947" y="2992547"/>
            <a:ext cx="3735324" cy="2099713"/>
          </a:xfrm>
          <a:prstGeom prst="roundRect">
            <a:avLst>
              <a:gd name="adj" fmla="val 4348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INGRESS SERVICES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56CB57-89B9-8223-C6B6-BACAA07A83CA}"/>
              </a:ext>
            </a:extLst>
          </p:cNvPr>
          <p:cNvSpPr/>
          <p:nvPr/>
        </p:nvSpPr>
        <p:spPr>
          <a:xfrm>
            <a:off x="761947" y="1811245"/>
            <a:ext cx="3735873" cy="1053308"/>
          </a:xfrm>
          <a:prstGeom prst="roundRect">
            <a:avLst>
              <a:gd name="adj" fmla="val 12230"/>
            </a:avLst>
          </a:prstGeom>
          <a:solidFill>
            <a:srgbClr val="E1F0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SOURCE SERVICES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3BECE5-A6FA-9A3A-E004-8AE481B675BF}"/>
              </a:ext>
            </a:extLst>
          </p:cNvPr>
          <p:cNvCxnSpPr>
            <a:cxnSpLocks/>
          </p:cNvCxnSpPr>
          <p:nvPr/>
        </p:nvCxnSpPr>
        <p:spPr>
          <a:xfrm>
            <a:off x="5495385" y="1383720"/>
            <a:ext cx="6112186" cy="0"/>
          </a:xfrm>
          <a:prstGeom prst="straightConnector1">
            <a:avLst/>
          </a:prstGeom>
          <a:ln w="76200">
            <a:solidFill>
              <a:schemeClr val="accent2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890098-6B78-3AA9-5FA1-74602E2E81CC}"/>
              </a:ext>
            </a:extLst>
          </p:cNvPr>
          <p:cNvSpPr txBox="1"/>
          <p:nvPr/>
        </p:nvSpPr>
        <p:spPr>
          <a:xfrm>
            <a:off x="4787745" y="3329921"/>
            <a:ext cx="1271306" cy="110616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consolidated model aligned with each Core Data Product Canonical model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4F35F6C3-A6AB-3849-10CA-92BD9CAFD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372" y="3205246"/>
            <a:ext cx="3153427" cy="1862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Reader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Source system interaction (Connectors)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Parser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Format conversion and structure parsing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Cleanser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 cleansing and standardization </a:t>
            </a:r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Mapper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Schema transformation (Translation pattern)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Enricher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Add derived fields and reference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Aggregator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Perform calculations (SUM, COUNT, AVG)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Integrator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Combine data from multiple 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Consolidator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Merge duplicate/similar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Validator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Enforce quality standards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Writer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Output to target systems 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FF8AEF4D-F4AC-39B8-662F-D0400BD2E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363" y="2047130"/>
            <a:ext cx="3477908" cy="79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Orchestrator –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Overall ingress orchestration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Filter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Select/exclude records based on criteria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Router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Direct data flow based on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- </a:t>
            </a:r>
            <a:r>
              <a:rPr kumimoji="0" lang="en-US" alt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Manage dependencies (Data Sync) </a:t>
            </a:r>
            <a:endParaRPr kumimoji="0" lang="en-US" altLang="en-US" sz="1000" b="0" i="1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D7E16E-84BB-8BE0-2984-7971F119180C}"/>
              </a:ext>
            </a:extLst>
          </p:cNvPr>
          <p:cNvSpPr txBox="1"/>
          <p:nvPr/>
        </p:nvSpPr>
        <p:spPr>
          <a:xfrm>
            <a:off x="6597475" y="4123218"/>
            <a:ext cx="935149" cy="83800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Cleansing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Quality 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Translation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Enrichment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663FB9-7121-CE6B-510D-39397B574983}"/>
              </a:ext>
            </a:extLst>
          </p:cNvPr>
          <p:cNvSpPr txBox="1"/>
          <p:nvPr/>
        </p:nvSpPr>
        <p:spPr>
          <a:xfrm>
            <a:off x="7665227" y="4123218"/>
            <a:ext cx="911216" cy="83800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Aggregation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Filtering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Integration</a:t>
            </a:r>
          </a:p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Consolidation</a:t>
            </a:r>
          </a:p>
        </p:txBody>
      </p:sp>
      <p:pic>
        <p:nvPicPr>
          <p:cNvPr id="30" name="Picture 4" descr="Product, distribution icon - Download on Iconfinder">
            <a:extLst>
              <a:ext uri="{FF2B5EF4-FFF2-40B4-BE49-F238E27FC236}">
                <a16:creationId xmlns:a16="http://schemas.microsoft.com/office/drawing/2014/main" id="{2A3BE12A-16EB-C7F6-DEFE-DA001678F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581" y="2132846"/>
            <a:ext cx="472765" cy="51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Product, distribution icon - Download on Iconfinder">
            <a:extLst>
              <a:ext uri="{FF2B5EF4-FFF2-40B4-BE49-F238E27FC236}">
                <a16:creationId xmlns:a16="http://schemas.microsoft.com/office/drawing/2014/main" id="{1091E0F3-A7CE-464D-2864-CE6867A07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814" y="2132846"/>
            <a:ext cx="472765" cy="51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oduct, distribution icon - Download on Iconfinder">
            <a:extLst>
              <a:ext uri="{FF2B5EF4-FFF2-40B4-BE49-F238E27FC236}">
                <a16:creationId xmlns:a16="http://schemas.microsoft.com/office/drawing/2014/main" id="{CD8640D8-AF87-350B-42D8-1936A63F2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047" y="2132846"/>
            <a:ext cx="472765" cy="51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Product, distribution icon - Download on Iconfinder">
            <a:extLst>
              <a:ext uri="{FF2B5EF4-FFF2-40B4-BE49-F238E27FC236}">
                <a16:creationId xmlns:a16="http://schemas.microsoft.com/office/drawing/2014/main" id="{C61CC1C1-257C-FF56-0F8E-24E2EA7D8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281" y="2132846"/>
            <a:ext cx="472765" cy="51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Use case - Iconfinder">
            <a:extLst>
              <a:ext uri="{FF2B5EF4-FFF2-40B4-BE49-F238E27FC236}">
                <a16:creationId xmlns:a16="http://schemas.microsoft.com/office/drawing/2014/main" id="{EAB311CB-7EAD-F5B2-DBAF-BDA35623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699" y="3128766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Use case - Iconfinder">
            <a:extLst>
              <a:ext uri="{FF2B5EF4-FFF2-40B4-BE49-F238E27FC236}">
                <a16:creationId xmlns:a16="http://schemas.microsoft.com/office/drawing/2014/main" id="{A29AEDB4-9BE2-F538-202A-AAE64CFF4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890" y="3128766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Use case - Iconfinder">
            <a:extLst>
              <a:ext uri="{FF2B5EF4-FFF2-40B4-BE49-F238E27FC236}">
                <a16:creationId xmlns:a16="http://schemas.microsoft.com/office/drawing/2014/main" id="{472066CD-2FA5-8E1D-981A-C1D38FE19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081" y="3128766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" descr="Use case - Iconfinder">
            <a:extLst>
              <a:ext uri="{FF2B5EF4-FFF2-40B4-BE49-F238E27FC236}">
                <a16:creationId xmlns:a16="http://schemas.microsoft.com/office/drawing/2014/main" id="{FC2882EF-2C91-043F-E756-FC333E607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273" y="3128766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Use case - Iconfinder">
            <a:extLst>
              <a:ext uri="{FF2B5EF4-FFF2-40B4-BE49-F238E27FC236}">
                <a16:creationId xmlns:a16="http://schemas.microsoft.com/office/drawing/2014/main" id="{94B025F2-8827-02D7-BBEF-3A355214C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856" y="4332119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Use case - Iconfinder">
            <a:extLst>
              <a:ext uri="{FF2B5EF4-FFF2-40B4-BE49-F238E27FC236}">
                <a16:creationId xmlns:a16="http://schemas.microsoft.com/office/drawing/2014/main" id="{755035DC-24B7-34B6-50E1-49602BDB8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057">
            <a:off x="9130823" y="4329525"/>
            <a:ext cx="458881" cy="4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318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ABA8-1C3E-8095-4025-C7463ECE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2EDB-29C4-DB63-C8C5-43BF74F8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3 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DLH Platform – Technical Architecture Overview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289733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974C-76F7-D27B-BFE6-FBEBF7D1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C2CD-BB0F-9CA2-2633-D4F59BD3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389"/>
            <a:ext cx="10973272" cy="4617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Data Lakehouse “Big Block” Diagram</a:t>
            </a:r>
            <a:endParaRPr lang="en-US" sz="2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3380FA-F40E-BF51-5E67-830EBD4EB821}"/>
              </a:ext>
            </a:extLst>
          </p:cNvPr>
          <p:cNvGrpSpPr>
            <a:grpSpLocks noChangeAspect="1"/>
          </p:cNvGrpSpPr>
          <p:nvPr/>
        </p:nvGrpSpPr>
        <p:grpSpPr>
          <a:xfrm>
            <a:off x="198120" y="1163717"/>
            <a:ext cx="11795760" cy="4746956"/>
            <a:chOff x="589765" y="1355494"/>
            <a:chExt cx="11016499" cy="4433361"/>
          </a:xfrm>
          <a:effectLst/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2F96F0C-A985-482E-38B1-FC202F1B0B32}"/>
                </a:ext>
              </a:extLst>
            </p:cNvPr>
            <p:cNvSpPr/>
            <p:nvPr/>
          </p:nvSpPr>
          <p:spPr>
            <a:xfrm>
              <a:off x="599183" y="4436561"/>
              <a:ext cx="7420920" cy="1352294"/>
            </a:xfrm>
            <a:prstGeom prst="roundRect">
              <a:avLst>
                <a:gd name="adj" fmla="val 5287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HYPERSCALE SERVICES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BD47F7-C827-884B-FF85-7428C5F7605A}"/>
                </a:ext>
              </a:extLst>
            </p:cNvPr>
            <p:cNvSpPr/>
            <p:nvPr/>
          </p:nvSpPr>
          <p:spPr>
            <a:xfrm>
              <a:off x="8100235" y="1361376"/>
              <a:ext cx="3506029" cy="1174013"/>
            </a:xfrm>
            <a:prstGeom prst="roundRect">
              <a:avLst>
                <a:gd name="adj" fmla="val 6501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PLATFORM APPLICATIONS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480A000-DE44-A766-A760-50B3407AF277}"/>
                </a:ext>
              </a:extLst>
            </p:cNvPr>
            <p:cNvSpPr/>
            <p:nvPr/>
          </p:nvSpPr>
          <p:spPr>
            <a:xfrm>
              <a:off x="2262461" y="2169189"/>
              <a:ext cx="4337910" cy="1354098"/>
            </a:xfrm>
            <a:prstGeom prst="roundRect">
              <a:avLst>
                <a:gd name="adj" fmla="val 4465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PATTERN </a:t>
              </a:r>
              <a:r>
                <a:rPr lang="en-US" sz="1200">
                  <a:solidFill>
                    <a:srgbClr val="102033"/>
                  </a:solidFill>
                  <a:latin typeface="Calibri" panose="020F0502020204030204"/>
                </a:rPr>
                <a:t>SERVICES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DD68D43-4FC9-2E66-5350-F85FD444C014}"/>
                </a:ext>
              </a:extLst>
            </p:cNvPr>
            <p:cNvSpPr/>
            <p:nvPr/>
          </p:nvSpPr>
          <p:spPr>
            <a:xfrm>
              <a:off x="786459" y="4717639"/>
              <a:ext cx="7144095" cy="97620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hlinkClick r:id="" action="ppaction://noaction"/>
              <a:extLst>
                <a:ext uri="{FF2B5EF4-FFF2-40B4-BE49-F238E27FC236}">
                  <a16:creationId xmlns:a16="http://schemas.microsoft.com/office/drawing/2014/main" id="{1C9A207A-E585-F62B-0E5F-F05F610025ED}"/>
                </a:ext>
              </a:extLst>
            </p:cNvPr>
            <p:cNvSpPr/>
            <p:nvPr/>
          </p:nvSpPr>
          <p:spPr>
            <a:xfrm>
              <a:off x="1848652" y="4898231"/>
              <a:ext cx="280286" cy="63403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Alerting</a:t>
              </a:r>
            </a:p>
          </p:txBody>
        </p:sp>
        <p:sp>
          <p:nvSpPr>
            <p:cNvPr id="24" name="Rectangle: Rounded Corners 23">
              <a:hlinkClick r:id="" action="ppaction://noaction"/>
              <a:extLst>
                <a:ext uri="{FF2B5EF4-FFF2-40B4-BE49-F238E27FC236}">
                  <a16:creationId xmlns:a16="http://schemas.microsoft.com/office/drawing/2014/main" id="{64F8A87C-404C-0A62-8399-3460B84F34DC}"/>
                </a:ext>
              </a:extLst>
            </p:cNvPr>
            <p:cNvSpPr/>
            <p:nvPr/>
          </p:nvSpPr>
          <p:spPr>
            <a:xfrm>
              <a:off x="1542858" y="4898231"/>
              <a:ext cx="259696" cy="63403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Monitoring</a:t>
              </a:r>
            </a:p>
          </p:txBody>
        </p:sp>
        <p:sp>
          <p:nvSpPr>
            <p:cNvPr id="58" name="Rectangle: Rounded Corners 57">
              <a:hlinkClick r:id="" action="ppaction://noaction"/>
              <a:extLst>
                <a:ext uri="{FF2B5EF4-FFF2-40B4-BE49-F238E27FC236}">
                  <a16:creationId xmlns:a16="http://schemas.microsoft.com/office/drawing/2014/main" id="{9FA978F6-FD0E-C025-8E30-3C2D2F575480}"/>
                </a:ext>
              </a:extLst>
            </p:cNvPr>
            <p:cNvSpPr/>
            <p:nvPr/>
          </p:nvSpPr>
          <p:spPr>
            <a:xfrm>
              <a:off x="888979" y="4898231"/>
              <a:ext cx="280286" cy="63403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Security</a:t>
              </a:r>
            </a:p>
          </p:txBody>
        </p:sp>
        <p:sp>
          <p:nvSpPr>
            <p:cNvPr id="62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F94F1C60-4E67-D97F-E065-A125DA2205A8}"/>
                </a:ext>
              </a:extLst>
            </p:cNvPr>
            <p:cNvSpPr/>
            <p:nvPr/>
          </p:nvSpPr>
          <p:spPr>
            <a:xfrm>
              <a:off x="3733637" y="4929961"/>
              <a:ext cx="907619" cy="59127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Storage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Relational, Lake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NoSQL</a:t>
              </a:r>
            </a:p>
          </p:txBody>
        </p:sp>
        <p:sp>
          <p:nvSpPr>
            <p:cNvPr id="209" name="Rectangle: Rounded Corners 208">
              <a:hlinkClick r:id="" action="ppaction://noaction"/>
              <a:extLst>
                <a:ext uri="{FF2B5EF4-FFF2-40B4-BE49-F238E27FC236}">
                  <a16:creationId xmlns:a16="http://schemas.microsoft.com/office/drawing/2014/main" id="{3A03B030-6D7A-C128-CDDF-CD0A7733B2C7}"/>
                </a:ext>
              </a:extLst>
            </p:cNvPr>
            <p:cNvSpPr/>
            <p:nvPr/>
          </p:nvSpPr>
          <p:spPr>
            <a:xfrm>
              <a:off x="2633895" y="4939836"/>
              <a:ext cx="955340" cy="25742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Serverless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81FF750-7D60-3ABB-E58D-70C7503C4B5C}"/>
                </a:ext>
              </a:extLst>
            </p:cNvPr>
            <p:cNvSpPr txBox="1"/>
            <p:nvPr/>
          </p:nvSpPr>
          <p:spPr>
            <a:xfrm>
              <a:off x="1186434" y="4682588"/>
              <a:ext cx="10847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Infrastructure</a:t>
              </a:r>
            </a:p>
          </p:txBody>
        </p:sp>
        <p:sp>
          <p:nvSpPr>
            <p:cNvPr id="211" name="Rectangle: Rounded Corners 210">
              <a:hlinkClick r:id="" action="ppaction://noaction"/>
              <a:extLst>
                <a:ext uri="{FF2B5EF4-FFF2-40B4-BE49-F238E27FC236}">
                  <a16:creationId xmlns:a16="http://schemas.microsoft.com/office/drawing/2014/main" id="{617B8D2B-976E-2F26-AE46-AD1742A80D1D}"/>
                </a:ext>
              </a:extLst>
            </p:cNvPr>
            <p:cNvSpPr/>
            <p:nvPr/>
          </p:nvSpPr>
          <p:spPr>
            <a:xfrm>
              <a:off x="1215919" y="4898231"/>
              <a:ext cx="280286" cy="63403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DevOps</a:t>
              </a:r>
            </a:p>
          </p:txBody>
        </p:sp>
        <p:sp>
          <p:nvSpPr>
            <p:cNvPr id="212" name="Rectangle: Rounded Corners 211">
              <a:extLst>
                <a:ext uri="{FF2B5EF4-FFF2-40B4-BE49-F238E27FC236}">
                  <a16:creationId xmlns:a16="http://schemas.microsoft.com/office/drawing/2014/main" id="{BB4B4354-650D-705D-81D9-1D5081A16AEB}"/>
                </a:ext>
              </a:extLst>
            </p:cNvPr>
            <p:cNvSpPr/>
            <p:nvPr/>
          </p:nvSpPr>
          <p:spPr>
            <a:xfrm>
              <a:off x="2249671" y="1362579"/>
              <a:ext cx="5770431" cy="720429"/>
            </a:xfrm>
            <a:prstGeom prst="roundRect">
              <a:avLst>
                <a:gd name="adj" fmla="val 10517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PRODUCT </a:t>
              </a:r>
              <a:r>
                <a:rPr lang="en-US" sz="1200">
                  <a:solidFill>
                    <a:srgbClr val="102033"/>
                  </a:solidFill>
                  <a:latin typeface="Calibri" panose="020F0502020204030204"/>
                </a:rPr>
                <a:t>SERVICES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D570D4A8-9C64-0585-AE68-D4CFE04D3262}"/>
                </a:ext>
              </a:extLst>
            </p:cNvPr>
            <p:cNvSpPr/>
            <p:nvPr/>
          </p:nvSpPr>
          <p:spPr>
            <a:xfrm>
              <a:off x="593829" y="1355494"/>
              <a:ext cx="1575709" cy="2167794"/>
            </a:xfrm>
            <a:prstGeom prst="roundRect">
              <a:avLst>
                <a:gd name="adj" fmla="val 7278"/>
              </a:avLst>
            </a:prstGeom>
            <a:solidFill>
              <a:schemeClr val="bg1"/>
            </a:solidFill>
            <a:ln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</a:t>
              </a:r>
              <a:r>
                <a:rPr lang="en-US" sz="1200">
                  <a:solidFill>
                    <a:srgbClr val="102033"/>
                  </a:solidFill>
                  <a:latin typeface="Calibri" panose="020F0502020204030204"/>
                </a:rPr>
                <a:t>SERVICES</a:t>
              </a:r>
              <a:endParaRPr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</a:endParaRPr>
            </a:p>
          </p:txBody>
        </p:sp>
        <p:sp>
          <p:nvSpPr>
            <p:cNvPr id="214" name="Rectangle: Rounded Corners 213">
              <a:hlinkClick r:id="" action="ppaction://noaction"/>
              <a:extLst>
                <a:ext uri="{FF2B5EF4-FFF2-40B4-BE49-F238E27FC236}">
                  <a16:creationId xmlns:a16="http://schemas.microsoft.com/office/drawing/2014/main" id="{C0EAF50F-45C9-9FC3-7A9F-D44E1A486275}"/>
                </a:ext>
              </a:extLst>
            </p:cNvPr>
            <p:cNvSpPr/>
            <p:nvPr/>
          </p:nvSpPr>
          <p:spPr>
            <a:xfrm>
              <a:off x="709848" y="2083408"/>
              <a:ext cx="1351266" cy="30360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Quality &amp; Cleansing</a:t>
              </a:r>
            </a:p>
          </p:txBody>
        </p:sp>
        <p:sp>
          <p:nvSpPr>
            <p:cNvPr id="216" name="Rectangle: Rounded Corners 215">
              <a:extLst>
                <a:ext uri="{FF2B5EF4-FFF2-40B4-BE49-F238E27FC236}">
                  <a16:creationId xmlns:a16="http://schemas.microsoft.com/office/drawing/2014/main" id="{C77C11D8-BA4E-C9BA-D704-C4E7377DE2DA}"/>
                </a:ext>
              </a:extLst>
            </p:cNvPr>
            <p:cNvSpPr/>
            <p:nvPr/>
          </p:nvSpPr>
          <p:spPr>
            <a:xfrm>
              <a:off x="2356618" y="2505830"/>
              <a:ext cx="1959682" cy="8580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Ingress Patterns</a:t>
              </a:r>
            </a:p>
          </p:txBody>
        </p:sp>
        <p:sp>
          <p:nvSpPr>
            <p:cNvPr id="217" name="Rectangle: Rounded Corners 216">
              <a:hlinkClick r:id="" action="ppaction://noaction"/>
              <a:extLst>
                <a:ext uri="{FF2B5EF4-FFF2-40B4-BE49-F238E27FC236}">
                  <a16:creationId xmlns:a16="http://schemas.microsoft.com/office/drawing/2014/main" id="{8CF227A1-EE27-2378-4EE2-96530F7F76AD}"/>
                </a:ext>
              </a:extLst>
            </p:cNvPr>
            <p:cNvSpPr/>
            <p:nvPr/>
          </p:nvSpPr>
          <p:spPr>
            <a:xfrm>
              <a:off x="2477546" y="2873458"/>
              <a:ext cx="777658" cy="3051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Ingestion</a:t>
              </a:r>
            </a:p>
          </p:txBody>
        </p:sp>
        <p:sp>
          <p:nvSpPr>
            <p:cNvPr id="224" name="Rectangle: Rounded Corners 223">
              <a:hlinkClick r:id="" action="ppaction://noaction"/>
              <a:extLst>
                <a:ext uri="{FF2B5EF4-FFF2-40B4-BE49-F238E27FC236}">
                  <a16:creationId xmlns:a16="http://schemas.microsoft.com/office/drawing/2014/main" id="{A9E603A2-5A98-B833-53BF-09AB15D40982}"/>
                </a:ext>
              </a:extLst>
            </p:cNvPr>
            <p:cNvSpPr/>
            <p:nvPr/>
          </p:nvSpPr>
          <p:spPr>
            <a:xfrm>
              <a:off x="6258448" y="1690697"/>
              <a:ext cx="1672106" cy="276626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Common Data Products</a:t>
              </a:r>
            </a:p>
          </p:txBody>
        </p:sp>
        <p:sp>
          <p:nvSpPr>
            <p:cNvPr id="225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F1FC6D6B-5242-BB81-B1D6-8DB43DA8F7FC}"/>
                </a:ext>
              </a:extLst>
            </p:cNvPr>
            <p:cNvSpPr/>
            <p:nvPr/>
          </p:nvSpPr>
          <p:spPr>
            <a:xfrm>
              <a:off x="4735916" y="4953135"/>
              <a:ext cx="907619" cy="57400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Consumable Data 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Secure, Curated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Mastered</a:t>
              </a: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12">
              <a:hlinkClick r:id="" action="ppaction://noaction"/>
              <a:extLst>
                <a:ext uri="{FF2B5EF4-FFF2-40B4-BE49-F238E27FC236}">
                  <a16:creationId xmlns:a16="http://schemas.microsoft.com/office/drawing/2014/main" id="{4E256F42-815E-1BC4-6681-496C6EB2021F}"/>
                </a:ext>
              </a:extLst>
            </p:cNvPr>
            <p:cNvSpPr/>
            <p:nvPr/>
          </p:nvSpPr>
          <p:spPr>
            <a:xfrm>
              <a:off x="5734604" y="4961786"/>
              <a:ext cx="907619" cy="585543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Streaming Data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IoT</a:t>
              </a:r>
            </a:p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Third-Party</a:t>
              </a:r>
            </a:p>
          </p:txBody>
        </p:sp>
        <p:sp>
          <p:nvSpPr>
            <p:cNvPr id="227" name="Rectangle: Rounded Corners 226">
              <a:hlinkClick r:id="" action="ppaction://noaction"/>
              <a:extLst>
                <a:ext uri="{FF2B5EF4-FFF2-40B4-BE49-F238E27FC236}">
                  <a16:creationId xmlns:a16="http://schemas.microsoft.com/office/drawing/2014/main" id="{EF9AA9C0-457B-FF1B-12B6-FB14CA4F858A}"/>
                </a:ext>
              </a:extLst>
            </p:cNvPr>
            <p:cNvSpPr/>
            <p:nvPr/>
          </p:nvSpPr>
          <p:spPr>
            <a:xfrm>
              <a:off x="2356618" y="1690697"/>
              <a:ext cx="1672106" cy="276626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Core Data Products</a:t>
              </a:r>
            </a:p>
          </p:txBody>
        </p:sp>
        <p:sp>
          <p:nvSpPr>
            <p:cNvPr id="228" name="Rectangle: Rounded Corners 227">
              <a:hlinkClick r:id="" action="ppaction://noaction"/>
              <a:extLst>
                <a:ext uri="{FF2B5EF4-FFF2-40B4-BE49-F238E27FC236}">
                  <a16:creationId xmlns:a16="http://schemas.microsoft.com/office/drawing/2014/main" id="{6FD6A055-F9DA-26E0-9B06-6EA05915BBF3}"/>
                </a:ext>
              </a:extLst>
            </p:cNvPr>
            <p:cNvSpPr/>
            <p:nvPr/>
          </p:nvSpPr>
          <p:spPr>
            <a:xfrm>
              <a:off x="4307533" y="1690697"/>
              <a:ext cx="1672106" cy="276626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Use Case Data Products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264E5099-B93B-13A4-1F9F-E953EC788CF2}"/>
                </a:ext>
              </a:extLst>
            </p:cNvPr>
            <p:cNvSpPr txBox="1"/>
            <p:nvPr/>
          </p:nvSpPr>
          <p:spPr>
            <a:xfrm>
              <a:off x="10075486" y="4988107"/>
              <a:ext cx="557689" cy="262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ML/AI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179AC8A5-B63C-8DEF-FB4B-A76116EBCA6D}"/>
                </a:ext>
              </a:extLst>
            </p:cNvPr>
            <p:cNvSpPr txBox="1"/>
            <p:nvPr/>
          </p:nvSpPr>
          <p:spPr>
            <a:xfrm>
              <a:off x="5441293" y="4672713"/>
              <a:ext cx="490032" cy="262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31" name="Rectangle: Rounded Corners 230">
              <a:hlinkClick r:id="" action="ppaction://noaction"/>
              <a:extLst>
                <a:ext uri="{FF2B5EF4-FFF2-40B4-BE49-F238E27FC236}">
                  <a16:creationId xmlns:a16="http://schemas.microsoft.com/office/drawing/2014/main" id="{1E91A1E2-EF90-B642-7DF7-7ED7D1F5E160}"/>
                </a:ext>
              </a:extLst>
            </p:cNvPr>
            <p:cNvSpPr/>
            <p:nvPr/>
          </p:nvSpPr>
          <p:spPr>
            <a:xfrm>
              <a:off x="2175590" y="4898231"/>
              <a:ext cx="280286" cy="63403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Identity Management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70F9ED0-6E25-8DF2-280D-D5BC049B5FBA}"/>
                </a:ext>
              </a:extLst>
            </p:cNvPr>
            <p:cNvSpPr txBox="1"/>
            <p:nvPr/>
          </p:nvSpPr>
          <p:spPr>
            <a:xfrm>
              <a:off x="2739645" y="4700172"/>
              <a:ext cx="739719" cy="262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Compute</a:t>
              </a:r>
            </a:p>
          </p:txBody>
        </p:sp>
        <p:sp>
          <p:nvSpPr>
            <p:cNvPr id="233" name="Rectangle: Rounded Corners 232">
              <a:hlinkClick r:id="" action="ppaction://noaction"/>
              <a:extLst>
                <a:ext uri="{FF2B5EF4-FFF2-40B4-BE49-F238E27FC236}">
                  <a16:creationId xmlns:a16="http://schemas.microsoft.com/office/drawing/2014/main" id="{9D495649-FB5B-83EE-A8CD-F69E02029078}"/>
                </a:ext>
              </a:extLst>
            </p:cNvPr>
            <p:cNvSpPr/>
            <p:nvPr/>
          </p:nvSpPr>
          <p:spPr>
            <a:xfrm>
              <a:off x="3351901" y="2873458"/>
              <a:ext cx="777658" cy="3051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Curation</a:t>
              </a:r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5DBDEBD8-BBBC-6158-0C48-935EB5BA2FD7}"/>
                </a:ext>
              </a:extLst>
            </p:cNvPr>
            <p:cNvSpPr/>
            <p:nvPr/>
          </p:nvSpPr>
          <p:spPr>
            <a:xfrm>
              <a:off x="4447277" y="2504405"/>
              <a:ext cx="1959682" cy="8580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Egress Patterns</a:t>
              </a:r>
            </a:p>
          </p:txBody>
        </p:sp>
        <p:sp>
          <p:nvSpPr>
            <p:cNvPr id="236" name="Rectangle: Rounded Corners 235">
              <a:hlinkClick r:id="" action="ppaction://noaction"/>
              <a:extLst>
                <a:ext uri="{FF2B5EF4-FFF2-40B4-BE49-F238E27FC236}">
                  <a16:creationId xmlns:a16="http://schemas.microsoft.com/office/drawing/2014/main" id="{BD54494F-0F81-68B9-5F06-578F96A7BDAB}"/>
                </a:ext>
              </a:extLst>
            </p:cNvPr>
            <p:cNvSpPr/>
            <p:nvPr/>
          </p:nvSpPr>
          <p:spPr>
            <a:xfrm>
              <a:off x="4606436" y="2873458"/>
              <a:ext cx="777658" cy="3051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Business Rules</a:t>
              </a:r>
            </a:p>
          </p:txBody>
        </p:sp>
        <p:sp>
          <p:nvSpPr>
            <p:cNvPr id="243" name="Rectangle: Rounded Corners 242">
              <a:hlinkClick r:id="" action="ppaction://noaction"/>
              <a:extLst>
                <a:ext uri="{FF2B5EF4-FFF2-40B4-BE49-F238E27FC236}">
                  <a16:creationId xmlns:a16="http://schemas.microsoft.com/office/drawing/2014/main" id="{28A5AD62-A1D5-38B0-4C84-80C4BAA04AA8}"/>
                </a:ext>
              </a:extLst>
            </p:cNvPr>
            <p:cNvSpPr/>
            <p:nvPr/>
          </p:nvSpPr>
          <p:spPr>
            <a:xfrm>
              <a:off x="5480790" y="2873458"/>
              <a:ext cx="777658" cy="30511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Consumption</a:t>
              </a:r>
            </a:p>
          </p:txBody>
        </p:sp>
        <p:sp>
          <p:nvSpPr>
            <p:cNvPr id="246" name="Rectangle: Rounded Corners 245">
              <a:extLst>
                <a:ext uri="{FF2B5EF4-FFF2-40B4-BE49-F238E27FC236}">
                  <a16:creationId xmlns:a16="http://schemas.microsoft.com/office/drawing/2014/main" id="{D57CFFC9-F95C-B6E0-999F-68FC87398F33}"/>
                </a:ext>
              </a:extLst>
            </p:cNvPr>
            <p:cNvSpPr/>
            <p:nvPr/>
          </p:nvSpPr>
          <p:spPr>
            <a:xfrm>
              <a:off x="6718434" y="2169189"/>
              <a:ext cx="1301668" cy="1354098"/>
            </a:xfrm>
            <a:prstGeom prst="roundRect">
              <a:avLst>
                <a:gd name="adj" fmla="val 4465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Wrapper </a:t>
              </a:r>
              <a:r>
                <a:rPr lang="en-US" sz="1200">
                  <a:solidFill>
                    <a:srgbClr val="102033"/>
                  </a:solidFill>
                  <a:latin typeface="Calibri" panose="020F0502020204030204"/>
                </a:rPr>
                <a:t>Services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Rectangle: Rounded Corners 247">
              <a:extLst>
                <a:ext uri="{FF2B5EF4-FFF2-40B4-BE49-F238E27FC236}">
                  <a16:creationId xmlns:a16="http://schemas.microsoft.com/office/drawing/2014/main" id="{548F9B78-E660-AC41-9D6C-5731715DABCA}"/>
                </a:ext>
              </a:extLst>
            </p:cNvPr>
            <p:cNvSpPr/>
            <p:nvPr/>
          </p:nvSpPr>
          <p:spPr>
            <a:xfrm>
              <a:off x="6944583" y="2781522"/>
              <a:ext cx="950975" cy="488986"/>
            </a:xfrm>
            <a:prstGeom prst="roundRect">
              <a:avLst/>
            </a:prstGeom>
            <a:solidFill>
              <a:schemeClr val="accent3"/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Third Party Solutions</a:t>
              </a:r>
            </a:p>
          </p:txBody>
        </p:sp>
        <p:sp>
          <p:nvSpPr>
            <p:cNvPr id="249" name="Rectangle: Rounded Corners 248">
              <a:hlinkClick r:id="" action="ppaction://noaction"/>
              <a:extLst>
                <a:ext uri="{FF2B5EF4-FFF2-40B4-BE49-F238E27FC236}">
                  <a16:creationId xmlns:a16="http://schemas.microsoft.com/office/drawing/2014/main" id="{1E022649-61C9-382F-EB52-A1093EC823B1}"/>
                </a:ext>
              </a:extLst>
            </p:cNvPr>
            <p:cNvSpPr/>
            <p:nvPr/>
          </p:nvSpPr>
          <p:spPr>
            <a:xfrm>
              <a:off x="709848" y="2497459"/>
              <a:ext cx="1351266" cy="30360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Reference Data</a:t>
              </a:r>
            </a:p>
          </p:txBody>
        </p:sp>
        <p:sp>
          <p:nvSpPr>
            <p:cNvPr id="250" name="Rectangle: Rounded Corners 249">
              <a:hlinkClick r:id="" action="ppaction://noaction"/>
              <a:extLst>
                <a:ext uri="{FF2B5EF4-FFF2-40B4-BE49-F238E27FC236}">
                  <a16:creationId xmlns:a16="http://schemas.microsoft.com/office/drawing/2014/main" id="{D6814106-0214-4007-4882-7FF0001F3CED}"/>
                </a:ext>
              </a:extLst>
            </p:cNvPr>
            <p:cNvSpPr/>
            <p:nvPr/>
          </p:nvSpPr>
          <p:spPr>
            <a:xfrm>
              <a:off x="709848" y="2925731"/>
              <a:ext cx="1351266" cy="30360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Master Data</a:t>
              </a:r>
            </a:p>
          </p:txBody>
        </p:sp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8E19DE1A-59FB-9760-8A65-8AAAD3DF0817}"/>
                </a:ext>
              </a:extLst>
            </p:cNvPr>
            <p:cNvSpPr/>
            <p:nvPr/>
          </p:nvSpPr>
          <p:spPr>
            <a:xfrm>
              <a:off x="589765" y="3619623"/>
              <a:ext cx="7430338" cy="720429"/>
            </a:xfrm>
            <a:prstGeom prst="roundRect">
              <a:avLst>
                <a:gd name="adj" fmla="val 10517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Platform Data Services</a:t>
              </a:r>
            </a:p>
          </p:txBody>
        </p:sp>
        <p:sp>
          <p:nvSpPr>
            <p:cNvPr id="252" name="Rectangle: Rounded Corners 251">
              <a:hlinkClick r:id="" action="ppaction://noaction"/>
              <a:extLst>
                <a:ext uri="{FF2B5EF4-FFF2-40B4-BE49-F238E27FC236}">
                  <a16:creationId xmlns:a16="http://schemas.microsoft.com/office/drawing/2014/main" id="{9296589B-1CFC-5994-E186-FCCBD1F6D05E}"/>
                </a:ext>
              </a:extLst>
            </p:cNvPr>
            <p:cNvSpPr/>
            <p:nvPr/>
          </p:nvSpPr>
          <p:spPr>
            <a:xfrm>
              <a:off x="3154281" y="3956418"/>
              <a:ext cx="1150334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</a:t>
              </a:r>
            </a:p>
          </p:txBody>
        </p:sp>
        <p:sp>
          <p:nvSpPr>
            <p:cNvPr id="255" name="Rectangle: Rounded Corners 254">
              <a:hlinkClick r:id="" action="ppaction://noaction"/>
              <a:extLst>
                <a:ext uri="{FF2B5EF4-FFF2-40B4-BE49-F238E27FC236}">
                  <a16:creationId xmlns:a16="http://schemas.microsoft.com/office/drawing/2014/main" id="{A2E7313D-44AB-3DE1-6C36-108D8C0D72DD}"/>
                </a:ext>
              </a:extLst>
            </p:cNvPr>
            <p:cNvSpPr/>
            <p:nvPr/>
          </p:nvSpPr>
          <p:spPr>
            <a:xfrm>
              <a:off x="829423" y="3956418"/>
              <a:ext cx="986528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Products</a:t>
              </a:r>
            </a:p>
          </p:txBody>
        </p:sp>
        <p:sp>
          <p:nvSpPr>
            <p:cNvPr id="258" name="Rectangle: Rounded Corners 257">
              <a:hlinkClick r:id="" action="ppaction://noaction"/>
              <a:extLst>
                <a:ext uri="{FF2B5EF4-FFF2-40B4-BE49-F238E27FC236}">
                  <a16:creationId xmlns:a16="http://schemas.microsoft.com/office/drawing/2014/main" id="{7398F654-19A9-98E7-ECB4-A9E1FB7F553B}"/>
                </a:ext>
              </a:extLst>
            </p:cNvPr>
            <p:cNvSpPr/>
            <p:nvPr/>
          </p:nvSpPr>
          <p:spPr>
            <a:xfrm>
              <a:off x="1991852" y="3956418"/>
              <a:ext cx="986528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Patterns</a:t>
              </a:r>
            </a:p>
          </p:txBody>
        </p:sp>
        <p:sp>
          <p:nvSpPr>
            <p:cNvPr id="260" name="Rectangle: Rounded Corners 259">
              <a:hlinkClick r:id="" action="ppaction://noaction"/>
              <a:extLst>
                <a:ext uri="{FF2B5EF4-FFF2-40B4-BE49-F238E27FC236}">
                  <a16:creationId xmlns:a16="http://schemas.microsoft.com/office/drawing/2014/main" id="{485AB05B-D4A9-47FB-3D36-E89902C6F2DA}"/>
                </a:ext>
              </a:extLst>
            </p:cNvPr>
            <p:cNvSpPr/>
            <p:nvPr/>
          </p:nvSpPr>
          <p:spPr>
            <a:xfrm>
              <a:off x="8197425" y="1663236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Builder UI</a:t>
              </a:r>
            </a:p>
          </p:txBody>
        </p:sp>
        <p:sp>
          <p:nvSpPr>
            <p:cNvPr id="266" name="Rectangle: Rounded Corners 265">
              <a:hlinkClick r:id="" action="ppaction://noaction"/>
              <a:extLst>
                <a:ext uri="{FF2B5EF4-FFF2-40B4-BE49-F238E27FC236}">
                  <a16:creationId xmlns:a16="http://schemas.microsoft.com/office/drawing/2014/main" id="{5E9A6172-C943-AAA2-D907-0DB5383C168B}"/>
                </a:ext>
              </a:extLst>
            </p:cNvPr>
            <p:cNvSpPr/>
            <p:nvPr/>
          </p:nvSpPr>
          <p:spPr>
            <a:xfrm>
              <a:off x="8197425" y="2104785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Dashboards / Analytics</a:t>
              </a:r>
            </a:p>
          </p:txBody>
        </p:sp>
        <p:sp>
          <p:nvSpPr>
            <p:cNvPr id="267" name="Rectangle: Rounded Corners 266">
              <a:extLst>
                <a:ext uri="{FF2B5EF4-FFF2-40B4-BE49-F238E27FC236}">
                  <a16:creationId xmlns:a16="http://schemas.microsoft.com/office/drawing/2014/main" id="{FAA40235-027A-378B-DCD8-AF133A988260}"/>
                </a:ext>
              </a:extLst>
            </p:cNvPr>
            <p:cNvSpPr/>
            <p:nvPr/>
          </p:nvSpPr>
          <p:spPr>
            <a:xfrm>
              <a:off x="8100235" y="2631434"/>
              <a:ext cx="3487044" cy="2044145"/>
            </a:xfrm>
            <a:prstGeom prst="roundRect">
              <a:avLst>
                <a:gd name="adj" fmla="val 3060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1020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SERVICES</a:t>
              </a:r>
            </a:p>
          </p:txBody>
        </p:sp>
        <p:sp>
          <p:nvSpPr>
            <p:cNvPr id="268" name="Rectangle: Rounded Corners 267">
              <a:hlinkClick r:id="" action="ppaction://noaction"/>
              <a:extLst>
                <a:ext uri="{FF2B5EF4-FFF2-40B4-BE49-F238E27FC236}">
                  <a16:creationId xmlns:a16="http://schemas.microsoft.com/office/drawing/2014/main" id="{48321569-44DE-20C7-58E3-ADE8F0C49125}"/>
                </a:ext>
              </a:extLst>
            </p:cNvPr>
            <p:cNvSpPr/>
            <p:nvPr/>
          </p:nvSpPr>
          <p:spPr>
            <a:xfrm>
              <a:off x="9935119" y="3039550"/>
              <a:ext cx="1547034" cy="1514864"/>
            </a:xfrm>
            <a:prstGeom prst="roundRect">
              <a:avLst>
                <a:gd name="adj" fmla="val 1178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Stewardship</a:t>
              </a:r>
            </a:p>
          </p:txBody>
        </p:sp>
        <p:sp>
          <p:nvSpPr>
            <p:cNvPr id="269" name="Rectangle: Rounded Corners 268">
              <a:hlinkClick r:id="" action="ppaction://noaction"/>
              <a:extLst>
                <a:ext uri="{FF2B5EF4-FFF2-40B4-BE49-F238E27FC236}">
                  <a16:creationId xmlns:a16="http://schemas.microsoft.com/office/drawing/2014/main" id="{6637A561-E3AC-4E86-58CE-5810771C2618}"/>
                </a:ext>
              </a:extLst>
            </p:cNvPr>
            <p:cNvSpPr/>
            <p:nvPr/>
          </p:nvSpPr>
          <p:spPr>
            <a:xfrm>
              <a:off x="8229143" y="3039549"/>
              <a:ext cx="1547034" cy="1514865"/>
            </a:xfrm>
            <a:prstGeom prst="roundRect">
              <a:avLst>
                <a:gd name="adj" fmla="val 1039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Development</a:t>
              </a:r>
            </a:p>
          </p:txBody>
        </p:sp>
        <p:sp>
          <p:nvSpPr>
            <p:cNvPr id="270" name="Rectangle: Rounded Corners 269">
              <a:hlinkClick r:id="" action="ppaction://noaction"/>
              <a:extLst>
                <a:ext uri="{FF2B5EF4-FFF2-40B4-BE49-F238E27FC236}">
                  <a16:creationId xmlns:a16="http://schemas.microsoft.com/office/drawing/2014/main" id="{158FA25A-8728-C880-B188-3A6EF9F99AF0}"/>
                </a:ext>
              </a:extLst>
            </p:cNvPr>
            <p:cNvSpPr/>
            <p:nvPr/>
          </p:nvSpPr>
          <p:spPr>
            <a:xfrm>
              <a:off x="8314084" y="3396602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Add/Change Module</a:t>
              </a:r>
            </a:p>
          </p:txBody>
        </p:sp>
        <p:sp>
          <p:nvSpPr>
            <p:cNvPr id="271" name="Rectangle: Rounded Corners 270">
              <a:hlinkClick r:id="" action="ppaction://noaction"/>
              <a:extLst>
                <a:ext uri="{FF2B5EF4-FFF2-40B4-BE49-F238E27FC236}">
                  <a16:creationId xmlns:a16="http://schemas.microsoft.com/office/drawing/2014/main" id="{919BCB1A-B048-A790-19FB-77FC328D8278}"/>
                </a:ext>
              </a:extLst>
            </p:cNvPr>
            <p:cNvSpPr/>
            <p:nvPr/>
          </p:nvSpPr>
          <p:spPr>
            <a:xfrm>
              <a:off x="8314084" y="3782078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New Source</a:t>
              </a:r>
            </a:p>
          </p:txBody>
        </p:sp>
        <p:sp>
          <p:nvSpPr>
            <p:cNvPr id="272" name="Rectangle: Rounded Corners 271">
              <a:hlinkClick r:id="" action="ppaction://noaction"/>
              <a:extLst>
                <a:ext uri="{FF2B5EF4-FFF2-40B4-BE49-F238E27FC236}">
                  <a16:creationId xmlns:a16="http://schemas.microsoft.com/office/drawing/2014/main" id="{8D665C8D-E04C-05F2-F28C-167BA61EF622}"/>
                </a:ext>
              </a:extLst>
            </p:cNvPr>
            <p:cNvSpPr/>
            <p:nvPr/>
          </p:nvSpPr>
          <p:spPr>
            <a:xfrm>
              <a:off x="8314084" y="4167554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New Consumer</a:t>
              </a:r>
            </a:p>
          </p:txBody>
        </p:sp>
        <p:sp>
          <p:nvSpPr>
            <p:cNvPr id="273" name="Rectangle: Rounded Corners 272">
              <a:extLst>
                <a:ext uri="{FF2B5EF4-FFF2-40B4-BE49-F238E27FC236}">
                  <a16:creationId xmlns:a16="http://schemas.microsoft.com/office/drawing/2014/main" id="{401D4655-7DF2-D2D5-A4CF-AEFE7A443838}"/>
                </a:ext>
              </a:extLst>
            </p:cNvPr>
            <p:cNvSpPr/>
            <p:nvPr/>
          </p:nvSpPr>
          <p:spPr>
            <a:xfrm>
              <a:off x="8113741" y="4749371"/>
              <a:ext cx="3492523" cy="1039484"/>
            </a:xfrm>
            <a:prstGeom prst="roundRect">
              <a:avLst>
                <a:gd name="adj" fmla="val 8241"/>
              </a:avLst>
            </a:prstGeom>
            <a:solidFill>
              <a:schemeClr val="bg1"/>
            </a:solidFill>
            <a:ln w="19050">
              <a:noFill/>
              <a:prstDash val="lg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PROVIDERS</a:t>
              </a:r>
            </a:p>
          </p:txBody>
        </p:sp>
        <p:sp>
          <p:nvSpPr>
            <p:cNvPr id="274" name="Rectangle: Rounded Corners 273">
              <a:extLst>
                <a:ext uri="{FF2B5EF4-FFF2-40B4-BE49-F238E27FC236}">
                  <a16:creationId xmlns:a16="http://schemas.microsoft.com/office/drawing/2014/main" id="{B7CE281C-2B1E-0A43-FFFF-60D987275FE6}"/>
                </a:ext>
              </a:extLst>
            </p:cNvPr>
            <p:cNvSpPr/>
            <p:nvPr/>
          </p:nvSpPr>
          <p:spPr>
            <a:xfrm>
              <a:off x="8382349" y="5047771"/>
              <a:ext cx="1236805" cy="261610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LLM</a:t>
              </a:r>
            </a:p>
          </p:txBody>
        </p:sp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07CC8C34-4FA8-2769-FE2B-D790700009FA}"/>
                </a:ext>
              </a:extLst>
            </p:cNvPr>
            <p:cNvSpPr/>
            <p:nvPr/>
          </p:nvSpPr>
          <p:spPr>
            <a:xfrm>
              <a:off x="10066118" y="5052335"/>
              <a:ext cx="1236805" cy="261610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Vector Services</a:t>
              </a:r>
            </a:p>
          </p:txBody>
        </p:sp>
        <p:sp>
          <p:nvSpPr>
            <p:cNvPr id="276" name="Rectangle: Rounded Corners 275">
              <a:extLst>
                <a:ext uri="{FF2B5EF4-FFF2-40B4-BE49-F238E27FC236}">
                  <a16:creationId xmlns:a16="http://schemas.microsoft.com/office/drawing/2014/main" id="{621C9294-20E7-874E-0832-975A5C1BBDC9}"/>
                </a:ext>
              </a:extLst>
            </p:cNvPr>
            <p:cNvSpPr/>
            <p:nvPr/>
          </p:nvSpPr>
          <p:spPr>
            <a:xfrm>
              <a:off x="10066117" y="5393302"/>
              <a:ext cx="1236805" cy="261610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Graph Services</a:t>
              </a:r>
            </a:p>
          </p:txBody>
        </p:sp>
        <p:sp>
          <p:nvSpPr>
            <p:cNvPr id="277" name="Rectangle: Rounded Corners 276">
              <a:hlinkClick r:id="" action="ppaction://noaction"/>
              <a:extLst>
                <a:ext uri="{FF2B5EF4-FFF2-40B4-BE49-F238E27FC236}">
                  <a16:creationId xmlns:a16="http://schemas.microsoft.com/office/drawing/2014/main" id="{C1243A7D-7082-378C-03C8-02F6633C7EAB}"/>
                </a:ext>
              </a:extLst>
            </p:cNvPr>
            <p:cNvSpPr/>
            <p:nvPr/>
          </p:nvSpPr>
          <p:spPr>
            <a:xfrm>
              <a:off x="10045225" y="3396602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DQ Analysis</a:t>
              </a:r>
            </a:p>
          </p:txBody>
        </p:sp>
        <p:sp>
          <p:nvSpPr>
            <p:cNvPr id="279" name="Rectangle: Rounded Corners 278">
              <a:hlinkClick r:id="" action="ppaction://noaction"/>
              <a:extLst>
                <a:ext uri="{FF2B5EF4-FFF2-40B4-BE49-F238E27FC236}">
                  <a16:creationId xmlns:a16="http://schemas.microsoft.com/office/drawing/2014/main" id="{2D82B046-FD57-E793-C4F9-D7A2BAB65138}"/>
                </a:ext>
              </a:extLst>
            </p:cNvPr>
            <p:cNvSpPr/>
            <p:nvPr/>
          </p:nvSpPr>
          <p:spPr>
            <a:xfrm>
              <a:off x="10045225" y="3782078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Error Analysis</a:t>
              </a:r>
            </a:p>
          </p:txBody>
        </p:sp>
        <p:sp>
          <p:nvSpPr>
            <p:cNvPr id="280" name="Rectangle: Rounded Corners 279">
              <a:hlinkClick r:id="" action="ppaction://noaction"/>
              <a:extLst>
                <a:ext uri="{FF2B5EF4-FFF2-40B4-BE49-F238E27FC236}">
                  <a16:creationId xmlns:a16="http://schemas.microsoft.com/office/drawing/2014/main" id="{7D8522C7-8608-FE46-A928-F7950B3B29DA}"/>
                </a:ext>
              </a:extLst>
            </p:cNvPr>
            <p:cNvSpPr/>
            <p:nvPr/>
          </p:nvSpPr>
          <p:spPr>
            <a:xfrm>
              <a:off x="10045225" y="4167554"/>
              <a:ext cx="1349136" cy="280106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Profiler</a:t>
              </a:r>
            </a:p>
          </p:txBody>
        </p:sp>
        <p:sp>
          <p:nvSpPr>
            <p:cNvPr id="281" name="Rectangle: Rounded Corners 280">
              <a:hlinkClick r:id="" action="ppaction://noaction"/>
              <a:extLst>
                <a:ext uri="{FF2B5EF4-FFF2-40B4-BE49-F238E27FC236}">
                  <a16:creationId xmlns:a16="http://schemas.microsoft.com/office/drawing/2014/main" id="{D6E46D65-50EF-4A8E-6CA9-960AE26DA7E7}"/>
                </a:ext>
              </a:extLst>
            </p:cNvPr>
            <p:cNvSpPr/>
            <p:nvPr/>
          </p:nvSpPr>
          <p:spPr>
            <a:xfrm>
              <a:off x="2630897" y="5272453"/>
              <a:ext cx="955340" cy="25742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Containerization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6151E15B-9B76-4E54-8A6D-2947FF7CF5EA}"/>
                </a:ext>
              </a:extLst>
            </p:cNvPr>
            <p:cNvSpPr txBox="1"/>
            <p:nvPr/>
          </p:nvSpPr>
          <p:spPr>
            <a:xfrm>
              <a:off x="6916869" y="4701116"/>
              <a:ext cx="875034" cy="262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Integration</a:t>
              </a:r>
            </a:p>
          </p:txBody>
        </p:sp>
        <p:sp>
          <p:nvSpPr>
            <p:cNvPr id="283" name="Rectangle: Rounded Corners 282">
              <a:hlinkClick r:id="" action="ppaction://noaction"/>
              <a:extLst>
                <a:ext uri="{FF2B5EF4-FFF2-40B4-BE49-F238E27FC236}">
                  <a16:creationId xmlns:a16="http://schemas.microsoft.com/office/drawing/2014/main" id="{40217364-9DB9-B575-0F82-7665FFC93B85}"/>
                </a:ext>
              </a:extLst>
            </p:cNvPr>
            <p:cNvSpPr/>
            <p:nvPr/>
          </p:nvSpPr>
          <p:spPr>
            <a:xfrm>
              <a:off x="6869296" y="4961782"/>
              <a:ext cx="955340" cy="25742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Synchronous</a:t>
              </a:r>
            </a:p>
          </p:txBody>
        </p:sp>
        <p:sp>
          <p:nvSpPr>
            <p:cNvPr id="284" name="Rectangle: Rounded Corners 283">
              <a:hlinkClick r:id="" action="ppaction://noaction"/>
              <a:extLst>
                <a:ext uri="{FF2B5EF4-FFF2-40B4-BE49-F238E27FC236}">
                  <a16:creationId xmlns:a16="http://schemas.microsoft.com/office/drawing/2014/main" id="{46EF8297-659B-C209-44CF-2E70C33F818C}"/>
                </a:ext>
              </a:extLst>
            </p:cNvPr>
            <p:cNvSpPr/>
            <p:nvPr/>
          </p:nvSpPr>
          <p:spPr>
            <a:xfrm>
              <a:off x="6866298" y="5294399"/>
              <a:ext cx="955340" cy="25742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t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Asynchronous</a:t>
              </a:r>
            </a:p>
          </p:txBody>
        </p:sp>
        <p:sp>
          <p:nvSpPr>
            <p:cNvPr id="285" name="Rectangle: Rounded Corners 284">
              <a:hlinkClick r:id="" action="ppaction://noaction"/>
              <a:extLst>
                <a:ext uri="{FF2B5EF4-FFF2-40B4-BE49-F238E27FC236}">
                  <a16:creationId xmlns:a16="http://schemas.microsoft.com/office/drawing/2014/main" id="{9ABD4612-C8C4-036C-7BE7-8BAFF8B7A7C0}"/>
                </a:ext>
              </a:extLst>
            </p:cNvPr>
            <p:cNvSpPr/>
            <p:nvPr/>
          </p:nvSpPr>
          <p:spPr>
            <a:xfrm>
              <a:off x="9319898" y="1663236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Module Validate/Execute</a:t>
              </a:r>
            </a:p>
          </p:txBody>
        </p:sp>
        <p:sp>
          <p:nvSpPr>
            <p:cNvPr id="286" name="Rectangle: Rounded Corners 285">
              <a:hlinkClick r:id="" action="ppaction://noaction"/>
              <a:extLst>
                <a:ext uri="{FF2B5EF4-FFF2-40B4-BE49-F238E27FC236}">
                  <a16:creationId xmlns:a16="http://schemas.microsoft.com/office/drawing/2014/main" id="{A67B4FA7-4E94-9F7A-4972-AE8DB4FC5A51}"/>
                </a:ext>
              </a:extLst>
            </p:cNvPr>
            <p:cNvSpPr/>
            <p:nvPr/>
          </p:nvSpPr>
          <p:spPr>
            <a:xfrm>
              <a:off x="10480637" y="1653839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Catalog UI</a:t>
              </a:r>
            </a:p>
          </p:txBody>
        </p:sp>
        <p:sp>
          <p:nvSpPr>
            <p:cNvPr id="287" name="Rectangle: Rounded Corners 286">
              <a:hlinkClick r:id="" action="ppaction://noaction"/>
              <a:extLst>
                <a:ext uri="{FF2B5EF4-FFF2-40B4-BE49-F238E27FC236}">
                  <a16:creationId xmlns:a16="http://schemas.microsoft.com/office/drawing/2014/main" id="{F17ABA3D-7AD7-8C73-FC0C-00E0F074AE4B}"/>
                </a:ext>
              </a:extLst>
            </p:cNvPr>
            <p:cNvSpPr/>
            <p:nvPr/>
          </p:nvSpPr>
          <p:spPr>
            <a:xfrm>
              <a:off x="10480637" y="2095388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Steward UI</a:t>
              </a:r>
            </a:p>
          </p:txBody>
        </p:sp>
        <p:sp>
          <p:nvSpPr>
            <p:cNvPr id="288" name="Rectangle: Rounded Corners 287">
              <a:hlinkClick r:id="" action="ppaction://noaction"/>
              <a:extLst>
                <a:ext uri="{FF2B5EF4-FFF2-40B4-BE49-F238E27FC236}">
                  <a16:creationId xmlns:a16="http://schemas.microsoft.com/office/drawing/2014/main" id="{6E4D0071-B8AF-EB01-D104-5B7C5135D1FA}"/>
                </a:ext>
              </a:extLst>
            </p:cNvPr>
            <p:cNvSpPr/>
            <p:nvPr/>
          </p:nvSpPr>
          <p:spPr>
            <a:xfrm>
              <a:off x="9311439" y="2095388"/>
              <a:ext cx="991875" cy="36338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Change Control</a:t>
              </a:r>
            </a:p>
          </p:txBody>
        </p:sp>
        <p:sp>
          <p:nvSpPr>
            <p:cNvPr id="289" name="Rectangle: Rounded Corners 288">
              <a:hlinkClick r:id="" action="ppaction://noaction"/>
              <a:extLst>
                <a:ext uri="{FF2B5EF4-FFF2-40B4-BE49-F238E27FC236}">
                  <a16:creationId xmlns:a16="http://schemas.microsoft.com/office/drawing/2014/main" id="{0AABBA0A-085E-4487-01C0-AD452E7FE8A2}"/>
                </a:ext>
              </a:extLst>
            </p:cNvPr>
            <p:cNvSpPr/>
            <p:nvPr/>
          </p:nvSpPr>
          <p:spPr>
            <a:xfrm>
              <a:off x="4480516" y="3956418"/>
              <a:ext cx="986528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290" name="Rectangle: Rounded Corners 289">
              <a:hlinkClick r:id="" action="ppaction://noaction"/>
              <a:extLst>
                <a:ext uri="{FF2B5EF4-FFF2-40B4-BE49-F238E27FC236}">
                  <a16:creationId xmlns:a16="http://schemas.microsoft.com/office/drawing/2014/main" id="{783A8489-0960-C03F-93C6-9D06255AB1A4}"/>
                </a:ext>
              </a:extLst>
            </p:cNvPr>
            <p:cNvSpPr/>
            <p:nvPr/>
          </p:nvSpPr>
          <p:spPr>
            <a:xfrm>
              <a:off x="6805374" y="3956418"/>
              <a:ext cx="986528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291" name="Rectangle: Rounded Corners 290">
              <a:hlinkClick r:id="" action="ppaction://noaction"/>
              <a:extLst>
                <a:ext uri="{FF2B5EF4-FFF2-40B4-BE49-F238E27FC236}">
                  <a16:creationId xmlns:a16="http://schemas.microsoft.com/office/drawing/2014/main" id="{A2E82883-52D0-7F90-75E7-478DED94E244}"/>
                </a:ext>
              </a:extLst>
            </p:cNvPr>
            <p:cNvSpPr/>
            <p:nvPr/>
          </p:nvSpPr>
          <p:spPr>
            <a:xfrm>
              <a:off x="5642945" y="3956418"/>
              <a:ext cx="986528" cy="27662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Integration</a:t>
              </a:r>
            </a:p>
          </p:txBody>
        </p:sp>
        <p:sp>
          <p:nvSpPr>
            <p:cNvPr id="292" name="Rectangle: Rounded Corners 291">
              <a:extLst>
                <a:ext uri="{FF2B5EF4-FFF2-40B4-BE49-F238E27FC236}">
                  <a16:creationId xmlns:a16="http://schemas.microsoft.com/office/drawing/2014/main" id="{70E818E3-4CFE-36B9-2B2A-189691918207}"/>
                </a:ext>
              </a:extLst>
            </p:cNvPr>
            <p:cNvSpPr/>
            <p:nvPr/>
          </p:nvSpPr>
          <p:spPr>
            <a:xfrm>
              <a:off x="8382350" y="5390426"/>
              <a:ext cx="1236805" cy="261610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lgDash"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Other 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956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88C6-5BFB-9B77-D78E-9C92E036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9454677-C3BD-F6B5-50F8-83987D35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55774"/>
            <a:ext cx="9971702" cy="461765"/>
          </a:xfrm>
        </p:spPr>
        <p:txBody>
          <a:bodyPr>
            <a:noAutofit/>
          </a:bodyPr>
          <a:lstStyle/>
          <a:p>
            <a:r>
              <a:rPr lang="en-US" sz="2500">
                <a:latin typeface="Segoe UI Semibold"/>
                <a:cs typeface="Segoe UI Semibold"/>
              </a:rPr>
              <a:t>AI Ready, Lakehouse Conceptual Architecture</a:t>
            </a:r>
            <a:br>
              <a:rPr lang="en-US" sz="2500">
                <a:latin typeface="Segoe UI Semibold"/>
                <a:cs typeface="Segoe UI Semibold"/>
              </a:rPr>
            </a:br>
            <a:r>
              <a:rPr lang="en-US" sz="1800">
                <a:latin typeface="Segoe UI Semibold"/>
                <a:cs typeface="Segoe UI Semibold"/>
              </a:rPr>
              <a:t>Benefits and Features</a:t>
            </a:r>
            <a:endParaRPr lang="en-US" sz="1400">
              <a:latin typeface="Segoe UI Semibold"/>
              <a:cs typeface="Segoe UI Semibold"/>
            </a:endParaRPr>
          </a:p>
        </p:txBody>
      </p:sp>
      <p:sp>
        <p:nvSpPr>
          <p:cNvPr id="317" name="Rectangle: Rounded Corners 316">
            <a:extLst>
              <a:ext uri="{FF2B5EF4-FFF2-40B4-BE49-F238E27FC236}">
                <a16:creationId xmlns:a16="http://schemas.microsoft.com/office/drawing/2014/main" id="{57FCBB74-ACB7-0845-4E8C-EA40C9211D97}"/>
              </a:ext>
            </a:extLst>
          </p:cNvPr>
          <p:cNvSpPr/>
          <p:nvPr/>
        </p:nvSpPr>
        <p:spPr>
          <a:xfrm>
            <a:off x="6514912" y="4955301"/>
            <a:ext cx="3818668" cy="323139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6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8A4F632-B538-133B-0B61-EFBE87DB1E87}"/>
              </a:ext>
            </a:extLst>
          </p:cNvPr>
          <p:cNvSpPr/>
          <p:nvPr/>
        </p:nvSpPr>
        <p:spPr>
          <a:xfrm>
            <a:off x="5714708" y="4311484"/>
            <a:ext cx="631994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HTTP Proxy Use Case Data Product Call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CAC03BFD-C1B4-8D93-5AF5-D57C9020FD45}"/>
              </a:ext>
            </a:extLst>
          </p:cNvPr>
          <p:cNvSpPr/>
          <p:nvPr/>
        </p:nvSpPr>
        <p:spPr>
          <a:xfrm>
            <a:off x="5714708" y="4921720"/>
            <a:ext cx="631994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Post Use Case Request</a:t>
            </a:r>
          </a:p>
        </p:txBody>
      </p:sp>
      <p:cxnSp>
        <p:nvCxnSpPr>
          <p:cNvPr id="322" name="Straight Arrow Connector 72">
            <a:extLst>
              <a:ext uri="{FF2B5EF4-FFF2-40B4-BE49-F238E27FC236}">
                <a16:creationId xmlns:a16="http://schemas.microsoft.com/office/drawing/2014/main" id="{9B805954-E51F-FFE5-015B-E35D08C95C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09156" y="4418325"/>
            <a:ext cx="417688" cy="593418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B12DB2E6-BB02-8BFF-8E61-FD058C19A68D}"/>
              </a:ext>
            </a:extLst>
          </p:cNvPr>
          <p:cNvCxnSpPr>
            <a:cxnSpLocks/>
          </p:cNvCxnSpPr>
          <p:nvPr/>
        </p:nvCxnSpPr>
        <p:spPr>
          <a:xfrm>
            <a:off x="6030705" y="4700896"/>
            <a:ext cx="0" cy="22082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Rectangle 323">
            <a:extLst>
              <a:ext uri="{FF2B5EF4-FFF2-40B4-BE49-F238E27FC236}">
                <a16:creationId xmlns:a16="http://schemas.microsoft.com/office/drawing/2014/main" id="{A06E8CDA-251D-BB82-DFAA-671B1BA3079E}"/>
              </a:ext>
            </a:extLst>
          </p:cNvPr>
          <p:cNvSpPr/>
          <p:nvPr/>
        </p:nvSpPr>
        <p:spPr>
          <a:xfrm>
            <a:off x="4707179" y="4923878"/>
            <a:ext cx="828221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Consumable or Pipeline Request for Use Case Data Product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40BDBEAA-8545-03B1-FDF2-40BEF396B4B9}"/>
              </a:ext>
            </a:extLst>
          </p:cNvPr>
          <p:cNvCxnSpPr>
            <a:cxnSpLocks/>
          </p:cNvCxnSpPr>
          <p:nvPr/>
        </p:nvCxnSpPr>
        <p:spPr>
          <a:xfrm flipV="1">
            <a:off x="5535401" y="5116425"/>
            <a:ext cx="179307" cy="2158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44A61FF1-AB17-8B0E-CA74-E4958EB0810B}"/>
              </a:ext>
            </a:extLst>
          </p:cNvPr>
          <p:cNvSpPr txBox="1"/>
          <p:nvPr/>
        </p:nvSpPr>
        <p:spPr>
          <a:xfrm>
            <a:off x="3816216" y="2907644"/>
            <a:ext cx="577402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b="1">
                <a:solidFill>
                  <a:schemeClr val="accent6">
                    <a:lumMod val="10000"/>
                  </a:schemeClr>
                </a:solidFill>
              </a:rPr>
              <a:t>Design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C6579DCA-F42C-03AC-551E-8837D5BAB938}"/>
              </a:ext>
            </a:extLst>
          </p:cNvPr>
          <p:cNvSpPr txBox="1"/>
          <p:nvPr/>
        </p:nvSpPr>
        <p:spPr>
          <a:xfrm>
            <a:off x="3839188" y="440451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6">
                    <a:lumMod val="10000"/>
                  </a:schemeClr>
                </a:solidFill>
              </a:rPr>
              <a:t>Execution</a:t>
            </a:r>
          </a:p>
        </p:txBody>
      </p:sp>
      <p:cxnSp>
        <p:nvCxnSpPr>
          <p:cNvPr id="328" name="Straight Arrow Connector 72">
            <a:extLst>
              <a:ext uri="{FF2B5EF4-FFF2-40B4-BE49-F238E27FC236}">
                <a16:creationId xmlns:a16="http://schemas.microsoft.com/office/drawing/2014/main" id="{8BC53891-48FB-83ED-D5CA-D219A4FC2D43}"/>
              </a:ext>
            </a:extLst>
          </p:cNvPr>
          <p:cNvCxnSpPr>
            <a:cxnSpLocks/>
          </p:cNvCxnSpPr>
          <p:nvPr/>
        </p:nvCxnSpPr>
        <p:spPr>
          <a:xfrm>
            <a:off x="6346702" y="5116425"/>
            <a:ext cx="168209" cy="446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72">
            <a:extLst>
              <a:ext uri="{FF2B5EF4-FFF2-40B4-BE49-F238E27FC236}">
                <a16:creationId xmlns:a16="http://schemas.microsoft.com/office/drawing/2014/main" id="{4FA915BC-2707-208B-9656-32A29DF81A2E}"/>
              </a:ext>
            </a:extLst>
          </p:cNvPr>
          <p:cNvCxnSpPr>
            <a:cxnSpLocks/>
          </p:cNvCxnSpPr>
          <p:nvPr/>
        </p:nvCxnSpPr>
        <p:spPr>
          <a:xfrm flipV="1">
            <a:off x="6982034" y="4597887"/>
            <a:ext cx="4318" cy="34039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7990B85-1719-7AA2-10C7-E73D658391E7}"/>
              </a:ext>
            </a:extLst>
          </p:cNvPr>
          <p:cNvSpPr/>
          <p:nvPr/>
        </p:nvSpPr>
        <p:spPr>
          <a:xfrm>
            <a:off x="6730136" y="4208475"/>
            <a:ext cx="512431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Airflow</a:t>
            </a:r>
          </a:p>
          <a:p>
            <a:pPr algn="ctr"/>
            <a:r>
              <a:rPr lang="en-US" sz="600">
                <a:solidFill>
                  <a:schemeClr val="bg1"/>
                </a:solidFill>
              </a:rPr>
              <a:t>Listener</a:t>
            </a:r>
          </a:p>
        </p:txBody>
      </p: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7BEC4E1B-B6F3-CA96-F418-E42DE7384628}"/>
              </a:ext>
            </a:extLst>
          </p:cNvPr>
          <p:cNvCxnSpPr>
            <a:cxnSpLocks/>
          </p:cNvCxnSpPr>
          <p:nvPr/>
        </p:nvCxnSpPr>
        <p:spPr>
          <a:xfrm flipV="1">
            <a:off x="7242567" y="4402522"/>
            <a:ext cx="126599" cy="65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125DCFBC-71C5-552A-21E4-EAC5C73A15BA}"/>
              </a:ext>
            </a:extLst>
          </p:cNvPr>
          <p:cNvSpPr/>
          <p:nvPr/>
        </p:nvSpPr>
        <p:spPr>
          <a:xfrm>
            <a:off x="7369166" y="4207816"/>
            <a:ext cx="504595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Execute Orchestration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E6278E6-FFC1-1E3D-5EA0-B15227E0A835}"/>
              </a:ext>
            </a:extLst>
          </p:cNvPr>
          <p:cNvSpPr/>
          <p:nvPr/>
        </p:nvSpPr>
        <p:spPr>
          <a:xfrm>
            <a:off x="6635165" y="5483613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Reference </a:t>
            </a:r>
          </a:p>
          <a:p>
            <a:pPr algn="ctr"/>
            <a:r>
              <a:rPr lang="en-US" sz="600">
                <a:solidFill>
                  <a:schemeClr val="bg1"/>
                </a:solidFill>
              </a:rPr>
              <a:t>Data Listener</a:t>
            </a:r>
          </a:p>
        </p:txBody>
      </p: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F41DD554-FB12-124B-1FB9-A854FF658C82}"/>
              </a:ext>
            </a:extLst>
          </p:cNvPr>
          <p:cNvCxnSpPr>
            <a:cxnSpLocks/>
          </p:cNvCxnSpPr>
          <p:nvPr/>
        </p:nvCxnSpPr>
        <p:spPr>
          <a:xfrm flipH="1">
            <a:off x="6903538" y="5283210"/>
            <a:ext cx="46" cy="20040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27BA3563-4505-BA15-C03F-3B82ABB572E7}"/>
              </a:ext>
            </a:extLst>
          </p:cNvPr>
          <p:cNvGrpSpPr/>
          <p:nvPr/>
        </p:nvGrpSpPr>
        <p:grpSpPr>
          <a:xfrm>
            <a:off x="7316906" y="3647930"/>
            <a:ext cx="591257" cy="323139"/>
            <a:chOff x="7076910" y="2836138"/>
            <a:chExt cx="1013225" cy="473803"/>
          </a:xfrm>
        </p:grpSpPr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8D4540C3-6B39-095A-5C8E-1821749FE5A2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7CD0F8BD-ACC9-386C-32DF-7F0F67DB25A6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600">
                <a:solidFill>
                  <a:schemeClr val="bg1"/>
                </a:solidFill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553B929D-3382-38A3-9175-86115F455BC8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cxnSp>
        <p:nvCxnSpPr>
          <p:cNvPr id="336" name="Straight Arrow Connector 72">
            <a:extLst>
              <a:ext uri="{FF2B5EF4-FFF2-40B4-BE49-F238E27FC236}">
                <a16:creationId xmlns:a16="http://schemas.microsoft.com/office/drawing/2014/main" id="{36CEF26E-618F-B0D8-1CB2-4BC059D2A80A}"/>
              </a:ext>
            </a:extLst>
          </p:cNvPr>
          <p:cNvCxnSpPr>
            <a:cxnSpLocks/>
            <a:endCxn id="258" idx="1"/>
          </p:cNvCxnSpPr>
          <p:nvPr/>
        </p:nvCxnSpPr>
        <p:spPr>
          <a:xfrm flipV="1">
            <a:off x="9832376" y="4398132"/>
            <a:ext cx="80655" cy="231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Rectangle 336">
            <a:extLst>
              <a:ext uri="{FF2B5EF4-FFF2-40B4-BE49-F238E27FC236}">
                <a16:creationId xmlns:a16="http://schemas.microsoft.com/office/drawing/2014/main" id="{367E2EAA-093C-571D-5DEC-AD9557A65DFB}"/>
              </a:ext>
            </a:extLst>
          </p:cNvPr>
          <p:cNvSpPr/>
          <p:nvPr/>
        </p:nvSpPr>
        <p:spPr>
          <a:xfrm>
            <a:off x="9117960" y="4205736"/>
            <a:ext cx="714416" cy="389412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Package Payload with Reference (Heavy) or Data (Light) </a:t>
            </a: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E716F8B6-B760-404C-DB9F-2415452F177A}"/>
              </a:ext>
            </a:extLst>
          </p:cNvPr>
          <p:cNvCxnSpPr>
            <a:cxnSpLocks/>
          </p:cNvCxnSpPr>
          <p:nvPr/>
        </p:nvCxnSpPr>
        <p:spPr>
          <a:xfrm flipH="1">
            <a:off x="7537291" y="5283210"/>
            <a:ext cx="4047" cy="20950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Rectangle 338">
            <a:extLst>
              <a:ext uri="{FF2B5EF4-FFF2-40B4-BE49-F238E27FC236}">
                <a16:creationId xmlns:a16="http://schemas.microsoft.com/office/drawing/2014/main" id="{22D5FC55-7E61-EEA9-63BD-C348A3623347}"/>
              </a:ext>
            </a:extLst>
          </p:cNvPr>
          <p:cNvSpPr/>
          <p:nvPr/>
        </p:nvSpPr>
        <p:spPr>
          <a:xfrm>
            <a:off x="7268918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Transaction Log / Audit Trail</a:t>
            </a: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6AEA6392-0B7E-1F9B-6CFB-35B9E985CF20}"/>
              </a:ext>
            </a:extLst>
          </p:cNvPr>
          <p:cNvSpPr/>
          <p:nvPr/>
        </p:nvSpPr>
        <p:spPr>
          <a:xfrm>
            <a:off x="6943003" y="49382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9260120-0B92-6C55-2F9E-33AC248DFAFE}"/>
              </a:ext>
            </a:extLst>
          </p:cNvPr>
          <p:cNvSpPr/>
          <p:nvPr/>
        </p:nvSpPr>
        <p:spPr>
          <a:xfrm>
            <a:off x="6864552" y="52065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6D8905B9-9BC0-4EEF-6169-445BE6EC7A22}"/>
              </a:ext>
            </a:extLst>
          </p:cNvPr>
          <p:cNvSpPr/>
          <p:nvPr/>
        </p:nvSpPr>
        <p:spPr>
          <a:xfrm>
            <a:off x="7502306" y="5206584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3" name="Cylinder 342">
            <a:extLst>
              <a:ext uri="{FF2B5EF4-FFF2-40B4-BE49-F238E27FC236}">
                <a16:creationId xmlns:a16="http://schemas.microsoft.com/office/drawing/2014/main" id="{D0C9A450-A8B7-6579-FCA2-7FE560F3EFB9}"/>
              </a:ext>
            </a:extLst>
          </p:cNvPr>
          <p:cNvSpPr/>
          <p:nvPr/>
        </p:nvSpPr>
        <p:spPr>
          <a:xfrm>
            <a:off x="9337835" y="3839038"/>
            <a:ext cx="582041" cy="229519"/>
          </a:xfrm>
          <a:prstGeom prst="can">
            <a:avLst>
              <a:gd name="adj" fmla="val 16579"/>
            </a:avLst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t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Temp Results Store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97231508-EF0F-C874-310A-266B93D8DA2A}"/>
              </a:ext>
            </a:extLst>
          </p:cNvPr>
          <p:cNvSpPr/>
          <p:nvPr/>
        </p:nvSpPr>
        <p:spPr>
          <a:xfrm>
            <a:off x="8591617" y="4318047"/>
            <a:ext cx="394484" cy="2789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6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345" name="Straight Arrow Connector 72">
            <a:extLst>
              <a:ext uri="{FF2B5EF4-FFF2-40B4-BE49-F238E27FC236}">
                <a16:creationId xmlns:a16="http://schemas.microsoft.com/office/drawing/2014/main" id="{78693658-21D2-BEC2-08C4-EE7F748A79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59739" y="3830163"/>
            <a:ext cx="254462" cy="501731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Rectangle 345">
            <a:extLst>
              <a:ext uri="{FF2B5EF4-FFF2-40B4-BE49-F238E27FC236}">
                <a16:creationId xmlns:a16="http://schemas.microsoft.com/office/drawing/2014/main" id="{1BC291FA-0290-4E9A-1838-083B40713A2A}"/>
              </a:ext>
            </a:extLst>
          </p:cNvPr>
          <p:cNvSpPr/>
          <p:nvPr/>
        </p:nvSpPr>
        <p:spPr>
          <a:xfrm>
            <a:off x="11114919" y="4919188"/>
            <a:ext cx="486098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Consumer</a:t>
            </a:r>
          </a:p>
        </p:txBody>
      </p: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39B123FA-4F90-5F41-974A-35EA6F0F9163}"/>
              </a:ext>
            </a:extLst>
          </p:cNvPr>
          <p:cNvCxnSpPr>
            <a:cxnSpLocks/>
          </p:cNvCxnSpPr>
          <p:nvPr/>
        </p:nvCxnSpPr>
        <p:spPr>
          <a:xfrm>
            <a:off x="8992946" y="4400442"/>
            <a:ext cx="125014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Rectangle 347">
            <a:extLst>
              <a:ext uri="{FF2B5EF4-FFF2-40B4-BE49-F238E27FC236}">
                <a16:creationId xmlns:a16="http://schemas.microsoft.com/office/drawing/2014/main" id="{0FB76013-8D35-0FDE-F1A3-C26FF0932424}"/>
              </a:ext>
            </a:extLst>
          </p:cNvPr>
          <p:cNvSpPr/>
          <p:nvPr/>
        </p:nvSpPr>
        <p:spPr>
          <a:xfrm>
            <a:off x="9913031" y="4205736"/>
            <a:ext cx="348324" cy="38479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Post Result</a:t>
            </a: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7AE64491-97CC-935A-4611-6E8445F2E9FD}"/>
              </a:ext>
            </a:extLst>
          </p:cNvPr>
          <p:cNvSpPr/>
          <p:nvPr/>
        </p:nvSpPr>
        <p:spPr>
          <a:xfrm>
            <a:off x="9993561" y="4941435"/>
            <a:ext cx="78063" cy="766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cxnSp>
        <p:nvCxnSpPr>
          <p:cNvPr id="350" name="Straight Arrow Connector 72">
            <a:extLst>
              <a:ext uri="{FF2B5EF4-FFF2-40B4-BE49-F238E27FC236}">
                <a16:creationId xmlns:a16="http://schemas.microsoft.com/office/drawing/2014/main" id="{5F5CE531-F1EF-8B90-98D4-FBBB7CB95E19}"/>
              </a:ext>
            </a:extLst>
          </p:cNvPr>
          <p:cNvCxnSpPr>
            <a:cxnSpLocks/>
            <a:stCxn id="258" idx="2"/>
          </p:cNvCxnSpPr>
          <p:nvPr/>
        </p:nvCxnSpPr>
        <p:spPr>
          <a:xfrm>
            <a:off x="10087193" y="4590527"/>
            <a:ext cx="0" cy="35741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Arrow Connector 72">
            <a:extLst>
              <a:ext uri="{FF2B5EF4-FFF2-40B4-BE49-F238E27FC236}">
                <a16:creationId xmlns:a16="http://schemas.microsoft.com/office/drawing/2014/main" id="{18D22FC7-2A0D-A72A-1BC0-BEBBE61D56B4}"/>
              </a:ext>
            </a:extLst>
          </p:cNvPr>
          <p:cNvCxnSpPr>
            <a:cxnSpLocks/>
          </p:cNvCxnSpPr>
          <p:nvPr/>
        </p:nvCxnSpPr>
        <p:spPr>
          <a:xfrm>
            <a:off x="9919876" y="3953797"/>
            <a:ext cx="1438092" cy="965391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72">
            <a:extLst>
              <a:ext uri="{FF2B5EF4-FFF2-40B4-BE49-F238E27FC236}">
                <a16:creationId xmlns:a16="http://schemas.microsoft.com/office/drawing/2014/main" id="{93B94D17-6CF2-D347-911D-782B52486F42}"/>
              </a:ext>
            </a:extLst>
          </p:cNvPr>
          <p:cNvCxnSpPr>
            <a:cxnSpLocks/>
          </p:cNvCxnSpPr>
          <p:nvPr/>
        </p:nvCxnSpPr>
        <p:spPr>
          <a:xfrm flipV="1">
            <a:off x="10333580" y="5114775"/>
            <a:ext cx="214839" cy="209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Rectangle 352">
            <a:extLst>
              <a:ext uri="{FF2B5EF4-FFF2-40B4-BE49-F238E27FC236}">
                <a16:creationId xmlns:a16="http://schemas.microsoft.com/office/drawing/2014/main" id="{DC2E8D8B-7E15-A4C5-E845-6E6CC59FF65B}"/>
              </a:ext>
            </a:extLst>
          </p:cNvPr>
          <p:cNvSpPr/>
          <p:nvPr/>
        </p:nvSpPr>
        <p:spPr>
          <a:xfrm>
            <a:off x="10548419" y="4922379"/>
            <a:ext cx="348324" cy="384791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Result Listener</a:t>
            </a:r>
          </a:p>
        </p:txBody>
      </p:sp>
      <p:cxnSp>
        <p:nvCxnSpPr>
          <p:cNvPr id="354" name="Straight Arrow Connector 72">
            <a:extLst>
              <a:ext uri="{FF2B5EF4-FFF2-40B4-BE49-F238E27FC236}">
                <a16:creationId xmlns:a16="http://schemas.microsoft.com/office/drawing/2014/main" id="{FC6A5060-01BB-BE13-582C-8DA57A4B4826}"/>
              </a:ext>
            </a:extLst>
          </p:cNvPr>
          <p:cNvCxnSpPr>
            <a:cxnSpLocks/>
          </p:cNvCxnSpPr>
          <p:nvPr/>
        </p:nvCxnSpPr>
        <p:spPr>
          <a:xfrm flipV="1">
            <a:off x="10896743" y="5113894"/>
            <a:ext cx="218176" cy="88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42F1F787-B3F3-061E-8112-BCDDE278C3FD}"/>
              </a:ext>
            </a:extLst>
          </p:cNvPr>
          <p:cNvCxnSpPr>
            <a:cxnSpLocks/>
          </p:cNvCxnSpPr>
          <p:nvPr/>
        </p:nvCxnSpPr>
        <p:spPr>
          <a:xfrm flipV="1">
            <a:off x="7621463" y="4597228"/>
            <a:ext cx="0" cy="33741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Cylinder 358">
            <a:extLst>
              <a:ext uri="{FF2B5EF4-FFF2-40B4-BE49-F238E27FC236}">
                <a16:creationId xmlns:a16="http://schemas.microsoft.com/office/drawing/2014/main" id="{846774C8-0F46-90C6-8E14-0E88218315FA}"/>
              </a:ext>
            </a:extLst>
          </p:cNvPr>
          <p:cNvSpPr/>
          <p:nvPr/>
        </p:nvSpPr>
        <p:spPr>
          <a:xfrm>
            <a:off x="8219341" y="3530660"/>
            <a:ext cx="556923" cy="225144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  <a:ea typeface="Calibri"/>
                <a:cs typeface="Calibri"/>
              </a:rPr>
              <a:t>CDMs / Source/ Target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09E445F8-040B-F67A-5FAD-C1906F4D8A7D}"/>
              </a:ext>
            </a:extLst>
          </p:cNvPr>
          <p:cNvSpPr/>
          <p:nvPr/>
        </p:nvSpPr>
        <p:spPr>
          <a:xfrm>
            <a:off x="8000360" y="4318925"/>
            <a:ext cx="591257" cy="2789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Light or Heavy Implementation</a:t>
            </a:r>
            <a:endParaRPr lang="en-US" sz="60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D0FD1278-E255-F78D-DEAF-4C7873E16109}"/>
              </a:ext>
            </a:extLst>
          </p:cNvPr>
          <p:cNvCxnSpPr>
            <a:cxnSpLocks/>
          </p:cNvCxnSpPr>
          <p:nvPr/>
        </p:nvCxnSpPr>
        <p:spPr>
          <a:xfrm>
            <a:off x="8295988" y="4597888"/>
            <a:ext cx="4318" cy="357414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61EA7392-0C6B-B5AA-7E5F-E52A09DBCDF1}"/>
              </a:ext>
            </a:extLst>
          </p:cNvPr>
          <p:cNvCxnSpPr>
            <a:cxnSpLocks/>
          </p:cNvCxnSpPr>
          <p:nvPr/>
        </p:nvCxnSpPr>
        <p:spPr>
          <a:xfrm flipV="1">
            <a:off x="8496653" y="3755804"/>
            <a:ext cx="0" cy="449932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Arrow Connector 72">
            <a:extLst>
              <a:ext uri="{FF2B5EF4-FFF2-40B4-BE49-F238E27FC236}">
                <a16:creationId xmlns:a16="http://schemas.microsoft.com/office/drawing/2014/main" id="{F261E454-BB15-9C9E-2421-4F1CAD6494C3}"/>
              </a:ext>
            </a:extLst>
          </p:cNvPr>
          <p:cNvCxnSpPr>
            <a:cxnSpLocks/>
          </p:cNvCxnSpPr>
          <p:nvPr/>
        </p:nvCxnSpPr>
        <p:spPr>
          <a:xfrm>
            <a:off x="7908164" y="3843960"/>
            <a:ext cx="247132" cy="361776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Rectangle 363">
            <a:extLst>
              <a:ext uri="{FF2B5EF4-FFF2-40B4-BE49-F238E27FC236}">
                <a16:creationId xmlns:a16="http://schemas.microsoft.com/office/drawing/2014/main" id="{C52F4BEA-DAC8-FD06-B33D-DE0EBAAF30CE}"/>
              </a:ext>
            </a:extLst>
          </p:cNvPr>
          <p:cNvSpPr/>
          <p:nvPr/>
        </p:nvSpPr>
        <p:spPr>
          <a:xfrm>
            <a:off x="7969360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AI Listener</a:t>
            </a:r>
          </a:p>
        </p:txBody>
      </p: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AF8BEAB5-AF94-1E6B-ACC3-4AF2F3BBAF99}"/>
              </a:ext>
            </a:extLst>
          </p:cNvPr>
          <p:cNvCxnSpPr>
            <a:cxnSpLocks/>
          </p:cNvCxnSpPr>
          <p:nvPr/>
        </p:nvCxnSpPr>
        <p:spPr>
          <a:xfrm flipH="1">
            <a:off x="8237733" y="5292055"/>
            <a:ext cx="4047" cy="20950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Rectangle 365">
            <a:extLst>
              <a:ext uri="{FF2B5EF4-FFF2-40B4-BE49-F238E27FC236}">
                <a16:creationId xmlns:a16="http://schemas.microsoft.com/office/drawing/2014/main" id="{1D764A4E-21A6-7288-F4BA-64873013C3CD}"/>
              </a:ext>
            </a:extLst>
          </p:cNvPr>
          <p:cNvSpPr/>
          <p:nvPr/>
        </p:nvSpPr>
        <p:spPr>
          <a:xfrm>
            <a:off x="8676820" y="5492715"/>
            <a:ext cx="536745" cy="389412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Collibra Listener</a:t>
            </a:r>
          </a:p>
        </p:txBody>
      </p: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A35188DA-551D-EEB6-36A7-FC66527CBD48}"/>
              </a:ext>
            </a:extLst>
          </p:cNvPr>
          <p:cNvCxnSpPr>
            <a:cxnSpLocks/>
          </p:cNvCxnSpPr>
          <p:nvPr/>
        </p:nvCxnSpPr>
        <p:spPr>
          <a:xfrm>
            <a:off x="8945192" y="5276275"/>
            <a:ext cx="1" cy="21644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8245E69F-B5CE-5956-21D1-F5929D7FBE2B}"/>
              </a:ext>
            </a:extLst>
          </p:cNvPr>
          <p:cNvSpPr txBox="1"/>
          <p:nvPr/>
        </p:nvSpPr>
        <p:spPr>
          <a:xfrm>
            <a:off x="8788460" y="3790159"/>
            <a:ext cx="619134" cy="235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Heavy Only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9CEC4721-BD27-FDD5-B76F-39BBE3FBB241}"/>
              </a:ext>
            </a:extLst>
          </p:cNvPr>
          <p:cNvSpPr txBox="1"/>
          <p:nvPr/>
        </p:nvSpPr>
        <p:spPr>
          <a:xfrm>
            <a:off x="10375420" y="3803699"/>
            <a:ext cx="922091" cy="235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Heavy Only Payload</a:t>
            </a:r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24C0C38D-A4CC-20A6-C98C-6C6E66761659}"/>
              </a:ext>
            </a:extLst>
          </p:cNvPr>
          <p:cNvCxnSpPr/>
          <p:nvPr/>
        </p:nvCxnSpPr>
        <p:spPr>
          <a:xfrm>
            <a:off x="3833981" y="3447427"/>
            <a:ext cx="76127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Oval 370">
            <a:extLst>
              <a:ext uri="{FF2B5EF4-FFF2-40B4-BE49-F238E27FC236}">
                <a16:creationId xmlns:a16="http://schemas.microsoft.com/office/drawing/2014/main" id="{54AEA4DB-7D38-7300-AA6F-139BC435A27C}"/>
              </a:ext>
            </a:extLst>
          </p:cNvPr>
          <p:cNvSpPr/>
          <p:nvPr/>
        </p:nvSpPr>
        <p:spPr>
          <a:xfrm>
            <a:off x="8471660" y="4206720"/>
            <a:ext cx="87500" cy="915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FBBD6D8C-0124-9836-246D-211FF525D13A}"/>
              </a:ext>
            </a:extLst>
          </p:cNvPr>
          <p:cNvSpPr/>
          <p:nvPr/>
        </p:nvSpPr>
        <p:spPr>
          <a:xfrm>
            <a:off x="7998775" y="4202996"/>
            <a:ext cx="995320" cy="121946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93378D0A-D48F-EE6B-5EF5-6D235DC5F18C}"/>
              </a:ext>
            </a:extLst>
          </p:cNvPr>
          <p:cNvSpPr/>
          <p:nvPr/>
        </p:nvSpPr>
        <p:spPr>
          <a:xfrm>
            <a:off x="8820980" y="4208259"/>
            <a:ext cx="30249" cy="29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AB26E038-5B74-31BC-B320-0FFB33CF065E}"/>
              </a:ext>
            </a:extLst>
          </p:cNvPr>
          <p:cNvSpPr/>
          <p:nvPr/>
        </p:nvSpPr>
        <p:spPr>
          <a:xfrm>
            <a:off x="8000360" y="4205736"/>
            <a:ext cx="992586" cy="3894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80" name="Freeform: Shape 379">
            <a:extLst>
              <a:ext uri="{FF2B5EF4-FFF2-40B4-BE49-F238E27FC236}">
                <a16:creationId xmlns:a16="http://schemas.microsoft.com/office/drawing/2014/main" id="{BDB456CF-8183-EE82-3E35-ADEF142C7570}"/>
              </a:ext>
            </a:extLst>
          </p:cNvPr>
          <p:cNvSpPr/>
          <p:nvPr/>
        </p:nvSpPr>
        <p:spPr>
          <a:xfrm>
            <a:off x="-7448" y="777208"/>
            <a:ext cx="3506923" cy="6080791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Config-Driven Design &amp; Execution</a:t>
            </a:r>
            <a:endParaRPr lang="en-US" sz="1600">
              <a:solidFill>
                <a:schemeClr val="tx2"/>
              </a:solidFill>
              <a:latin typeface="Aptos"/>
              <a:ea typeface="+mn-lt"/>
              <a:cs typeface="+mn-lt"/>
            </a:endParaRPr>
          </a:p>
          <a:p>
            <a:r>
              <a:rPr lang="en-US" sz="1200" b="1">
                <a:solidFill>
                  <a:schemeClr val="tx1"/>
                </a:solidFill>
                <a:latin typeface="Calibri"/>
                <a:ea typeface="+mn-lt"/>
                <a:cs typeface="+mn-lt"/>
              </a:rPr>
              <a:t>Eliminates custom pipeline sprawl</a:t>
            </a:r>
            <a:r>
              <a:rPr lang="en-US" sz="1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as the routing, logic selection, and service invocation are determined by centrally managed configurations, defined by Data Product SMEs — </a:t>
            </a:r>
            <a:r>
              <a:rPr lang="en-US" sz="1200" b="1">
                <a:solidFill>
                  <a:schemeClr val="tx1"/>
                </a:solidFill>
                <a:latin typeface="Calibri"/>
                <a:ea typeface="+mn-lt"/>
                <a:cs typeface="+mn-lt"/>
              </a:rPr>
              <a:t>not</a:t>
            </a:r>
            <a:r>
              <a:rPr lang="en-US" sz="1200">
                <a:solidFill>
                  <a:schemeClr val="tx1"/>
                </a:solidFill>
                <a:latin typeface="Calibri"/>
                <a:ea typeface="+mn-lt"/>
                <a:cs typeface="+mn-lt"/>
              </a:rPr>
              <a:t> custom code</a:t>
            </a:r>
          </a:p>
          <a:p>
            <a:endParaRPr lang="en-US" sz="1600" b="1">
              <a:solidFill>
                <a:schemeClr val="tx2"/>
              </a:solidFill>
              <a:latin typeface="Aptos"/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Single Governed Entry &amp; Routing </a:t>
            </a:r>
            <a:endParaRPr lang="en-US" b="1">
              <a:solidFill>
                <a:schemeClr val="tx2"/>
              </a:solidFill>
              <a:latin typeface="Aptos"/>
            </a:endParaRPr>
          </a:p>
          <a:p>
            <a:r>
              <a:rPr lang="en-US" sz="1200">
                <a:solidFill>
                  <a:schemeClr val="tx1"/>
                </a:solidFill>
                <a:ea typeface="Calibri"/>
                <a:cs typeface="Calibri"/>
              </a:rPr>
              <a:t>All requests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Calibri"/>
                <a:cs typeface="Calibri"/>
              </a:rPr>
              <a:t>Enter through a central entry point via a DLH Consumption API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Calibri"/>
                <a:cs typeface="Calibri"/>
              </a:rPr>
              <a:t>Routed by a governed orchestration layer</a:t>
            </a:r>
          </a:p>
          <a:p>
            <a:endParaRPr lang="en-US" sz="1100" b="1">
              <a:solidFill>
                <a:srgbClr val="5F6062"/>
              </a:solidFill>
              <a:latin typeface="Aptos"/>
              <a:ea typeface="+mn-lt"/>
              <a:cs typeface="Segoe UI Semilight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Optimized</a:t>
            </a:r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 Processing Path</a:t>
            </a:r>
            <a:endParaRPr lang="en-US" sz="1600" b="1">
              <a:solidFill>
                <a:schemeClr val="tx2"/>
              </a:solidFill>
              <a:latin typeface="Aptos"/>
              <a:ea typeface="+mn-lt"/>
              <a:cs typeface="Segoe UI Semilight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Policy-based light vs heavy execution routing</a:t>
            </a: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Simple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requests are executed immediately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Complex or long‑running processes scale out through containerized microservices.</a:t>
            </a:r>
            <a:endParaRPr lang="en-US" sz="1100">
              <a:solidFill>
                <a:schemeClr val="tx1"/>
              </a:solidFill>
              <a:latin typeface="Segoe UI Semilight"/>
              <a:ea typeface="+mn-lt"/>
              <a:cs typeface="Segoe UI Semilight"/>
            </a:endParaRPr>
          </a:p>
          <a:p>
            <a:endParaRPr lang="en-US" sz="1600" b="1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Reusable Services</a:t>
            </a:r>
          </a:p>
          <a:p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Standard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services (quality, filtering, aggregation, enrichment) are composable and invoked consistently by design</a:t>
            </a:r>
            <a:br>
              <a:rPr lang="en-US" sz="2000" b="1">
                <a:latin typeface="Aptos"/>
                <a:ea typeface="Calibri"/>
                <a:cs typeface="Calibri"/>
              </a:rPr>
            </a:br>
            <a:endParaRPr lang="en-US" sz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Consistent Results Delivery</a:t>
            </a:r>
            <a:endParaRPr lang="en-US" sz="1600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r>
              <a:rPr lang="en-US" sz="1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All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outputs 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Written to governed consumption folders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Standardized with built-in lineage, status, and audit visibility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0C8B74-6E68-101C-4DA7-490CC0A73031}"/>
              </a:ext>
            </a:extLst>
          </p:cNvPr>
          <p:cNvCxnSpPr>
            <a:cxnSpLocks/>
          </p:cNvCxnSpPr>
          <p:nvPr/>
        </p:nvCxnSpPr>
        <p:spPr>
          <a:xfrm>
            <a:off x="96941" y="2167184"/>
            <a:ext cx="328468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0A68914-D164-7450-4C51-661A261F4A4D}"/>
              </a:ext>
            </a:extLst>
          </p:cNvPr>
          <p:cNvSpPr/>
          <p:nvPr/>
        </p:nvSpPr>
        <p:spPr>
          <a:xfrm>
            <a:off x="4692060" y="2724217"/>
            <a:ext cx="920018" cy="471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Data Product / Pipeline Definition and Validation 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D7B85-AB28-1447-0EF6-74DFA67BA361}"/>
              </a:ext>
            </a:extLst>
          </p:cNvPr>
          <p:cNvSpPr/>
          <p:nvPr/>
        </p:nvSpPr>
        <p:spPr>
          <a:xfrm>
            <a:off x="6723365" y="2724217"/>
            <a:ext cx="694019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Common Services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E2C9F4-61BE-E008-C806-66FCB97CF427}"/>
              </a:ext>
            </a:extLst>
          </p:cNvPr>
          <p:cNvCxnSpPr>
            <a:cxnSpLocks/>
          </p:cNvCxnSpPr>
          <p:nvPr/>
        </p:nvCxnSpPr>
        <p:spPr>
          <a:xfrm>
            <a:off x="5623836" y="2960144"/>
            <a:ext cx="215366" cy="501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31515-8C75-8A60-D9F4-424E89ADC662}"/>
              </a:ext>
            </a:extLst>
          </p:cNvPr>
          <p:cNvSpPr/>
          <p:nvPr/>
        </p:nvSpPr>
        <p:spPr>
          <a:xfrm>
            <a:off x="8507607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Parameterize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Service Calls in Orchestration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739078-5525-2588-217E-CBC3F3B3B533}"/>
              </a:ext>
            </a:extLst>
          </p:cNvPr>
          <p:cNvCxnSpPr>
            <a:cxnSpLocks/>
          </p:cNvCxnSpPr>
          <p:nvPr/>
        </p:nvCxnSpPr>
        <p:spPr>
          <a:xfrm flipV="1">
            <a:off x="7422036" y="2973593"/>
            <a:ext cx="192105" cy="160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7967D4-EB17-5F68-C256-2339DFFCD7B0}"/>
              </a:ext>
            </a:extLst>
          </p:cNvPr>
          <p:cNvCxnSpPr>
            <a:cxnSpLocks/>
          </p:cNvCxnSpPr>
          <p:nvPr/>
        </p:nvCxnSpPr>
        <p:spPr>
          <a:xfrm>
            <a:off x="9195014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BD6FE1-C4AA-4BDE-B8FF-EB6BA3336592}"/>
              </a:ext>
            </a:extLst>
          </p:cNvPr>
          <p:cNvCxnSpPr>
            <a:cxnSpLocks/>
          </p:cNvCxnSpPr>
          <p:nvPr/>
        </p:nvCxnSpPr>
        <p:spPr>
          <a:xfrm>
            <a:off x="6521956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574968-AF9E-92EA-85CC-28401034F4F7}"/>
              </a:ext>
            </a:extLst>
          </p:cNvPr>
          <p:cNvCxnSpPr>
            <a:cxnSpLocks/>
          </p:cNvCxnSpPr>
          <p:nvPr/>
        </p:nvCxnSpPr>
        <p:spPr>
          <a:xfrm flipH="1" flipV="1">
            <a:off x="9742927" y="2090584"/>
            <a:ext cx="11576" cy="74865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9">
            <a:extLst>
              <a:ext uri="{FF2B5EF4-FFF2-40B4-BE49-F238E27FC236}">
                <a16:creationId xmlns:a16="http://schemas.microsoft.com/office/drawing/2014/main" id="{A13928B8-206B-E245-518E-FB1A24050DB0}"/>
              </a:ext>
            </a:extLst>
          </p:cNvPr>
          <p:cNvCxnSpPr>
            <a:cxnSpLocks/>
          </p:cNvCxnSpPr>
          <p:nvPr/>
        </p:nvCxnSpPr>
        <p:spPr>
          <a:xfrm flipH="1">
            <a:off x="5022674" y="1844877"/>
            <a:ext cx="4443804" cy="8649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290B83-CFC9-BA25-7505-AD63FA42F05A}"/>
              </a:ext>
            </a:extLst>
          </p:cNvPr>
          <p:cNvCxnSpPr>
            <a:cxnSpLocks/>
          </p:cNvCxnSpPr>
          <p:nvPr/>
        </p:nvCxnSpPr>
        <p:spPr>
          <a:xfrm>
            <a:off x="10083829" y="2960144"/>
            <a:ext cx="171251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39CC1B-6B9E-CF28-82AC-96F52B0D4B14}"/>
              </a:ext>
            </a:extLst>
          </p:cNvPr>
          <p:cNvCxnSpPr>
            <a:cxnSpLocks/>
          </p:cNvCxnSpPr>
          <p:nvPr/>
        </p:nvCxnSpPr>
        <p:spPr>
          <a:xfrm>
            <a:off x="8306199" y="2960144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FCA1B5F-589A-B739-B22E-393CC3AE0E62}"/>
              </a:ext>
            </a:extLst>
          </p:cNvPr>
          <p:cNvSpPr/>
          <p:nvPr/>
        </p:nvSpPr>
        <p:spPr>
          <a:xfrm>
            <a:off x="7618793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 Customized Service</a:t>
            </a:r>
          </a:p>
        </p:txBody>
      </p:sp>
      <p:pic>
        <p:nvPicPr>
          <p:cNvPr id="48" name="Picture 47" descr="Web interface">
            <a:extLst>
              <a:ext uri="{FF2B5EF4-FFF2-40B4-BE49-F238E27FC236}">
                <a16:creationId xmlns:a16="http://schemas.microsoft.com/office/drawing/2014/main" id="{01FAFA84-4381-200B-FAD5-0127BC25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740" y="2371355"/>
            <a:ext cx="352282" cy="360333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1981312-55D4-3C04-64A5-B1420A4DFE7A}"/>
              </a:ext>
            </a:extLst>
          </p:cNvPr>
          <p:cNvSpPr/>
          <p:nvPr/>
        </p:nvSpPr>
        <p:spPr>
          <a:xfrm>
            <a:off x="10241122" y="272923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Deploy Orchestration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1F8CE4B-8E0A-6AE1-885A-FC0A6F66A0BB}"/>
              </a:ext>
            </a:extLst>
          </p:cNvPr>
          <p:cNvSpPr/>
          <p:nvPr/>
        </p:nvSpPr>
        <p:spPr>
          <a:xfrm>
            <a:off x="5834550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Determine Execution Type(s)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1FD13B5-B802-2FF0-6D0D-1396AAA05B3D}"/>
              </a:ext>
            </a:extLst>
          </p:cNvPr>
          <p:cNvSpPr/>
          <p:nvPr/>
        </p:nvSpPr>
        <p:spPr>
          <a:xfrm>
            <a:off x="9396423" y="2724217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Create Orchestration Package(s)</a:t>
            </a:r>
          </a:p>
        </p:txBody>
      </p:sp>
      <p:sp>
        <p:nvSpPr>
          <p:cNvPr id="264" name="Cylinder 263">
            <a:extLst>
              <a:ext uri="{FF2B5EF4-FFF2-40B4-BE49-F238E27FC236}">
                <a16:creationId xmlns:a16="http://schemas.microsoft.com/office/drawing/2014/main" id="{F8860007-0F54-B3D0-4F69-502B02547ABD}"/>
              </a:ext>
            </a:extLst>
          </p:cNvPr>
          <p:cNvSpPr/>
          <p:nvPr/>
        </p:nvSpPr>
        <p:spPr>
          <a:xfrm>
            <a:off x="9423344" y="1608952"/>
            <a:ext cx="639164" cy="471853"/>
          </a:xfrm>
          <a:prstGeom prst="can">
            <a:avLst>
              <a:gd name="adj" fmla="val 16579"/>
            </a:avLst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Store Orchestrion Metadata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173CC85-5EEB-BF85-D995-7832AB7BBE0E}"/>
              </a:ext>
            </a:extLst>
          </p:cNvPr>
          <p:cNvSpPr txBox="1"/>
          <p:nvPr/>
        </p:nvSpPr>
        <p:spPr>
          <a:xfrm>
            <a:off x="3830592" y="1498662"/>
            <a:ext cx="5350685" cy="3385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User clickable use case data product definition process</a:t>
            </a:r>
            <a:endParaRPr lang="en-US" sz="16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1237E29F-3680-7C4D-11AA-5DB72D897E58}"/>
              </a:ext>
            </a:extLst>
          </p:cNvPr>
          <p:cNvSpPr txBox="1"/>
          <p:nvPr/>
        </p:nvSpPr>
        <p:spPr>
          <a:xfrm>
            <a:off x="3824810" y="3469983"/>
            <a:ext cx="199607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</a:rPr>
              <a:t>Under the hood</a:t>
            </a:r>
          </a:p>
        </p:txBody>
      </p:sp>
    </p:spTree>
    <p:extLst>
      <p:ext uri="{BB962C8B-B14F-4D97-AF65-F5344CB8AC3E}">
        <p14:creationId xmlns:p14="http://schemas.microsoft.com/office/powerpoint/2010/main" val="2206832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1222-03F5-6DF7-4E3F-C4912B2D9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CF26810-AFC5-2457-E339-CFF564325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69393"/>
            <a:ext cx="9971702" cy="461765"/>
          </a:xfrm>
        </p:spPr>
        <p:txBody>
          <a:bodyPr>
            <a:noAutofit/>
          </a:bodyPr>
          <a:lstStyle/>
          <a:p>
            <a:r>
              <a:rPr lang="en-US" sz="2500">
                <a:latin typeface="Segoe UI Semibold"/>
                <a:cs typeface="Segoe UI Semibold"/>
              </a:rPr>
              <a:t>AI Ready, Lakehouse Conceptual Architecture</a:t>
            </a:r>
            <a:br>
              <a:rPr lang="en-US" sz="2500">
                <a:latin typeface="Segoe UI Semibold"/>
                <a:cs typeface="Segoe UI Semibold"/>
              </a:rPr>
            </a:br>
            <a:r>
              <a:rPr lang="en-US" sz="2500">
                <a:latin typeface="Segoe UI Semibold"/>
                <a:cs typeface="Segoe UI Semibold"/>
              </a:rPr>
              <a:t> </a:t>
            </a:r>
            <a:r>
              <a:rPr lang="en-US" sz="1800">
                <a:latin typeface="Segoe UI Semibold"/>
                <a:cs typeface="Segoe UI Semibold"/>
              </a:rPr>
              <a:t>Ingress to CDM and Egress from CDM</a:t>
            </a:r>
            <a:endParaRPr lang="en-US" sz="1400">
              <a:latin typeface="Segoe UI Semibold"/>
              <a:cs typeface="Segoe UI Semibold"/>
            </a:endParaRP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3DFB15AF-693F-A315-DA21-B86A2C35FD2A}"/>
              </a:ext>
            </a:extLst>
          </p:cNvPr>
          <p:cNvGrpSpPr/>
          <p:nvPr/>
        </p:nvGrpSpPr>
        <p:grpSpPr>
          <a:xfrm>
            <a:off x="4233160" y="1666784"/>
            <a:ext cx="7784801" cy="3599931"/>
            <a:chOff x="237340" y="844922"/>
            <a:chExt cx="11766244" cy="5565026"/>
          </a:xfrm>
        </p:grpSpPr>
        <p:cxnSp>
          <p:nvCxnSpPr>
            <p:cNvPr id="311" name="Straight Arrow Connector 310">
              <a:extLst>
                <a:ext uri="{FF2B5EF4-FFF2-40B4-BE49-F238E27FC236}">
                  <a16:creationId xmlns:a16="http://schemas.microsoft.com/office/drawing/2014/main" id="{92D5D630-E350-6D59-F849-3B5A9F364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959" y="2000132"/>
              <a:ext cx="394630" cy="2144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Cylinder 303">
              <a:extLst>
                <a:ext uri="{FF2B5EF4-FFF2-40B4-BE49-F238E27FC236}">
                  <a16:creationId xmlns:a16="http://schemas.microsoft.com/office/drawing/2014/main" id="{3A485AE1-D071-8ECB-8F28-7473DC49106D}"/>
                </a:ext>
              </a:extLst>
            </p:cNvPr>
            <p:cNvSpPr/>
            <p:nvPr/>
          </p:nvSpPr>
          <p:spPr>
            <a:xfrm>
              <a:off x="3366242" y="1699142"/>
              <a:ext cx="879719" cy="601980"/>
            </a:xfrm>
            <a:prstGeom prst="can">
              <a:avLst>
                <a:gd name="adj" fmla="val 16579"/>
              </a:avLst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Config Table</a:t>
              </a:r>
            </a:p>
          </p:txBody>
        </p: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15661F98-F930-278E-D868-1494ED6FC4C0}"/>
                </a:ext>
              </a:extLst>
            </p:cNvPr>
            <p:cNvCxnSpPr>
              <a:cxnSpLocks/>
              <a:stCxn id="3" idx="3"/>
              <a:endCxn id="4" idx="2"/>
            </p:cNvCxnSpPr>
            <p:nvPr/>
          </p:nvCxnSpPr>
          <p:spPr>
            <a:xfrm>
              <a:off x="2670008" y="1984876"/>
              <a:ext cx="696233" cy="15256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1621CBA-26B1-9FFA-B4DA-36328BAB8B81}"/>
                </a:ext>
              </a:extLst>
            </p:cNvPr>
            <p:cNvSpPr/>
            <p:nvPr/>
          </p:nvSpPr>
          <p:spPr>
            <a:xfrm>
              <a:off x="5746501" y="1699142"/>
              <a:ext cx="955220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Identify Required</a:t>
              </a:r>
            </a:p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Common Services</a:t>
              </a:r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2F95F67B-077E-1B6B-1652-90B9F124512B}"/>
                </a:ext>
              </a:extLst>
            </p:cNvPr>
            <p:cNvCxnSpPr>
              <a:cxnSpLocks/>
              <a:stCxn id="4" idx="4"/>
              <a:endCxn id="17" idx="1"/>
            </p:cNvCxnSpPr>
            <p:nvPr/>
          </p:nvCxnSpPr>
          <p:spPr>
            <a:xfrm>
              <a:off x="4245961" y="2000132"/>
              <a:ext cx="277211" cy="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8FBBDD9C-DA52-E69E-895A-17AFC6DBF395}"/>
                </a:ext>
              </a:extLst>
            </p:cNvPr>
            <p:cNvSpPr/>
            <p:nvPr/>
          </p:nvSpPr>
          <p:spPr>
            <a:xfrm>
              <a:off x="8202261" y="1699142"/>
              <a:ext cx="946118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Parameterize</a:t>
              </a:r>
            </a:p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Service Calls in Orchestration</a:t>
              </a:r>
            </a:p>
          </p:txBody>
        </p:sp>
        <p:cxnSp>
          <p:nvCxnSpPr>
            <p:cNvPr id="309" name="Straight Arrow Connector 308">
              <a:extLst>
                <a:ext uri="{FF2B5EF4-FFF2-40B4-BE49-F238E27FC236}">
                  <a16:creationId xmlns:a16="http://schemas.microsoft.com/office/drawing/2014/main" id="{06AD25BD-F047-3902-EE51-D38A6DC1FEA0}"/>
                </a:ext>
              </a:extLst>
            </p:cNvPr>
            <p:cNvCxnSpPr>
              <a:cxnSpLocks/>
              <a:stCxn id="8" idx="3"/>
              <a:endCxn id="335" idx="1"/>
            </p:cNvCxnSpPr>
            <p:nvPr/>
          </p:nvCxnSpPr>
          <p:spPr>
            <a:xfrm>
              <a:off x="6701721" y="2000132"/>
              <a:ext cx="277211" cy="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3D152FD5-97ED-52B8-2407-DA8441EAAD29}"/>
                </a:ext>
              </a:extLst>
            </p:cNvPr>
            <p:cNvSpPr/>
            <p:nvPr/>
          </p:nvSpPr>
          <p:spPr>
            <a:xfrm>
              <a:off x="9425590" y="1699142"/>
              <a:ext cx="946118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Create Orchestration Package(s)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C886E659-B5C7-2A3D-E08F-2E1D8FFEBBCE}"/>
                </a:ext>
              </a:extLst>
            </p:cNvPr>
            <p:cNvSpPr/>
            <p:nvPr/>
          </p:nvSpPr>
          <p:spPr>
            <a:xfrm>
              <a:off x="4523172" y="1699142"/>
              <a:ext cx="946118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Determine Execution Type(s)</a:t>
              </a:r>
            </a:p>
          </p:txBody>
        </p:sp>
        <p:cxnSp>
          <p:nvCxnSpPr>
            <p:cNvPr id="313" name="Straight Arrow Connector 312">
              <a:extLst>
                <a:ext uri="{FF2B5EF4-FFF2-40B4-BE49-F238E27FC236}">
                  <a16:creationId xmlns:a16="http://schemas.microsoft.com/office/drawing/2014/main" id="{4EC44F27-DF83-BDAB-C947-5AFDD4F67025}"/>
                </a:ext>
              </a:extLst>
            </p:cNvPr>
            <p:cNvCxnSpPr>
              <a:cxnSpLocks/>
              <a:stCxn id="17" idx="3"/>
              <a:endCxn id="8" idx="1"/>
            </p:cNvCxnSpPr>
            <p:nvPr/>
          </p:nvCxnSpPr>
          <p:spPr>
            <a:xfrm>
              <a:off x="5469290" y="2000132"/>
              <a:ext cx="277211" cy="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Cylinder 313">
              <a:extLst>
                <a:ext uri="{FF2B5EF4-FFF2-40B4-BE49-F238E27FC236}">
                  <a16:creationId xmlns:a16="http://schemas.microsoft.com/office/drawing/2014/main" id="{B64BE5A5-82B3-0835-A5F6-0C00FA4B10C9}"/>
                </a:ext>
              </a:extLst>
            </p:cNvPr>
            <p:cNvSpPr/>
            <p:nvPr/>
          </p:nvSpPr>
          <p:spPr>
            <a:xfrm>
              <a:off x="9462644" y="844922"/>
              <a:ext cx="879719" cy="601980"/>
            </a:xfrm>
            <a:prstGeom prst="can">
              <a:avLst>
                <a:gd name="adj" fmla="val 16579"/>
              </a:avLst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Store Orchestrion Metadata</a:t>
              </a:r>
            </a:p>
          </p:txBody>
        </p: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DFBCAC4B-0131-DB68-162F-C6921326939B}"/>
                </a:ext>
              </a:extLst>
            </p:cNvPr>
            <p:cNvCxnSpPr>
              <a:cxnSpLocks/>
              <a:stCxn id="10" idx="0"/>
              <a:endCxn id="23" idx="3"/>
            </p:cNvCxnSpPr>
            <p:nvPr/>
          </p:nvCxnSpPr>
          <p:spPr>
            <a:xfrm flipV="1">
              <a:off x="9898649" y="1446902"/>
              <a:ext cx="3855" cy="25224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C134A11D-6AFC-5ED6-EB76-AA0E6A708AA6}"/>
                </a:ext>
              </a:extLst>
            </p:cNvPr>
            <p:cNvSpPr/>
            <p:nvPr/>
          </p:nvSpPr>
          <p:spPr>
            <a:xfrm>
              <a:off x="4316251" y="4977196"/>
              <a:ext cx="5771680" cy="499531"/>
            </a:xfrm>
            <a:prstGeom prst="roundRect">
              <a:avLst>
                <a:gd name="adj" fmla="val 35918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Message or Event Bus</a:t>
              </a:r>
              <a:endParaRPr lang="en-US" sz="60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0B875F7A-191F-FDA8-33F8-EE37D6CE0F9E}"/>
                </a:ext>
              </a:extLst>
            </p:cNvPr>
            <p:cNvSpPr/>
            <p:nvPr/>
          </p:nvSpPr>
          <p:spPr>
            <a:xfrm>
              <a:off x="10648918" y="1699142"/>
              <a:ext cx="946118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Deploy Orchestration</a:t>
              </a:r>
            </a:p>
          </p:txBody>
        </p: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4D9ED750-0C4D-E069-26E8-756AD7DC9D8D}"/>
                </a:ext>
              </a:extLst>
            </p:cNvPr>
            <p:cNvCxnSpPr>
              <a:cxnSpLocks/>
              <a:stCxn id="10" idx="3"/>
              <a:endCxn id="66" idx="1"/>
            </p:cNvCxnSpPr>
            <p:nvPr/>
          </p:nvCxnSpPr>
          <p:spPr>
            <a:xfrm>
              <a:off x="10371708" y="2000132"/>
              <a:ext cx="277210" cy="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1FC16B84-D023-5D4C-B1FA-E97F3311D273}"/>
                </a:ext>
              </a:extLst>
            </p:cNvPr>
            <p:cNvSpPr/>
            <p:nvPr/>
          </p:nvSpPr>
          <p:spPr>
            <a:xfrm>
              <a:off x="3106793" y="3981938"/>
              <a:ext cx="955220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HTTP Proxy Use Case Data Product Call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691D7835-A18E-E83D-29B4-5E0955F5B06C}"/>
                </a:ext>
              </a:extLst>
            </p:cNvPr>
            <p:cNvSpPr/>
            <p:nvPr/>
          </p:nvSpPr>
          <p:spPr>
            <a:xfrm>
              <a:off x="3106793" y="4925283"/>
              <a:ext cx="955220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Post Use Case Request</a:t>
              </a:r>
            </a:p>
          </p:txBody>
        </p:sp>
        <p:cxnSp>
          <p:nvCxnSpPr>
            <p:cNvPr id="322" name="Straight Arrow Connector 72">
              <a:extLst>
                <a:ext uri="{FF2B5EF4-FFF2-40B4-BE49-F238E27FC236}">
                  <a16:creationId xmlns:a16="http://schemas.microsoft.com/office/drawing/2014/main" id="{A0CF2EAB-A8F8-94D7-C8AC-1A134D78F6DC}"/>
                </a:ext>
              </a:extLst>
            </p:cNvPr>
            <p:cNvCxnSpPr>
              <a:cxnSpLocks/>
              <a:stCxn id="83" idx="0"/>
              <a:endCxn id="71" idx="1"/>
            </p:cNvCxnSpPr>
            <p:nvPr/>
          </p:nvCxnSpPr>
          <p:spPr>
            <a:xfrm rot="5400000" flipH="1" flipV="1">
              <a:off x="2335491" y="4157317"/>
              <a:ext cx="645691" cy="896914"/>
            </a:xfrm>
            <a:prstGeom prst="bentConnector2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Arrow Connector 322">
              <a:extLst>
                <a:ext uri="{FF2B5EF4-FFF2-40B4-BE49-F238E27FC236}">
                  <a16:creationId xmlns:a16="http://schemas.microsoft.com/office/drawing/2014/main" id="{995D4D85-FE09-3094-BFB3-62AD6394B54B}"/>
                </a:ext>
              </a:extLst>
            </p:cNvPr>
            <p:cNvCxnSpPr>
              <a:cxnSpLocks/>
              <a:stCxn id="71" idx="2"/>
              <a:endCxn id="72" idx="0"/>
            </p:cNvCxnSpPr>
            <p:nvPr/>
          </p:nvCxnSpPr>
          <p:spPr>
            <a:xfrm>
              <a:off x="3584403" y="4583918"/>
              <a:ext cx="0" cy="341365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DB7E94DD-A4B9-8A08-B39E-1FBC7606579A}"/>
                </a:ext>
              </a:extLst>
            </p:cNvPr>
            <p:cNvSpPr/>
            <p:nvPr/>
          </p:nvSpPr>
          <p:spPr>
            <a:xfrm>
              <a:off x="1583976" y="4928619"/>
              <a:ext cx="1251805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Consumable or Pipeline Request for Use Case Data Product</a:t>
              </a:r>
            </a:p>
          </p:txBody>
        </p: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48C6EEC1-61A6-81AC-D70E-AC10CE9250A5}"/>
                </a:ext>
              </a:extLst>
            </p:cNvPr>
            <p:cNvCxnSpPr>
              <a:cxnSpLocks/>
              <a:stCxn id="83" idx="3"/>
              <a:endCxn id="72" idx="1"/>
            </p:cNvCxnSpPr>
            <p:nvPr/>
          </p:nvCxnSpPr>
          <p:spPr>
            <a:xfrm flipV="1">
              <a:off x="2835781" y="5226273"/>
              <a:ext cx="271012" cy="3336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0DF5097-40DB-18FD-97A5-CA76C15DBAF4}"/>
                </a:ext>
              </a:extLst>
            </p:cNvPr>
            <p:cNvSpPr txBox="1"/>
            <p:nvPr/>
          </p:nvSpPr>
          <p:spPr>
            <a:xfrm>
              <a:off x="237340" y="1811783"/>
              <a:ext cx="872707" cy="404415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US" sz="1100" b="1">
                  <a:solidFill>
                    <a:schemeClr val="accent6">
                      <a:lumMod val="10000"/>
                    </a:schemeClr>
                  </a:solidFill>
                </a:rPr>
                <a:t>Design</a:t>
              </a: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37730E66-A928-6F10-E555-22ECF5864F30}"/>
                </a:ext>
              </a:extLst>
            </p:cNvPr>
            <p:cNvSpPr txBox="1"/>
            <p:nvPr/>
          </p:nvSpPr>
          <p:spPr>
            <a:xfrm>
              <a:off x="272061" y="4125747"/>
              <a:ext cx="1146488" cy="404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>
                  <a:solidFill>
                    <a:schemeClr val="accent6">
                      <a:lumMod val="10000"/>
                    </a:schemeClr>
                  </a:solidFill>
                </a:rPr>
                <a:t>Execution</a:t>
              </a:r>
            </a:p>
          </p:txBody>
        </p:sp>
        <p:cxnSp>
          <p:nvCxnSpPr>
            <p:cNvPr id="328" name="Straight Arrow Connector 72">
              <a:extLst>
                <a:ext uri="{FF2B5EF4-FFF2-40B4-BE49-F238E27FC236}">
                  <a16:creationId xmlns:a16="http://schemas.microsoft.com/office/drawing/2014/main" id="{7DA00ED5-D58B-0229-8B08-9AD2C4FCE164}"/>
                </a:ext>
              </a:extLst>
            </p:cNvPr>
            <p:cNvCxnSpPr>
              <a:cxnSpLocks/>
              <a:stCxn id="72" idx="3"/>
              <a:endCxn id="34" idx="1"/>
            </p:cNvCxnSpPr>
            <p:nvPr/>
          </p:nvCxnSpPr>
          <p:spPr>
            <a:xfrm>
              <a:off x="4062013" y="5226273"/>
              <a:ext cx="254238" cy="68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Arrow Connector 72">
              <a:extLst>
                <a:ext uri="{FF2B5EF4-FFF2-40B4-BE49-F238E27FC236}">
                  <a16:creationId xmlns:a16="http://schemas.microsoft.com/office/drawing/2014/main" id="{44428C02-E51A-28AC-5D36-566721446E55}"/>
                </a:ext>
              </a:extLst>
            </p:cNvPr>
            <p:cNvCxnSpPr>
              <a:cxnSpLocks/>
              <a:stCxn id="195" idx="0"/>
              <a:endCxn id="99" idx="2"/>
            </p:cNvCxnSpPr>
            <p:nvPr/>
          </p:nvCxnSpPr>
          <p:spPr>
            <a:xfrm flipV="1">
              <a:off x="5022278" y="4424680"/>
              <a:ext cx="6526" cy="52621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97C2A09C-3C44-D5A5-7F5A-B45C8FAC316F}"/>
                </a:ext>
              </a:extLst>
            </p:cNvPr>
            <p:cNvSpPr/>
            <p:nvPr/>
          </p:nvSpPr>
          <p:spPr>
            <a:xfrm>
              <a:off x="4641550" y="3822700"/>
              <a:ext cx="774507" cy="6019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Airflow</a:t>
              </a:r>
            </a:p>
            <a:p>
              <a:pPr algn="ctr"/>
              <a:r>
                <a:rPr lang="en-US" sz="600">
                  <a:solidFill>
                    <a:schemeClr val="bg1"/>
                  </a:solidFill>
                </a:rPr>
                <a:t>Listener</a:t>
              </a:r>
            </a:p>
          </p:txBody>
        </p:sp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6C85BE5F-4C44-4FEC-A380-D9D7D1BBB59E}"/>
                </a:ext>
              </a:extLst>
            </p:cNvPr>
            <p:cNvCxnSpPr>
              <a:cxnSpLocks/>
              <a:stCxn id="99" idx="3"/>
              <a:endCxn id="115" idx="1"/>
            </p:cNvCxnSpPr>
            <p:nvPr/>
          </p:nvCxnSpPr>
          <p:spPr>
            <a:xfrm flipV="1">
              <a:off x="5416057" y="4122671"/>
              <a:ext cx="191346" cy="1019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14656CEC-F30C-CCBC-D676-15A70A16B613}"/>
                </a:ext>
              </a:extLst>
            </p:cNvPr>
            <p:cNvSpPr/>
            <p:nvPr/>
          </p:nvSpPr>
          <p:spPr>
            <a:xfrm>
              <a:off x="5607403" y="3821681"/>
              <a:ext cx="762664" cy="6019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Execute Orchestration</a:t>
              </a:r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1074EF2A-5063-2D2D-8ED8-92DBC4BCBAB0}"/>
                </a:ext>
              </a:extLst>
            </p:cNvPr>
            <p:cNvSpPr/>
            <p:nvPr/>
          </p:nvSpPr>
          <p:spPr>
            <a:xfrm>
              <a:off x="4498007" y="5793898"/>
              <a:ext cx="811257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Reference </a:t>
              </a:r>
            </a:p>
            <a:p>
              <a:pPr algn="ctr"/>
              <a:r>
                <a:rPr lang="en-US" sz="600">
                  <a:solidFill>
                    <a:schemeClr val="bg1"/>
                  </a:solidFill>
                </a:rPr>
                <a:t>Data Listener</a:t>
              </a:r>
            </a:p>
          </p:txBody>
        </p: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CE6B36EE-B198-BC65-5A79-6D6FD4999416}"/>
                </a:ext>
              </a:extLst>
            </p:cNvPr>
            <p:cNvCxnSpPr>
              <a:cxnSpLocks/>
              <a:stCxn id="197" idx="4"/>
              <a:endCxn id="145" idx="0"/>
            </p:cNvCxnSpPr>
            <p:nvPr/>
          </p:nvCxnSpPr>
          <p:spPr>
            <a:xfrm flipH="1">
              <a:off x="4903636" y="5484101"/>
              <a:ext cx="69" cy="309797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B507D0F5-AC7A-A272-2881-4A104B2DE850}"/>
                </a:ext>
              </a:extLst>
            </p:cNvPr>
            <p:cNvGrpSpPr/>
            <p:nvPr/>
          </p:nvGrpSpPr>
          <p:grpSpPr>
            <a:xfrm>
              <a:off x="5528416" y="2956169"/>
              <a:ext cx="893649" cy="499531"/>
              <a:chOff x="7076910" y="2836138"/>
              <a:chExt cx="1013225" cy="473803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CF0463E0-770E-1FD9-DD8E-E29ACC7B2A1E}"/>
                  </a:ext>
                </a:extLst>
              </p:cNvPr>
              <p:cNvSpPr/>
              <p:nvPr/>
            </p:nvSpPr>
            <p:spPr>
              <a:xfrm>
                <a:off x="7076910" y="2836138"/>
                <a:ext cx="895284" cy="372748"/>
              </a:xfrm>
              <a:prstGeom prst="rect">
                <a:avLst/>
              </a:prstGeom>
              <a:solidFill>
                <a:schemeClr val="accent1"/>
              </a:solidFill>
              <a:ln w="3175">
                <a:solidFill>
                  <a:schemeClr val="accent6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600">
                  <a:solidFill>
                    <a:schemeClr val="bg1"/>
                  </a:solidFill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5650776F-3F3E-7D28-F7AC-FF95F373EB35}"/>
                  </a:ext>
                </a:extLst>
              </p:cNvPr>
              <p:cNvSpPr/>
              <p:nvPr/>
            </p:nvSpPr>
            <p:spPr>
              <a:xfrm>
                <a:off x="7130543" y="2885517"/>
                <a:ext cx="895284" cy="372748"/>
              </a:xfrm>
              <a:prstGeom prst="rect">
                <a:avLst/>
              </a:prstGeom>
              <a:solidFill>
                <a:schemeClr val="accent1"/>
              </a:solidFill>
              <a:ln w="3175">
                <a:solidFill>
                  <a:schemeClr val="accent6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600">
                  <a:solidFill>
                    <a:schemeClr val="bg1"/>
                  </a:solidFill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1BDBACEC-1DE6-222C-BA52-110EF1F83CAC}"/>
                  </a:ext>
                </a:extLst>
              </p:cNvPr>
              <p:cNvSpPr/>
              <p:nvPr/>
            </p:nvSpPr>
            <p:spPr>
              <a:xfrm>
                <a:off x="7194851" y="2937193"/>
                <a:ext cx="895284" cy="372748"/>
              </a:xfrm>
              <a:prstGeom prst="rect">
                <a:avLst/>
              </a:prstGeom>
              <a:solidFill>
                <a:schemeClr val="accent1"/>
              </a:solidFill>
              <a:ln w="3175">
                <a:solidFill>
                  <a:schemeClr val="accent6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600">
                    <a:solidFill>
                      <a:schemeClr val="bg1"/>
                    </a:solidFill>
                  </a:rPr>
                  <a:t>Common Service Objects</a:t>
                </a:r>
              </a:p>
            </p:txBody>
          </p:sp>
        </p:grpSp>
        <p:cxnSp>
          <p:nvCxnSpPr>
            <p:cNvPr id="336" name="Straight Arrow Connector 72">
              <a:extLst>
                <a:ext uri="{FF2B5EF4-FFF2-40B4-BE49-F238E27FC236}">
                  <a16:creationId xmlns:a16="http://schemas.microsoft.com/office/drawing/2014/main" id="{CC8FBB15-87FA-FDE5-67EE-066332F45622}"/>
                </a:ext>
              </a:extLst>
            </p:cNvPr>
            <p:cNvCxnSpPr>
              <a:cxnSpLocks/>
              <a:stCxn id="176" idx="3"/>
              <a:endCxn id="258" idx="1"/>
            </p:cNvCxnSpPr>
            <p:nvPr/>
          </p:nvCxnSpPr>
          <p:spPr>
            <a:xfrm flipV="1">
              <a:off x="9330393" y="4115884"/>
              <a:ext cx="121905" cy="3571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7F4DD152-C0FB-E299-ACAB-CC34374A2A62}"/>
                </a:ext>
              </a:extLst>
            </p:cNvPr>
            <p:cNvSpPr/>
            <p:nvPr/>
          </p:nvSpPr>
          <p:spPr>
            <a:xfrm>
              <a:off x="8250597" y="3818465"/>
              <a:ext cx="1079796" cy="60198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Package Payload with Reference (Heavy) or Data (Light) </a:t>
              </a:r>
            </a:p>
          </p:txBody>
        </p: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F5689773-483C-C9AE-C821-E0E71404922F}"/>
                </a:ext>
              </a:extLst>
            </p:cNvPr>
            <p:cNvCxnSpPr>
              <a:cxnSpLocks/>
              <a:stCxn id="198" idx="4"/>
              <a:endCxn id="190" idx="0"/>
            </p:cNvCxnSpPr>
            <p:nvPr/>
          </p:nvCxnSpPr>
          <p:spPr>
            <a:xfrm flipH="1">
              <a:off x="5861514" y="5484101"/>
              <a:ext cx="6117" cy="323867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97CC94AE-7862-7150-2952-E3703AA4AFD0}"/>
                </a:ext>
              </a:extLst>
            </p:cNvPr>
            <p:cNvSpPr/>
            <p:nvPr/>
          </p:nvSpPr>
          <p:spPr>
            <a:xfrm>
              <a:off x="5455885" y="5807968"/>
              <a:ext cx="811257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Transaction Log / Audit Trail</a:t>
              </a:r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293E783C-47CE-040F-1786-D25828CD8363}"/>
                </a:ext>
              </a:extLst>
            </p:cNvPr>
            <p:cNvSpPr/>
            <p:nvPr/>
          </p:nvSpPr>
          <p:spPr>
            <a:xfrm>
              <a:off x="4963284" y="4950890"/>
              <a:ext cx="117987" cy="118454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B08D3804-9C12-C6FF-DE4B-89EB09960176}"/>
                </a:ext>
              </a:extLst>
            </p:cNvPr>
            <p:cNvSpPr/>
            <p:nvPr/>
          </p:nvSpPr>
          <p:spPr>
            <a:xfrm>
              <a:off x="4844711" y="5365647"/>
              <a:ext cx="117987" cy="118454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82994E82-A2BC-3AED-1F29-29AF9A936191}"/>
                </a:ext>
              </a:extLst>
            </p:cNvPr>
            <p:cNvSpPr/>
            <p:nvPr/>
          </p:nvSpPr>
          <p:spPr>
            <a:xfrm>
              <a:off x="5808637" y="5365647"/>
              <a:ext cx="117987" cy="118454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3" name="Cylinder 342">
              <a:extLst>
                <a:ext uri="{FF2B5EF4-FFF2-40B4-BE49-F238E27FC236}">
                  <a16:creationId xmlns:a16="http://schemas.microsoft.com/office/drawing/2014/main" id="{5EECFDBB-2E5C-7427-3674-671CD8FC0E78}"/>
                </a:ext>
              </a:extLst>
            </p:cNvPr>
            <p:cNvSpPr/>
            <p:nvPr/>
          </p:nvSpPr>
          <p:spPr>
            <a:xfrm>
              <a:off x="8582925" y="3251597"/>
              <a:ext cx="879719" cy="354806"/>
            </a:xfrm>
            <a:prstGeom prst="can">
              <a:avLst>
                <a:gd name="adj" fmla="val 16579"/>
              </a:avLst>
            </a:prstGeom>
            <a:solidFill>
              <a:schemeClr val="accent1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t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Temp Results Store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33355A26-1D61-9628-AD32-2F7CA6849BE7}"/>
                </a:ext>
              </a:extLst>
            </p:cNvPr>
            <p:cNvSpPr/>
            <p:nvPr/>
          </p:nvSpPr>
          <p:spPr>
            <a:xfrm>
              <a:off x="7455062" y="3992083"/>
              <a:ext cx="596238" cy="4312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 err="1">
                  <a:solidFill>
                    <a:schemeClr val="accent6">
                      <a:lumMod val="10000"/>
                    </a:schemeClr>
                  </a:solidFill>
                </a:rPr>
                <a:t>Dataframe</a:t>
              </a:r>
              <a:endParaRPr lang="en-US" sz="6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endParaRPr>
            </a:p>
          </p:txBody>
        </p:sp>
        <p:cxnSp>
          <p:nvCxnSpPr>
            <p:cNvPr id="345" name="Straight Arrow Connector 72">
              <a:extLst>
                <a:ext uri="{FF2B5EF4-FFF2-40B4-BE49-F238E27FC236}">
                  <a16:creationId xmlns:a16="http://schemas.microsoft.com/office/drawing/2014/main" id="{8F98F2D6-C0BE-03C9-721C-42CD0B565580}"/>
                </a:ext>
              </a:extLst>
            </p:cNvPr>
            <p:cNvCxnSpPr>
              <a:cxnSpLocks/>
              <a:stCxn id="43" idx="0"/>
              <a:endCxn id="209" idx="2"/>
            </p:cNvCxnSpPr>
            <p:nvPr/>
          </p:nvCxnSpPr>
          <p:spPr>
            <a:xfrm rot="5400000" flipH="1" flipV="1">
              <a:off x="8007075" y="3246516"/>
              <a:ext cx="393365" cy="758335"/>
            </a:xfrm>
            <a:prstGeom prst="bentConnector2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73FBFD1D-A6C1-8189-F1BB-64BE75AA0B9E}"/>
                </a:ext>
              </a:extLst>
            </p:cNvPr>
            <p:cNvSpPr/>
            <p:nvPr/>
          </p:nvSpPr>
          <p:spPr>
            <a:xfrm>
              <a:off x="11268877" y="4921370"/>
              <a:ext cx="734707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Consumer</a:t>
              </a:r>
            </a:p>
          </p:txBody>
        </p:sp>
        <p:cxnSp>
          <p:nvCxnSpPr>
            <p:cNvPr id="347" name="Straight Arrow Connector 346">
              <a:extLst>
                <a:ext uri="{FF2B5EF4-FFF2-40B4-BE49-F238E27FC236}">
                  <a16:creationId xmlns:a16="http://schemas.microsoft.com/office/drawing/2014/main" id="{0A528C42-005B-B91A-E296-54F578A90713}"/>
                </a:ext>
              </a:extLst>
            </p:cNvPr>
            <p:cNvCxnSpPr>
              <a:cxnSpLocks/>
              <a:stCxn id="40" idx="3"/>
              <a:endCxn id="176" idx="1"/>
            </p:cNvCxnSpPr>
            <p:nvPr/>
          </p:nvCxnSpPr>
          <p:spPr>
            <a:xfrm>
              <a:off x="8061646" y="4119455"/>
              <a:ext cx="188951" cy="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C3360D5F-1EB6-2A28-24B1-96C0988775BA}"/>
                </a:ext>
              </a:extLst>
            </p:cNvPr>
            <p:cNvSpPr/>
            <p:nvPr/>
          </p:nvSpPr>
          <p:spPr>
            <a:xfrm>
              <a:off x="9452298" y="3818465"/>
              <a:ext cx="526470" cy="59483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Post Result</a:t>
              </a: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7D4A7B1E-5FCC-BCA7-3017-0273F9DE0662}"/>
                </a:ext>
              </a:extLst>
            </p:cNvPr>
            <p:cNvSpPr/>
            <p:nvPr/>
          </p:nvSpPr>
          <p:spPr>
            <a:xfrm>
              <a:off x="9574014" y="4955760"/>
              <a:ext cx="117987" cy="118454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cxnSp>
          <p:nvCxnSpPr>
            <p:cNvPr id="350" name="Straight Arrow Connector 72">
              <a:extLst>
                <a:ext uri="{FF2B5EF4-FFF2-40B4-BE49-F238E27FC236}">
                  <a16:creationId xmlns:a16="http://schemas.microsoft.com/office/drawing/2014/main" id="{F6991CAB-2970-9012-8156-8E548FDEB0C7}"/>
                </a:ext>
              </a:extLst>
            </p:cNvPr>
            <p:cNvCxnSpPr>
              <a:cxnSpLocks/>
              <a:stCxn id="258" idx="2"/>
            </p:cNvCxnSpPr>
            <p:nvPr/>
          </p:nvCxnSpPr>
          <p:spPr>
            <a:xfrm>
              <a:off x="9715533" y="4413302"/>
              <a:ext cx="0" cy="552516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Arrow Connector 72">
              <a:extLst>
                <a:ext uri="{FF2B5EF4-FFF2-40B4-BE49-F238E27FC236}">
                  <a16:creationId xmlns:a16="http://schemas.microsoft.com/office/drawing/2014/main" id="{ACED8EE5-EE94-EFC4-CEDF-741A8CD9F24E}"/>
                </a:ext>
              </a:extLst>
            </p:cNvPr>
            <p:cNvCxnSpPr>
              <a:cxnSpLocks/>
              <a:stCxn id="209" idx="4"/>
              <a:endCxn id="227" idx="0"/>
            </p:cNvCxnSpPr>
            <p:nvPr/>
          </p:nvCxnSpPr>
          <p:spPr>
            <a:xfrm>
              <a:off x="9462644" y="3429000"/>
              <a:ext cx="2173587" cy="1492370"/>
            </a:xfrm>
            <a:prstGeom prst="bentConnector2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72">
              <a:extLst>
                <a:ext uri="{FF2B5EF4-FFF2-40B4-BE49-F238E27FC236}">
                  <a16:creationId xmlns:a16="http://schemas.microsoft.com/office/drawing/2014/main" id="{7447CC59-814E-43B5-D3DB-3B639A44C089}"/>
                </a:ext>
              </a:extLst>
            </p:cNvPr>
            <p:cNvCxnSpPr>
              <a:cxnSpLocks/>
              <a:stCxn id="34" idx="3"/>
              <a:endCxn id="304" idx="1"/>
            </p:cNvCxnSpPr>
            <p:nvPr/>
          </p:nvCxnSpPr>
          <p:spPr>
            <a:xfrm flipV="1">
              <a:off x="10087931" y="5223722"/>
              <a:ext cx="324716" cy="3240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E619A8BF-71C7-456E-92C8-5F1C475B1B7E}"/>
                </a:ext>
              </a:extLst>
            </p:cNvPr>
            <p:cNvSpPr/>
            <p:nvPr/>
          </p:nvSpPr>
          <p:spPr>
            <a:xfrm>
              <a:off x="10412647" y="4926303"/>
              <a:ext cx="526470" cy="594837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Result Listener</a:t>
              </a:r>
            </a:p>
          </p:txBody>
        </p:sp>
        <p:cxnSp>
          <p:nvCxnSpPr>
            <p:cNvPr id="354" name="Straight Arrow Connector 72">
              <a:extLst>
                <a:ext uri="{FF2B5EF4-FFF2-40B4-BE49-F238E27FC236}">
                  <a16:creationId xmlns:a16="http://schemas.microsoft.com/office/drawing/2014/main" id="{4B3EBAF5-683B-80A4-D1EA-3EC695447803}"/>
                </a:ext>
              </a:extLst>
            </p:cNvPr>
            <p:cNvCxnSpPr>
              <a:cxnSpLocks/>
              <a:stCxn id="304" idx="3"/>
              <a:endCxn id="227" idx="1"/>
            </p:cNvCxnSpPr>
            <p:nvPr/>
          </p:nvCxnSpPr>
          <p:spPr>
            <a:xfrm flipV="1">
              <a:off x="10939117" y="5222360"/>
              <a:ext cx="329760" cy="1362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Arrow Connector 355">
              <a:extLst>
                <a:ext uri="{FF2B5EF4-FFF2-40B4-BE49-F238E27FC236}">
                  <a16:creationId xmlns:a16="http://schemas.microsoft.com/office/drawing/2014/main" id="{FF8035A5-3A88-6085-3077-CA19CA1D71C3}"/>
                </a:ext>
              </a:extLst>
            </p:cNvPr>
            <p:cNvCxnSpPr>
              <a:cxnSpLocks/>
              <a:endCxn id="115" idx="2"/>
            </p:cNvCxnSpPr>
            <p:nvPr/>
          </p:nvCxnSpPr>
          <p:spPr>
            <a:xfrm flipV="1">
              <a:off x="5988735" y="4423661"/>
              <a:ext cx="0" cy="521596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>
              <a:extLst>
                <a:ext uri="{FF2B5EF4-FFF2-40B4-BE49-F238E27FC236}">
                  <a16:creationId xmlns:a16="http://schemas.microsoft.com/office/drawing/2014/main" id="{D1DEC40C-0F10-7CDD-41D4-2B51B199495B}"/>
                </a:ext>
              </a:extLst>
            </p:cNvPr>
            <p:cNvCxnSpPr>
              <a:cxnSpLocks/>
            </p:cNvCxnSpPr>
            <p:nvPr/>
          </p:nvCxnSpPr>
          <p:spPr>
            <a:xfrm>
              <a:off x="7859859" y="2000132"/>
              <a:ext cx="354691" cy="2144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Cylinder 358">
              <a:extLst>
                <a:ext uri="{FF2B5EF4-FFF2-40B4-BE49-F238E27FC236}">
                  <a16:creationId xmlns:a16="http://schemas.microsoft.com/office/drawing/2014/main" id="{F5CA9A5A-B672-E4FA-6F7C-546E862F283A}"/>
                </a:ext>
              </a:extLst>
            </p:cNvPr>
            <p:cNvSpPr/>
            <p:nvPr/>
          </p:nvSpPr>
          <p:spPr>
            <a:xfrm>
              <a:off x="6892390" y="2774885"/>
              <a:ext cx="841755" cy="348043"/>
            </a:xfrm>
            <a:prstGeom prst="can">
              <a:avLst>
                <a:gd name="adj" fmla="val 16579"/>
              </a:avLst>
            </a:prstGeom>
            <a:solidFill>
              <a:srgbClr val="00B050"/>
            </a:solidFill>
            <a:ln w="6350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  <a:ea typeface="Calibri"/>
                  <a:cs typeface="Calibri"/>
                </a:rPr>
                <a:t>CDMs / Source/ Target</a:t>
              </a: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C230208B-8FE0-3FB9-D6F7-4DDAEEF7EDF5}"/>
                </a:ext>
              </a:extLst>
            </p:cNvPr>
            <p:cNvSpPr/>
            <p:nvPr/>
          </p:nvSpPr>
          <p:spPr>
            <a:xfrm>
              <a:off x="6561414" y="3993441"/>
              <a:ext cx="893648" cy="431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Light or Heavy Implementation</a:t>
              </a:r>
              <a:endParaRPr lang="en-US" sz="6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cxnSp>
          <p:nvCxnSpPr>
            <p:cNvPr id="361" name="Straight Arrow Connector 360">
              <a:extLst>
                <a:ext uri="{FF2B5EF4-FFF2-40B4-BE49-F238E27FC236}">
                  <a16:creationId xmlns:a16="http://schemas.microsoft.com/office/drawing/2014/main" id="{87C48352-3A9F-928D-1EA7-3174C6274B5D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7008238" y="4424681"/>
              <a:ext cx="6526" cy="552515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Arrow Connector 361">
              <a:extLst>
                <a:ext uri="{FF2B5EF4-FFF2-40B4-BE49-F238E27FC236}">
                  <a16:creationId xmlns:a16="http://schemas.microsoft.com/office/drawing/2014/main" id="{93631069-215D-3113-B01F-CBC015DD3E30}"/>
                </a:ext>
              </a:extLst>
            </p:cNvPr>
            <p:cNvCxnSpPr>
              <a:cxnSpLocks/>
              <a:stCxn id="40" idx="0"/>
              <a:endCxn id="402" idx="3"/>
            </p:cNvCxnSpPr>
            <p:nvPr/>
          </p:nvCxnSpPr>
          <p:spPr>
            <a:xfrm flipV="1">
              <a:off x="7311530" y="3122929"/>
              <a:ext cx="0" cy="695536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Arrow Connector 72">
              <a:extLst>
                <a:ext uri="{FF2B5EF4-FFF2-40B4-BE49-F238E27FC236}">
                  <a16:creationId xmlns:a16="http://schemas.microsoft.com/office/drawing/2014/main" id="{5144FF2B-DA51-732A-C24A-E12EBE636843}"/>
                </a:ext>
              </a:extLst>
            </p:cNvPr>
            <p:cNvCxnSpPr>
              <a:cxnSpLocks/>
            </p:cNvCxnSpPr>
            <p:nvPr/>
          </p:nvCxnSpPr>
          <p:spPr>
            <a:xfrm>
              <a:off x="6422066" y="3259206"/>
              <a:ext cx="373524" cy="559259"/>
            </a:xfrm>
            <a:prstGeom prst="bentConnector2">
              <a:avLst/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147143C1-B70E-0E77-CB2E-FEA7239CB40F}"/>
                </a:ext>
              </a:extLst>
            </p:cNvPr>
            <p:cNvSpPr/>
            <p:nvPr/>
          </p:nvSpPr>
          <p:spPr>
            <a:xfrm>
              <a:off x="6514560" y="5807968"/>
              <a:ext cx="811257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AI Listener</a:t>
              </a:r>
            </a:p>
          </p:txBody>
        </p:sp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60BE3799-E16E-80FB-2995-B6DD8A92C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0189" y="5497773"/>
              <a:ext cx="6117" cy="323867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81DE0AD0-B89A-7BB3-B557-451AAE1218AE}"/>
                </a:ext>
              </a:extLst>
            </p:cNvPr>
            <p:cNvSpPr/>
            <p:nvPr/>
          </p:nvSpPr>
          <p:spPr>
            <a:xfrm>
              <a:off x="7583841" y="5807968"/>
              <a:ext cx="811257" cy="6019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Collibra Listener</a:t>
              </a:r>
            </a:p>
          </p:txBody>
        </p:sp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46BE0D8D-754F-423A-3FEC-B8CC0F380167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7989469" y="5473379"/>
              <a:ext cx="1" cy="334589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F777F7CD-89EC-6AF7-91E2-9FD03765E33F}"/>
                </a:ext>
              </a:extLst>
            </p:cNvPr>
            <p:cNvSpPr txBox="1"/>
            <p:nvPr/>
          </p:nvSpPr>
          <p:spPr>
            <a:xfrm>
              <a:off x="7863140" y="3232577"/>
              <a:ext cx="935782" cy="3634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Heavy Only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009564D-BAF9-D3AE-B04A-FD8396B0EE2D}"/>
                </a:ext>
              </a:extLst>
            </p:cNvPr>
            <p:cNvSpPr txBox="1"/>
            <p:nvPr/>
          </p:nvSpPr>
          <p:spPr>
            <a:xfrm>
              <a:off x="10261732" y="3253508"/>
              <a:ext cx="1393683" cy="3634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Heavy Only Payload</a:t>
              </a:r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0FC7CE2E-FC94-0E34-77D1-170B74DC08A9}"/>
                </a:ext>
              </a:extLst>
            </p:cNvPr>
            <p:cNvCxnSpPr/>
            <p:nvPr/>
          </p:nvCxnSpPr>
          <p:spPr>
            <a:xfrm>
              <a:off x="264190" y="2646218"/>
              <a:ext cx="11506200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A3311618-EF3B-CB94-1C6D-12DC4EF70FF0}"/>
                </a:ext>
              </a:extLst>
            </p:cNvPr>
            <p:cNvSpPr/>
            <p:nvPr/>
          </p:nvSpPr>
          <p:spPr>
            <a:xfrm>
              <a:off x="7273755" y="3819987"/>
              <a:ext cx="132251" cy="141514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B11C48D7-A681-8763-896A-2329A06AB15B}"/>
                </a:ext>
              </a:extLst>
            </p:cNvPr>
            <p:cNvSpPr/>
            <p:nvPr/>
          </p:nvSpPr>
          <p:spPr>
            <a:xfrm>
              <a:off x="6559018" y="3814229"/>
              <a:ext cx="1504364" cy="188513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bg1"/>
                  </a:solidFill>
                </a:rPr>
                <a:t>Orchestrator Runtime</a:t>
              </a: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253EB2C-F4EB-CF0F-CC5F-11F3293B36A4}"/>
                </a:ext>
              </a:extLst>
            </p:cNvPr>
            <p:cNvSpPr/>
            <p:nvPr/>
          </p:nvSpPr>
          <p:spPr>
            <a:xfrm>
              <a:off x="7801730" y="3822365"/>
              <a:ext cx="45719" cy="4571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10FF209B-1802-CB39-097D-3668DF18A40D}"/>
                </a:ext>
              </a:extLst>
            </p:cNvPr>
            <p:cNvSpPr/>
            <p:nvPr/>
          </p:nvSpPr>
          <p:spPr>
            <a:xfrm>
              <a:off x="6561414" y="3818465"/>
              <a:ext cx="1500232" cy="6019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21563299-4D6F-85FC-465A-D6C23CEA7F3E}"/>
                </a:ext>
              </a:extLst>
            </p:cNvPr>
            <p:cNvSpPr/>
            <p:nvPr/>
          </p:nvSpPr>
          <p:spPr>
            <a:xfrm>
              <a:off x="1822755" y="1699142"/>
              <a:ext cx="1266276" cy="6019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Data Product / Pipeline Definition and Validation</a:t>
              </a:r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63BA1DA4-DFC7-3461-7499-B0754F1817C4}"/>
                </a:ext>
              </a:extLst>
            </p:cNvPr>
            <p:cNvSpPr/>
            <p:nvPr/>
          </p:nvSpPr>
          <p:spPr>
            <a:xfrm>
              <a:off x="6978932" y="1699142"/>
              <a:ext cx="946118" cy="601980"/>
            </a:xfrm>
            <a:prstGeom prst="rect">
              <a:avLst/>
            </a:prstGeom>
            <a:solidFill>
              <a:srgbClr val="E8F3F8"/>
            </a:solidFill>
            <a:ln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600">
                  <a:solidFill>
                    <a:schemeClr val="accent6">
                      <a:lumMod val="10000"/>
                    </a:schemeClr>
                  </a:solidFill>
                </a:rPr>
                <a:t>Identify Required Customized Service</a:t>
              </a: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E2F01A1-28D1-0568-9A64-BD741585DAFA}"/>
              </a:ext>
            </a:extLst>
          </p:cNvPr>
          <p:cNvSpPr/>
          <p:nvPr/>
        </p:nvSpPr>
        <p:spPr>
          <a:xfrm>
            <a:off x="-36202" y="748454"/>
            <a:ext cx="3506923" cy="6129323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Design  </a:t>
            </a:r>
            <a:endParaRPr lang="en-US" b="1">
              <a:solidFill>
                <a:schemeClr val="tx2"/>
              </a:solidFill>
              <a:latin typeface="Aptos"/>
            </a:endParaRPr>
          </a:p>
          <a:p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User clickable use case data product process </a:t>
            </a:r>
          </a:p>
          <a:p>
            <a:endParaRPr lang="en-US" sz="12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Data consumer SME configures their own </a:t>
            </a:r>
            <a:r>
              <a:rPr lang="en-US" sz="1200" b="1">
                <a:solidFill>
                  <a:schemeClr val="tx1"/>
                </a:solidFill>
                <a:ea typeface="+mn-lt"/>
                <a:cs typeface="+mn-lt"/>
              </a:rPr>
              <a:t>Use Case Data Product 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from available: 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Core Data Products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Reuse of Existing Use Case Data Products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Available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Common Services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Generates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configuration (Orchestration Script) 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    Assembles into </a:t>
            </a:r>
            <a:r>
              <a:rPr lang="en-US" sz="1200" b="1">
                <a:solidFill>
                  <a:schemeClr val="tx1"/>
                </a:solidFill>
                <a:ea typeface="+mn-lt"/>
                <a:cs typeface="+mn-lt"/>
              </a:rPr>
              <a:t>Use Case DP Service 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package (which is deployed on to Message/Event Bus)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200">
              <a:solidFill>
                <a:srgbClr val="5F6062"/>
              </a:solidFill>
              <a:latin typeface="Calibri" panose="020F0502020204030204"/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Execution</a:t>
            </a:r>
            <a:endParaRPr lang="en-US" sz="1600" b="1">
              <a:solidFill>
                <a:schemeClr val="tx2"/>
              </a:solidFill>
              <a:latin typeface="Aptos"/>
              <a:ea typeface="Calibri"/>
              <a:cs typeface="Calibri"/>
            </a:endParaRPr>
          </a:p>
          <a:p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Under the hood</a:t>
            </a:r>
          </a:p>
          <a:p>
            <a:endParaRPr lang="en-US" sz="12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Use Case Data Product Requests are received on Message/Event Bus 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Event listeners invoke the previously deployed Use Case DP Service 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Gets source data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Invokes all configured function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Packages results and stores in S3 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628650" lvl="1" indent="-171450">
              <a:buFont typeface="Courier New,monospace"/>
              <a:buChar char="o"/>
            </a:pP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Posts status and URI for result set on Message/Event Bus </a:t>
            </a:r>
            <a:br>
              <a:rPr lang="en-US" sz="2000" b="1">
                <a:latin typeface="Aptos"/>
                <a:ea typeface="Calibri"/>
                <a:cs typeface="Calibri"/>
              </a:rPr>
            </a:br>
            <a:endParaRPr lang="en-US" sz="1100">
              <a:solidFill>
                <a:schemeClr val="tx1"/>
              </a:solidFill>
              <a:latin typeface="Segoe UI Semilight"/>
              <a:ea typeface="Calibri"/>
              <a:cs typeface="Segoe UI Semilight"/>
            </a:endParaRPr>
          </a:p>
          <a:p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5" name="Straight Arrow Connector 72">
            <a:extLst>
              <a:ext uri="{FF2B5EF4-FFF2-40B4-BE49-F238E27FC236}">
                <a16:creationId xmlns:a16="http://schemas.microsoft.com/office/drawing/2014/main" id="{CCEF5E23-F387-2FC7-2EAD-7027AB34BBB0}"/>
              </a:ext>
            </a:extLst>
          </p:cNvPr>
          <p:cNvCxnSpPr>
            <a:cxnSpLocks/>
          </p:cNvCxnSpPr>
          <p:nvPr/>
        </p:nvCxnSpPr>
        <p:spPr>
          <a:xfrm flipH="1">
            <a:off x="5691016" y="1871325"/>
            <a:ext cx="4641169" cy="318644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1F010E-1E68-B2A7-979F-F616495EDB89}"/>
              </a:ext>
            </a:extLst>
          </p:cNvPr>
          <p:cNvCxnSpPr>
            <a:cxnSpLocks/>
          </p:cNvCxnSpPr>
          <p:nvPr/>
        </p:nvCxnSpPr>
        <p:spPr>
          <a:xfrm>
            <a:off x="96941" y="3235645"/>
            <a:ext cx="328468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02F7A91-F975-28A3-02D5-3A3D4B7B8613}"/>
              </a:ext>
            </a:extLst>
          </p:cNvPr>
          <p:cNvSpPr txBox="1"/>
          <p:nvPr/>
        </p:nvSpPr>
        <p:spPr>
          <a:xfrm>
            <a:off x="3816215" y="1328948"/>
            <a:ext cx="5868269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User clickable use case data product definition process</a:t>
            </a:r>
            <a:endParaRPr lang="en-US" sz="1600" b="1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BA021-EDD7-9F82-C69F-633D6E236A77}"/>
              </a:ext>
            </a:extLst>
          </p:cNvPr>
          <p:cNvSpPr txBox="1"/>
          <p:nvPr/>
        </p:nvSpPr>
        <p:spPr>
          <a:xfrm>
            <a:off x="3824810" y="2868948"/>
            <a:ext cx="199607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</a:rPr>
              <a:t>Under the hood</a:t>
            </a:r>
          </a:p>
        </p:txBody>
      </p:sp>
      <p:pic>
        <p:nvPicPr>
          <p:cNvPr id="6" name="Picture 5" descr="Web interface">
            <a:extLst>
              <a:ext uri="{FF2B5EF4-FFF2-40B4-BE49-F238E27FC236}">
                <a16:creationId xmlns:a16="http://schemas.microsoft.com/office/drawing/2014/main" id="{C570DBC1-231C-B948-F8B4-86535E409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58" y="1872592"/>
            <a:ext cx="352282" cy="36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70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29E9-FE73-94ED-8233-28F1004F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9EB99A-B85D-4BCC-E771-1A69A74DF601}"/>
              </a:ext>
            </a:extLst>
          </p:cNvPr>
          <p:cNvSpPr/>
          <p:nvPr/>
        </p:nvSpPr>
        <p:spPr>
          <a:xfrm>
            <a:off x="5122523" y="1146873"/>
            <a:ext cx="2655935" cy="82423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135844-E5F8-C6F7-DA69-8A6A895FCCE6}"/>
              </a:ext>
            </a:extLst>
          </p:cNvPr>
          <p:cNvSpPr/>
          <p:nvPr/>
        </p:nvSpPr>
        <p:spPr>
          <a:xfrm>
            <a:off x="6158610" y="1146873"/>
            <a:ext cx="1619849" cy="211907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25D367-9B48-CDB2-A53B-EA1AC97503AA}"/>
              </a:ext>
            </a:extLst>
          </p:cNvPr>
          <p:cNvSpPr/>
          <p:nvPr/>
        </p:nvSpPr>
        <p:spPr>
          <a:xfrm>
            <a:off x="6162477" y="2871455"/>
            <a:ext cx="1615981" cy="5167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989408-7A88-1501-C24C-07025F5B413A}"/>
              </a:ext>
            </a:extLst>
          </p:cNvPr>
          <p:cNvSpPr/>
          <p:nvPr/>
        </p:nvSpPr>
        <p:spPr>
          <a:xfrm>
            <a:off x="7149744" y="3969273"/>
            <a:ext cx="1037585" cy="98056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D3918-9316-82CD-69C8-3327A6DB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78224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Lakehouse Functional Execution Model</a:t>
            </a:r>
          </a:p>
        </p:txBody>
      </p:sp>
      <p:cxnSp>
        <p:nvCxnSpPr>
          <p:cNvPr id="60" name="Straight Arrow Connector 72">
            <a:extLst>
              <a:ext uri="{FF2B5EF4-FFF2-40B4-BE49-F238E27FC236}">
                <a16:creationId xmlns:a16="http://schemas.microsoft.com/office/drawing/2014/main" id="{9D6D490B-35B8-5FB4-2048-64BB0609B622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2199637" y="2605450"/>
            <a:ext cx="645691" cy="896914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273C83F-D923-3A71-88BD-C8129DE254C9}"/>
              </a:ext>
            </a:extLst>
          </p:cNvPr>
          <p:cNvCxnSpPr>
            <a:cxnSpLocks/>
          </p:cNvCxnSpPr>
          <p:nvPr/>
        </p:nvCxnSpPr>
        <p:spPr>
          <a:xfrm>
            <a:off x="3448549" y="3032051"/>
            <a:ext cx="0" cy="34136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5D91B31-A6A4-2BF8-0765-EA9A1F208FCB}"/>
              </a:ext>
            </a:extLst>
          </p:cNvPr>
          <p:cNvSpPr/>
          <p:nvPr/>
        </p:nvSpPr>
        <p:spPr>
          <a:xfrm>
            <a:off x="1448122" y="3376752"/>
            <a:ext cx="1251805" cy="60198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Consumable or Pipeline Request for Use Case Data Product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7B5FF5-E4A3-CEC9-A1DC-8B55B4709C61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2699927" y="3674406"/>
            <a:ext cx="271012" cy="33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72">
            <a:extLst>
              <a:ext uri="{FF2B5EF4-FFF2-40B4-BE49-F238E27FC236}">
                <a16:creationId xmlns:a16="http://schemas.microsoft.com/office/drawing/2014/main" id="{91B88D7A-94DB-B97A-6F74-7943EC33928D}"/>
              </a:ext>
            </a:extLst>
          </p:cNvPr>
          <p:cNvCxnSpPr>
            <a:cxnSpLocks/>
            <a:stCxn id="80" idx="0"/>
            <a:endCxn id="67" idx="2"/>
          </p:cNvCxnSpPr>
          <p:nvPr/>
        </p:nvCxnSpPr>
        <p:spPr>
          <a:xfrm flipV="1">
            <a:off x="4688916" y="2872813"/>
            <a:ext cx="6526" cy="52621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ACB931F-8651-2B30-BB71-BE9EE07BFE15}"/>
              </a:ext>
            </a:extLst>
          </p:cNvPr>
          <p:cNvSpPr/>
          <p:nvPr/>
        </p:nvSpPr>
        <p:spPr>
          <a:xfrm>
            <a:off x="4308188" y="2270833"/>
            <a:ext cx="774507" cy="60198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Airflow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Listener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7DC0271-25C3-572D-9BED-83852F528CE6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 flipV="1">
            <a:off x="5082695" y="2570804"/>
            <a:ext cx="191346" cy="101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BB7ABBD0-DA16-A6F5-D579-C146A5192C6B}"/>
              </a:ext>
            </a:extLst>
          </p:cNvPr>
          <p:cNvSpPr/>
          <p:nvPr/>
        </p:nvSpPr>
        <p:spPr>
          <a:xfrm>
            <a:off x="5274041" y="2269814"/>
            <a:ext cx="762664" cy="60198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Execute Orchestration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8C7FB9A-C2D9-4444-B1F5-42A1E50945D3}"/>
              </a:ext>
            </a:extLst>
          </p:cNvPr>
          <p:cNvSpPr/>
          <p:nvPr/>
        </p:nvSpPr>
        <p:spPr>
          <a:xfrm>
            <a:off x="4164645" y="424203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Reference 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Data Listener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2EB2E8B-D89F-1BAD-461F-08BA891D6A07}"/>
              </a:ext>
            </a:extLst>
          </p:cNvPr>
          <p:cNvCxnSpPr>
            <a:cxnSpLocks/>
            <a:stCxn id="81" idx="4"/>
            <a:endCxn id="70" idx="0"/>
          </p:cNvCxnSpPr>
          <p:nvPr/>
        </p:nvCxnSpPr>
        <p:spPr>
          <a:xfrm flipH="1">
            <a:off x="4570274" y="3932234"/>
            <a:ext cx="69" cy="30979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C2198A7-2998-55F8-318C-06754EA21A60}"/>
              </a:ext>
            </a:extLst>
          </p:cNvPr>
          <p:cNvGrpSpPr/>
          <p:nvPr/>
        </p:nvGrpSpPr>
        <p:grpSpPr>
          <a:xfrm>
            <a:off x="5195053" y="1404302"/>
            <a:ext cx="893649" cy="499531"/>
            <a:chOff x="7076910" y="2836138"/>
            <a:chExt cx="1013225" cy="47380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B64E984-9BBE-AE01-8964-46B0FB20D582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21F8B55-9C36-FDAB-A62B-0FDE1F3326E5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4D9D5FB-0805-D940-ADF5-285B68A26BD2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cxnSp>
        <p:nvCxnSpPr>
          <p:cNvPr id="76" name="Straight Arrow Connector 72">
            <a:extLst>
              <a:ext uri="{FF2B5EF4-FFF2-40B4-BE49-F238E27FC236}">
                <a16:creationId xmlns:a16="http://schemas.microsoft.com/office/drawing/2014/main" id="{58EBFA68-59F7-AF18-B8D2-9E60F44FA374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9194539" y="2564017"/>
            <a:ext cx="121905" cy="357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2A07325-9E5C-E9EF-AAA9-DCDE957A54BC}"/>
              </a:ext>
            </a:extLst>
          </p:cNvPr>
          <p:cNvCxnSpPr>
            <a:cxnSpLocks/>
            <a:stCxn id="82" idx="4"/>
            <a:endCxn id="79" idx="0"/>
          </p:cNvCxnSpPr>
          <p:nvPr/>
        </p:nvCxnSpPr>
        <p:spPr>
          <a:xfrm flipH="1">
            <a:off x="5528152" y="3932234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4FC61FF5-5F9D-8B51-8F39-08DE46DFD88F}"/>
              </a:ext>
            </a:extLst>
          </p:cNvPr>
          <p:cNvSpPr/>
          <p:nvPr/>
        </p:nvSpPr>
        <p:spPr>
          <a:xfrm>
            <a:off x="5122523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Transaction Log / Audit Trail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105D768-4F07-D56F-E863-F63E248915FF}"/>
              </a:ext>
            </a:extLst>
          </p:cNvPr>
          <p:cNvSpPr/>
          <p:nvPr/>
        </p:nvSpPr>
        <p:spPr>
          <a:xfrm>
            <a:off x="4629922" y="3399023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392C477B-6C69-7951-32F8-C9F26D399CE1}"/>
              </a:ext>
            </a:extLst>
          </p:cNvPr>
          <p:cNvSpPr/>
          <p:nvPr/>
        </p:nvSpPr>
        <p:spPr>
          <a:xfrm>
            <a:off x="4511349" y="381378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11B063AF-6307-ED41-032F-333CD6445110}"/>
              </a:ext>
            </a:extLst>
          </p:cNvPr>
          <p:cNvSpPr/>
          <p:nvPr/>
        </p:nvSpPr>
        <p:spPr>
          <a:xfrm>
            <a:off x="5475275" y="381378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8A27E3F-F7A0-8AC1-D9AA-F5B2748BA5AC}"/>
              </a:ext>
            </a:extLst>
          </p:cNvPr>
          <p:cNvSpPr/>
          <p:nvPr/>
        </p:nvSpPr>
        <p:spPr>
          <a:xfrm>
            <a:off x="7121700" y="2440216"/>
            <a:ext cx="596238" cy="4312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10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C7447D0-C834-DCED-9473-E90A935ADAE0}"/>
              </a:ext>
            </a:extLst>
          </p:cNvPr>
          <p:cNvSpPr/>
          <p:nvPr/>
        </p:nvSpPr>
        <p:spPr>
          <a:xfrm>
            <a:off x="11133023" y="3369503"/>
            <a:ext cx="734707" cy="60198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Consumer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21FD878-AE4A-BFF7-D5FF-1E9F4B736647}"/>
              </a:ext>
            </a:extLst>
          </p:cNvPr>
          <p:cNvSpPr/>
          <p:nvPr/>
        </p:nvSpPr>
        <p:spPr>
          <a:xfrm>
            <a:off x="9316444" y="2266598"/>
            <a:ext cx="526470" cy="59483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Post Result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9D512C7-0DAB-4E77-407B-0BF03C159C0D}"/>
              </a:ext>
            </a:extLst>
          </p:cNvPr>
          <p:cNvSpPr/>
          <p:nvPr/>
        </p:nvSpPr>
        <p:spPr>
          <a:xfrm>
            <a:off x="9520685" y="341395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72">
            <a:extLst>
              <a:ext uri="{FF2B5EF4-FFF2-40B4-BE49-F238E27FC236}">
                <a16:creationId xmlns:a16="http://schemas.microsoft.com/office/drawing/2014/main" id="{3DCB5D08-6847-4053-C886-DEF5B24DAF5C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9579679" y="2861435"/>
            <a:ext cx="0" cy="55251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72">
            <a:extLst>
              <a:ext uri="{FF2B5EF4-FFF2-40B4-BE49-F238E27FC236}">
                <a16:creationId xmlns:a16="http://schemas.microsoft.com/office/drawing/2014/main" id="{74F936BD-F1DE-E4E9-411E-D15405E6A8A4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9326790" y="1877133"/>
            <a:ext cx="2173587" cy="1492370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F65F96D-30AA-0330-C110-1D2D92FCF7C8}"/>
              </a:ext>
            </a:extLst>
          </p:cNvPr>
          <p:cNvSpPr/>
          <p:nvPr/>
        </p:nvSpPr>
        <p:spPr>
          <a:xfrm>
            <a:off x="10276793" y="3374436"/>
            <a:ext cx="526470" cy="594837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Result Listener</a:t>
            </a:r>
          </a:p>
        </p:txBody>
      </p:sp>
      <p:cxnSp>
        <p:nvCxnSpPr>
          <p:cNvPr id="94" name="Straight Arrow Connector 72">
            <a:extLst>
              <a:ext uri="{FF2B5EF4-FFF2-40B4-BE49-F238E27FC236}">
                <a16:creationId xmlns:a16="http://schemas.microsoft.com/office/drawing/2014/main" id="{E9169A25-271A-C8B8-9A59-E6CBD2182568}"/>
              </a:ext>
            </a:extLst>
          </p:cNvPr>
          <p:cNvCxnSpPr>
            <a:cxnSpLocks/>
            <a:stCxn id="93" idx="3"/>
            <a:endCxn id="86" idx="1"/>
          </p:cNvCxnSpPr>
          <p:nvPr/>
        </p:nvCxnSpPr>
        <p:spPr>
          <a:xfrm flipV="1">
            <a:off x="10803263" y="3670493"/>
            <a:ext cx="329760" cy="1362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96ABCF6-009B-FFE8-B56B-B1A30A714B1A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5655373" y="2871794"/>
            <a:ext cx="0" cy="52159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ylinder 96">
            <a:extLst>
              <a:ext uri="{FF2B5EF4-FFF2-40B4-BE49-F238E27FC236}">
                <a16:creationId xmlns:a16="http://schemas.microsoft.com/office/drawing/2014/main" id="{6362DE72-5522-F975-3809-FFF83797A903}"/>
              </a:ext>
            </a:extLst>
          </p:cNvPr>
          <p:cNvSpPr/>
          <p:nvPr/>
        </p:nvSpPr>
        <p:spPr>
          <a:xfrm>
            <a:off x="6624220" y="1223019"/>
            <a:ext cx="707896" cy="348043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CDMs / Source/ Target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6830131-7150-3849-95D3-57364642BDDA}"/>
              </a:ext>
            </a:extLst>
          </p:cNvPr>
          <p:cNvSpPr/>
          <p:nvPr/>
        </p:nvSpPr>
        <p:spPr>
          <a:xfrm>
            <a:off x="6228052" y="2441574"/>
            <a:ext cx="893648" cy="43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Light or Heavy Implementation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97B84D9-C8FB-ECC3-D6AC-ED151739A16C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6674876" y="2872814"/>
            <a:ext cx="6526" cy="55251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C716546-C553-0B00-A308-AAD43AEE752B}"/>
              </a:ext>
            </a:extLst>
          </p:cNvPr>
          <p:cNvCxnSpPr>
            <a:cxnSpLocks/>
            <a:stCxn id="111" idx="0"/>
            <a:endCxn id="97" idx="3"/>
          </p:cNvCxnSpPr>
          <p:nvPr/>
        </p:nvCxnSpPr>
        <p:spPr>
          <a:xfrm flipV="1">
            <a:off x="6978168" y="1571062"/>
            <a:ext cx="0" cy="6955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72">
            <a:extLst>
              <a:ext uri="{FF2B5EF4-FFF2-40B4-BE49-F238E27FC236}">
                <a16:creationId xmlns:a16="http://schemas.microsoft.com/office/drawing/2014/main" id="{E58C71F8-9166-81FC-E08E-B65C060EAFA6}"/>
              </a:ext>
            </a:extLst>
          </p:cNvPr>
          <p:cNvCxnSpPr>
            <a:cxnSpLocks/>
          </p:cNvCxnSpPr>
          <p:nvPr/>
        </p:nvCxnSpPr>
        <p:spPr>
          <a:xfrm>
            <a:off x="6088704" y="1707339"/>
            <a:ext cx="373524" cy="559259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1272BC0-7AF0-4CC0-2E59-5DB6CDFE15F3}"/>
              </a:ext>
            </a:extLst>
          </p:cNvPr>
          <p:cNvSpPr/>
          <p:nvPr/>
        </p:nvSpPr>
        <p:spPr>
          <a:xfrm>
            <a:off x="6181198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AI Listener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76E061B-3194-EBA4-BD47-C289D5A489F0}"/>
              </a:ext>
            </a:extLst>
          </p:cNvPr>
          <p:cNvCxnSpPr>
            <a:cxnSpLocks/>
          </p:cNvCxnSpPr>
          <p:nvPr/>
        </p:nvCxnSpPr>
        <p:spPr>
          <a:xfrm flipH="1">
            <a:off x="6586827" y="3945906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DCF0666-B07E-1257-8436-2C626092AEEC}"/>
              </a:ext>
            </a:extLst>
          </p:cNvPr>
          <p:cNvSpPr/>
          <p:nvPr/>
        </p:nvSpPr>
        <p:spPr>
          <a:xfrm>
            <a:off x="7250479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Collibra Listener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A799E07-9C3E-1747-F527-C3BAFF0D4C8F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7656107" y="3921512"/>
            <a:ext cx="1" cy="33458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4807E6E-6C1E-CC6B-92C2-1574CC37BBDD}"/>
              </a:ext>
            </a:extLst>
          </p:cNvPr>
          <p:cNvSpPr txBox="1"/>
          <p:nvPr/>
        </p:nvSpPr>
        <p:spPr>
          <a:xfrm>
            <a:off x="10125878" y="1701641"/>
            <a:ext cx="10118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Heavy Only Payload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5DE1965-2818-A4A0-9C34-31C99262B34C}"/>
              </a:ext>
            </a:extLst>
          </p:cNvPr>
          <p:cNvSpPr/>
          <p:nvPr/>
        </p:nvSpPr>
        <p:spPr>
          <a:xfrm>
            <a:off x="6940393" y="2268120"/>
            <a:ext cx="132251" cy="141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7AA49F5-76CA-24B5-27E1-E799E8B8247F}"/>
              </a:ext>
            </a:extLst>
          </p:cNvPr>
          <p:cNvSpPr/>
          <p:nvPr/>
        </p:nvSpPr>
        <p:spPr>
          <a:xfrm>
            <a:off x="6225656" y="2262362"/>
            <a:ext cx="1504364" cy="18851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1E766E6-3862-FFED-71F1-511EB5A57275}"/>
              </a:ext>
            </a:extLst>
          </p:cNvPr>
          <p:cNvSpPr/>
          <p:nvPr/>
        </p:nvSpPr>
        <p:spPr>
          <a:xfrm>
            <a:off x="7468368" y="2270498"/>
            <a:ext cx="4571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6C59233-1881-8332-8EBD-87A1B43F85BF}"/>
              </a:ext>
            </a:extLst>
          </p:cNvPr>
          <p:cNvSpPr/>
          <p:nvPr/>
        </p:nvSpPr>
        <p:spPr>
          <a:xfrm>
            <a:off x="6228052" y="2266598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7C113F2-E240-EC25-5EC9-6108FCF9B551}"/>
              </a:ext>
            </a:extLst>
          </p:cNvPr>
          <p:cNvSpPr/>
          <p:nvPr/>
        </p:nvSpPr>
        <p:spPr>
          <a:xfrm>
            <a:off x="3982888" y="3425329"/>
            <a:ext cx="4402727" cy="499531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10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2F2FB8-5C5B-EA58-DE00-B60DE5D1648A}"/>
              </a:ext>
            </a:extLst>
          </p:cNvPr>
          <p:cNvSpPr/>
          <p:nvPr/>
        </p:nvSpPr>
        <p:spPr>
          <a:xfrm>
            <a:off x="-7448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</a:rPr>
              <a:t>Engine-Agnostic Execution: One Pattern, Any Runtime</a:t>
            </a:r>
            <a:endParaRPr lang="en-US" sz="1200" b="1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Governed Orchestration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API request triggers governed orchestration, which composes reusable services from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Data Loaded Once</a:t>
            </a:r>
            <a:br>
              <a:rPr lang="en-US" sz="1200">
                <a:solidFill>
                  <a:srgbClr val="002060"/>
                </a:solidFill>
                <a:latin typeface="Consolas" panose="020B0609020204030204" pitchFamily="49" charset="0"/>
              </a:rPr>
            </a:br>
            <a:r>
              <a:rPr lang="en-US" sz="1050" err="1">
                <a:solidFill>
                  <a:srgbClr val="002060"/>
                </a:solidFill>
                <a:latin typeface="Consolas" panose="020B0609020204030204" pitchFamily="49" charset="0"/>
              </a:rPr>
              <a:t>RuntimeFrame</a:t>
            </a:r>
            <a:r>
              <a:rPr lang="en-US" sz="1100">
                <a:solidFill>
                  <a:srgbClr val="002060"/>
                </a:solidFill>
              </a:rPr>
              <a:t> loads data by defined shape (CDM / Datamart / Export)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Composable service implementations</a:t>
            </a:r>
            <a:br>
              <a:rPr lang="en-US" sz="1400" b="1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Transformers apply business logic once, supporting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Light – Returns result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Heavy -  Returns pointer to service instance ID, which will be used to: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Check status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Retrieve data via S3 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Supports multiple data shapes 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(Flat for analytics &amp; external systems / Nested for APIs &amp; AI)</a:t>
            </a:r>
            <a:endParaRPr lang="en-US" sz="14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Event Bus publishes execution events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for enrichment and governance</a:t>
            </a:r>
            <a:endParaRPr lang="en-US" sz="12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Enables virtualized CDMs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without duplicating pipelines</a:t>
            </a:r>
            <a:endParaRPr lang="en-US" sz="1400">
              <a:solidFill>
                <a:srgbClr val="002060"/>
              </a:solidFill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Supports n</a:t>
            </a: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ested and chained orchestration</a:t>
            </a:r>
            <a:endParaRPr lang="en-US" sz="1400" b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2D7850-D308-4682-CCF9-35BF68F99B3A}"/>
              </a:ext>
            </a:extLst>
          </p:cNvPr>
          <p:cNvSpPr/>
          <p:nvPr/>
        </p:nvSpPr>
        <p:spPr>
          <a:xfrm>
            <a:off x="8711674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r>
              <a:rPr lang="en-US" sz="2000" b="1">
                <a:solidFill>
                  <a:schemeClr val="tx2"/>
                </a:solidFill>
              </a:rPr>
              <a:t>Enterprise Data Quality</a:t>
            </a:r>
          </a:p>
          <a:p>
            <a:r>
              <a:rPr lang="en-US" sz="1400">
                <a:solidFill>
                  <a:srgbClr val="002060"/>
                </a:solidFill>
              </a:rPr>
              <a:t>Integrated, not bolted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Retrieves Parameterized DQ Rules from Collibra DQ&amp;O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Executes in-memory within </a:t>
            </a:r>
            <a:r>
              <a:rPr lang="en-US" sz="1200" err="1">
                <a:solidFill>
                  <a:srgbClr val="002060"/>
                </a:solidFill>
                <a:latin typeface="Consolas" panose="020B0609020204030204" pitchFamily="49" charset="0"/>
              </a:rPr>
              <a:t>RuntimeFrame</a:t>
            </a:r>
            <a:r>
              <a:rPr lang="en-US" sz="1200">
                <a:solidFill>
                  <a:srgbClr val="002060"/>
                </a:solidFill>
              </a:rPr>
              <a:t>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Publishes results back to Collibra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Converts Collibra into a true centralized rules library</a:t>
            </a:r>
          </a:p>
          <a:p>
            <a:endParaRPr lang="en-US" sz="700">
              <a:solidFill>
                <a:srgbClr val="002060"/>
              </a:solidFill>
            </a:endParaRPr>
          </a:p>
          <a:p>
            <a:r>
              <a:rPr lang="en-US" sz="1200">
                <a:solidFill>
                  <a:srgbClr val="002060"/>
                </a:solidFill>
              </a:rPr>
              <a:t>Strengths:  governance + runtime enforcement</a:t>
            </a:r>
          </a:p>
          <a:p>
            <a:r>
              <a:rPr lang="en-US" sz="1200">
                <a:solidFill>
                  <a:srgbClr val="002060"/>
                </a:solidFill>
              </a:rPr>
              <a:t>Eliminates: siloed validation layers</a:t>
            </a:r>
          </a:p>
        </p:txBody>
      </p:sp>
    </p:spTree>
    <p:extLst>
      <p:ext uri="{BB962C8B-B14F-4D97-AF65-F5344CB8AC3E}">
        <p14:creationId xmlns:p14="http://schemas.microsoft.com/office/powerpoint/2010/main" val="790860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7B060-F969-3000-2CB3-8C3E34FF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7B6B-B08C-0184-CF85-6D2844FE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4 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DLH Platform – Data Product Definition 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47605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DFE3-B250-BF69-4628-956F0A4A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images/graph.png">
            <a:extLst>
              <a:ext uri="{FF2B5EF4-FFF2-40B4-BE49-F238E27FC236}">
                <a16:creationId xmlns:a16="http://schemas.microsoft.com/office/drawing/2014/main" id="{6EB0CA6B-5751-CA38-A987-AF2ACEB30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091" y="3306310"/>
            <a:ext cx="2297779" cy="1351473"/>
          </a:xfrm>
          <a:prstGeom prst="rect">
            <a:avLst/>
          </a:prstGeom>
        </p:spPr>
      </p:pic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205C67C7-7DEB-4A76-40B4-98AA7B5DE70B}"/>
              </a:ext>
            </a:extLst>
          </p:cNvPr>
          <p:cNvCxnSpPr>
            <a:cxnSpLocks/>
          </p:cNvCxnSpPr>
          <p:nvPr/>
        </p:nvCxnSpPr>
        <p:spPr>
          <a:xfrm flipH="1">
            <a:off x="6101235" y="2865369"/>
            <a:ext cx="878909" cy="55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3041D143-3A42-FC82-F1A9-D011719FDA21}"/>
              </a:ext>
            </a:extLst>
          </p:cNvPr>
          <p:cNvCxnSpPr>
            <a:cxnSpLocks/>
          </p:cNvCxnSpPr>
          <p:nvPr/>
        </p:nvCxnSpPr>
        <p:spPr>
          <a:xfrm>
            <a:off x="7253314" y="2951634"/>
            <a:ext cx="860751" cy="466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A9530249-E2BA-8182-635C-CC991B18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69393"/>
            <a:ext cx="9971702" cy="461765"/>
          </a:xfrm>
        </p:spPr>
        <p:txBody>
          <a:bodyPr>
            <a:noAutofit/>
          </a:bodyPr>
          <a:lstStyle/>
          <a:p>
            <a:r>
              <a:rPr lang="en-US" sz="2400"/>
              <a:t>Data Product Definition: Configured, Not Coded</a:t>
            </a:r>
            <a:br>
              <a:rPr lang="en-US" sz="2500">
                <a:latin typeface="Segoe UI Semibold"/>
                <a:cs typeface="Segoe UI Semibold"/>
              </a:rPr>
            </a:br>
            <a:r>
              <a:rPr lang="en-US" sz="2500">
                <a:latin typeface="Segoe UI Semibold"/>
                <a:cs typeface="Segoe UI Semibold"/>
              </a:rPr>
              <a:t> </a:t>
            </a:r>
            <a:r>
              <a:rPr lang="en-US" sz="1800"/>
              <a:t>SME-Driven. Governed by Design. Platform-Generated.</a:t>
            </a:r>
            <a:endParaRPr lang="en-US" sz="1800">
              <a:latin typeface="Segoe UI Semibold"/>
              <a:cs typeface="Segoe UI Semibold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55C1237-0518-E8CF-7209-51DB70CB6545}"/>
              </a:ext>
            </a:extLst>
          </p:cNvPr>
          <p:cNvSpPr/>
          <p:nvPr/>
        </p:nvSpPr>
        <p:spPr>
          <a:xfrm>
            <a:off x="8871" y="748454"/>
            <a:ext cx="3506923" cy="6129323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+mn-lt"/>
                <a:cs typeface="+mn-lt"/>
              </a:rPr>
              <a:t>Product Definition Process</a:t>
            </a:r>
            <a:r>
              <a:rPr lang="en-US" sz="1200">
                <a:solidFill>
                  <a:schemeClr val="tx1"/>
                </a:solidFill>
                <a:ea typeface="+mn-lt"/>
                <a:cs typeface="+mn-lt"/>
              </a:rPr>
              <a:t> </a:t>
            </a:r>
            <a:endParaRPr lang="en-US" b="1">
              <a:solidFill>
                <a:schemeClr val="tx1"/>
              </a:solidFill>
              <a:latin typeface="Aptos"/>
              <a:ea typeface="Calibri"/>
              <a:cs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Data SMEs define Use Case Data Products</a:t>
            </a:r>
            <a:endParaRPr lang="en-US" sz="1200">
              <a:solidFill>
                <a:srgbClr val="002060"/>
              </a:solidFill>
            </a:endParaRP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Via governed UI components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Not custom pipelines</a:t>
            </a:r>
            <a:r>
              <a:rPr lang="en-US" sz="1050">
                <a:solidFill>
                  <a:schemeClr val="tx2"/>
                </a:solidFill>
              </a:rPr>
              <a:t>.</a:t>
            </a:r>
            <a:endParaRPr lang="en-US" sz="1050">
              <a:solidFill>
                <a:schemeClr val="tx2"/>
              </a:solidFill>
              <a:ea typeface="+mn-lt"/>
              <a:cs typeface="+mn-lt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Select Execution Type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Lightweight synchronous (Lambda / Pandas)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Heavyweight distributed (Glue / Spark)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Policy-driven Light vs Heavy routing</a:t>
            </a:r>
            <a:endParaRPr lang="en-US" sz="1050" b="1">
              <a:solidFill>
                <a:srgbClr val="00206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Assemble Reusable Common Services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Choose standard services (DQ, filter, aggregate, enrichment)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Define execution order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Assemble Reusable Customized Services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Add custom services where required</a:t>
            </a:r>
            <a:endParaRPr lang="en-US" sz="1200">
              <a:solidFill>
                <a:srgbClr val="00206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Parameterize the Logic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Select entities and attributes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Configure transformation rules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Define service-specific parameters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No embedded code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Stores Use Case Data Product Metadata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Platform Generates Execution Package</a:t>
            </a:r>
            <a:br>
              <a:rPr lang="en-US" sz="1200" b="1">
                <a:solidFill>
                  <a:srgbClr val="002060"/>
                </a:solidFill>
              </a:rPr>
            </a:br>
            <a:r>
              <a:rPr lang="en-US" sz="1050">
                <a:solidFill>
                  <a:srgbClr val="002060"/>
                </a:solidFill>
              </a:rPr>
              <a:t>The system automatically produces: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Orchestration metadata (stored in S3 / Iceberg)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MWAA orchestration configuration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Service dependency graph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Execution plan representation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>
                <a:solidFill>
                  <a:srgbClr val="002060"/>
                </a:solidFill>
              </a:rPr>
              <a:t>Bus Contract Automatically Detailed</a:t>
            </a:r>
            <a:br>
              <a:rPr lang="en-US" sz="1200" b="1">
                <a:solidFill>
                  <a:srgbClr val="002060"/>
                </a:solidFill>
              </a:rPr>
            </a:br>
            <a:r>
              <a:rPr lang="en-US" sz="1050">
                <a:solidFill>
                  <a:srgbClr val="002060"/>
                </a:solidFill>
              </a:rPr>
              <a:t>Generated package includes: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Output specification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Routing rules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Error handling (DLQ / retry)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Observability configuration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50">
                <a:solidFill>
                  <a:srgbClr val="002060"/>
                </a:solidFill>
              </a:rPr>
              <a:t>Service configuration overrides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19829-03B9-8C43-B3CE-B7C9BA57A349}"/>
              </a:ext>
            </a:extLst>
          </p:cNvPr>
          <p:cNvSpPr/>
          <p:nvPr/>
        </p:nvSpPr>
        <p:spPr>
          <a:xfrm>
            <a:off x="4683073" y="2566046"/>
            <a:ext cx="920018" cy="4718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Data Product / Pipeline Definition and Validation UI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DB739F-03A9-C63E-28D9-59A3799F3C9E}"/>
              </a:ext>
            </a:extLst>
          </p:cNvPr>
          <p:cNvSpPr/>
          <p:nvPr/>
        </p:nvSpPr>
        <p:spPr>
          <a:xfrm>
            <a:off x="6714378" y="2566046"/>
            <a:ext cx="694019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Common Services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42FE22-B9FB-01C4-5197-F1F83E4206B0}"/>
              </a:ext>
            </a:extLst>
          </p:cNvPr>
          <p:cNvCxnSpPr>
            <a:cxnSpLocks/>
          </p:cNvCxnSpPr>
          <p:nvPr/>
        </p:nvCxnSpPr>
        <p:spPr>
          <a:xfrm>
            <a:off x="5614849" y="2801973"/>
            <a:ext cx="215366" cy="501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E3D8926-9B3A-BB4D-B769-4CC4DA63B92C}"/>
              </a:ext>
            </a:extLst>
          </p:cNvPr>
          <p:cNvSpPr/>
          <p:nvPr/>
        </p:nvSpPr>
        <p:spPr>
          <a:xfrm>
            <a:off x="8498620" y="2566046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Parameterize</a:t>
            </a:r>
          </a:p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Service Calls in Orchestration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1DD39B-6535-63E3-6F55-E5B3FAF1DF76}"/>
              </a:ext>
            </a:extLst>
          </p:cNvPr>
          <p:cNvCxnSpPr>
            <a:cxnSpLocks/>
          </p:cNvCxnSpPr>
          <p:nvPr/>
        </p:nvCxnSpPr>
        <p:spPr>
          <a:xfrm flipV="1">
            <a:off x="7413049" y="2815422"/>
            <a:ext cx="192105" cy="160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8A2366-BDCF-D6FE-398A-F3708133128F}"/>
              </a:ext>
            </a:extLst>
          </p:cNvPr>
          <p:cNvCxnSpPr>
            <a:cxnSpLocks/>
          </p:cNvCxnSpPr>
          <p:nvPr/>
        </p:nvCxnSpPr>
        <p:spPr>
          <a:xfrm>
            <a:off x="9186027" y="2801973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159AE9-3AAF-695F-5051-95BDBE00B74E}"/>
              </a:ext>
            </a:extLst>
          </p:cNvPr>
          <p:cNvCxnSpPr>
            <a:cxnSpLocks/>
          </p:cNvCxnSpPr>
          <p:nvPr/>
        </p:nvCxnSpPr>
        <p:spPr>
          <a:xfrm>
            <a:off x="6512969" y="2801973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21D9CA-FFD6-8C40-066E-F3771A8556ED}"/>
              </a:ext>
            </a:extLst>
          </p:cNvPr>
          <p:cNvCxnSpPr>
            <a:cxnSpLocks/>
          </p:cNvCxnSpPr>
          <p:nvPr/>
        </p:nvCxnSpPr>
        <p:spPr>
          <a:xfrm flipH="1" flipV="1">
            <a:off x="9733940" y="1932413"/>
            <a:ext cx="11576" cy="748653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29">
            <a:extLst>
              <a:ext uri="{FF2B5EF4-FFF2-40B4-BE49-F238E27FC236}">
                <a16:creationId xmlns:a16="http://schemas.microsoft.com/office/drawing/2014/main" id="{B865FDD1-212D-56DB-78CE-F9C5114D7E1D}"/>
              </a:ext>
            </a:extLst>
          </p:cNvPr>
          <p:cNvCxnSpPr>
            <a:cxnSpLocks/>
          </p:cNvCxnSpPr>
          <p:nvPr/>
        </p:nvCxnSpPr>
        <p:spPr>
          <a:xfrm flipH="1">
            <a:off x="5013687" y="1686706"/>
            <a:ext cx="4443804" cy="8649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30FA630-31AD-F774-4046-E0DEAED68EC6}"/>
              </a:ext>
            </a:extLst>
          </p:cNvPr>
          <p:cNvCxnSpPr>
            <a:cxnSpLocks/>
          </p:cNvCxnSpPr>
          <p:nvPr/>
        </p:nvCxnSpPr>
        <p:spPr>
          <a:xfrm>
            <a:off x="10074842" y="2801973"/>
            <a:ext cx="171251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DACB8A-6982-84D6-1AAD-D60742EC8E96}"/>
              </a:ext>
            </a:extLst>
          </p:cNvPr>
          <p:cNvCxnSpPr>
            <a:cxnSpLocks/>
          </p:cNvCxnSpPr>
          <p:nvPr/>
        </p:nvCxnSpPr>
        <p:spPr>
          <a:xfrm>
            <a:off x="8297212" y="2801973"/>
            <a:ext cx="201409" cy="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white line drawing of a diagram&#10;&#10;AI-generated content may be incorrect.">
            <a:extLst>
              <a:ext uri="{FF2B5EF4-FFF2-40B4-BE49-F238E27FC236}">
                <a16:creationId xmlns:a16="http://schemas.microsoft.com/office/drawing/2014/main" id="{165E1254-1668-0C3F-4BAF-B5EFF7F87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0793" y="2031565"/>
            <a:ext cx="236384" cy="2898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9555983-C3D4-31A6-5F22-79EEA11EFB5B}"/>
              </a:ext>
            </a:extLst>
          </p:cNvPr>
          <p:cNvSpPr txBox="1"/>
          <p:nvPr/>
        </p:nvSpPr>
        <p:spPr>
          <a:xfrm>
            <a:off x="10263475" y="1686730"/>
            <a:ext cx="66075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AWS Managed</a:t>
            </a:r>
          </a:p>
          <a:p>
            <a:r>
              <a:rPr lang="en-US" sz="6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Workflows for</a:t>
            </a:r>
          </a:p>
          <a:p>
            <a:r>
              <a:rPr lang="en-US" sz="6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Apache Airflow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89C599-CE47-632C-B644-34308D5082ED}"/>
              </a:ext>
            </a:extLst>
          </p:cNvPr>
          <p:cNvCxnSpPr>
            <a:cxnSpLocks/>
          </p:cNvCxnSpPr>
          <p:nvPr/>
        </p:nvCxnSpPr>
        <p:spPr>
          <a:xfrm flipV="1">
            <a:off x="10544332" y="2345910"/>
            <a:ext cx="4780" cy="35869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385CAD8-F21D-E158-1F58-B84D64AB1DFF}"/>
              </a:ext>
            </a:extLst>
          </p:cNvPr>
          <p:cNvSpPr/>
          <p:nvPr/>
        </p:nvSpPr>
        <p:spPr>
          <a:xfrm>
            <a:off x="6034373" y="3373410"/>
            <a:ext cx="2094850" cy="801394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4C09389-ADE8-F039-8740-69EB4C7C3429}"/>
              </a:ext>
            </a:extLst>
          </p:cNvPr>
          <p:cNvSpPr/>
          <p:nvPr/>
        </p:nvSpPr>
        <p:spPr>
          <a:xfrm>
            <a:off x="6134600" y="3662969"/>
            <a:ext cx="583210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Consolidate</a:t>
            </a:r>
            <a:endParaRPr lang="en-US" sz="60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7CF5920E-F2B4-B36A-BABF-6D921D31C684}"/>
              </a:ext>
            </a:extLst>
          </p:cNvPr>
          <p:cNvSpPr/>
          <p:nvPr/>
        </p:nvSpPr>
        <p:spPr>
          <a:xfrm>
            <a:off x="6780234" y="3662968"/>
            <a:ext cx="583210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Collibra DQ</a:t>
            </a:r>
            <a:endParaRPr lang="en-US" sz="60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817AA6BC-8A4F-5427-D091-A378E0118DB2}"/>
              </a:ext>
            </a:extLst>
          </p:cNvPr>
          <p:cNvSpPr/>
          <p:nvPr/>
        </p:nvSpPr>
        <p:spPr>
          <a:xfrm>
            <a:off x="7425867" y="3662967"/>
            <a:ext cx="583210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Audit / Logging</a:t>
            </a:r>
            <a:endParaRPr lang="en-US" sz="60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006B8-0EA3-E675-681F-F9622A96D0EB}"/>
              </a:ext>
            </a:extLst>
          </p:cNvPr>
          <p:cNvSpPr/>
          <p:nvPr/>
        </p:nvSpPr>
        <p:spPr>
          <a:xfrm>
            <a:off x="6139633" y="3429484"/>
            <a:ext cx="568833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Transform</a:t>
            </a:r>
            <a:endParaRPr lang="en-US" sz="60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1212591-566F-302D-8174-7E5919DDC86A}"/>
              </a:ext>
            </a:extLst>
          </p:cNvPr>
          <p:cNvSpPr/>
          <p:nvPr/>
        </p:nvSpPr>
        <p:spPr>
          <a:xfrm>
            <a:off x="6785266" y="3429484"/>
            <a:ext cx="595632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Aggregate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D872EE1-76B5-CD9D-4176-7FD9AF1691B9}"/>
              </a:ext>
            </a:extLst>
          </p:cNvPr>
          <p:cNvSpPr/>
          <p:nvPr/>
        </p:nvSpPr>
        <p:spPr>
          <a:xfrm>
            <a:off x="7430900" y="3429483"/>
            <a:ext cx="583210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Filter</a:t>
            </a:r>
            <a:endParaRPr lang="en-US" sz="60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7FFC7D1-2D5A-019B-5B45-B69028FBE115}"/>
              </a:ext>
            </a:extLst>
          </p:cNvPr>
          <p:cNvSpPr/>
          <p:nvPr/>
        </p:nvSpPr>
        <p:spPr>
          <a:xfrm>
            <a:off x="6130289" y="3887505"/>
            <a:ext cx="583210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MDM</a:t>
            </a:r>
            <a:endParaRPr lang="en-US" sz="60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7100A12A-CF7B-85AB-7BBB-2FB60A39A1F2}"/>
              </a:ext>
            </a:extLst>
          </p:cNvPr>
          <p:cNvSpPr/>
          <p:nvPr/>
        </p:nvSpPr>
        <p:spPr>
          <a:xfrm>
            <a:off x="6790299" y="3887504"/>
            <a:ext cx="595632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Ref Data Mgt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AFCE09A7-2F3D-E7D2-DC57-D52EDF34B8C4}"/>
              </a:ext>
            </a:extLst>
          </p:cNvPr>
          <p:cNvSpPr/>
          <p:nvPr/>
        </p:nvSpPr>
        <p:spPr>
          <a:xfrm>
            <a:off x="7435932" y="3887503"/>
            <a:ext cx="595632" cy="2007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...</a:t>
            </a:r>
            <a:endParaRPr lang="en-US" sz="600"/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A231F624-CA4F-A2B6-3C69-079F7871E9B4}"/>
              </a:ext>
            </a:extLst>
          </p:cNvPr>
          <p:cNvSpPr/>
          <p:nvPr/>
        </p:nvSpPr>
        <p:spPr>
          <a:xfrm>
            <a:off x="7082525" y="2005837"/>
            <a:ext cx="1583932" cy="368441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54765EF4-2908-23D1-1E38-BFC7BCEBCF69}"/>
              </a:ext>
            </a:extLst>
          </p:cNvPr>
          <p:cNvSpPr/>
          <p:nvPr/>
        </p:nvSpPr>
        <p:spPr>
          <a:xfrm>
            <a:off x="7115898" y="2068948"/>
            <a:ext cx="732735" cy="229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Finance Datamart Svc 1</a:t>
            </a:r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B7C5FCE-82BA-7ED3-E26E-539D79E52296}"/>
              </a:ext>
            </a:extLst>
          </p:cNvPr>
          <p:cNvSpPr/>
          <p:nvPr/>
        </p:nvSpPr>
        <p:spPr>
          <a:xfrm>
            <a:off x="7934060" y="2068948"/>
            <a:ext cx="683852" cy="229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...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3B72C6FA-BBBC-C433-204A-3C671252B276}"/>
              </a:ext>
            </a:extLst>
          </p:cNvPr>
          <p:cNvGrpSpPr/>
          <p:nvPr/>
        </p:nvGrpSpPr>
        <p:grpSpPr>
          <a:xfrm>
            <a:off x="10049049" y="4884325"/>
            <a:ext cx="2027778" cy="1646959"/>
            <a:chOff x="9314630" y="4055895"/>
            <a:chExt cx="2790952" cy="2468950"/>
          </a:xfrm>
        </p:grpSpPr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41233343-5E9A-9294-ADD2-BEDC473B4B54}"/>
                </a:ext>
              </a:extLst>
            </p:cNvPr>
            <p:cNvSpPr/>
            <p:nvPr/>
          </p:nvSpPr>
          <p:spPr>
            <a:xfrm>
              <a:off x="9314630" y="4055895"/>
              <a:ext cx="2790952" cy="24689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sz="800">
                  <a:solidFill>
                    <a:schemeClr val="tx1"/>
                  </a:solidFill>
                  <a:ea typeface="Calibri"/>
                  <a:cs typeface="Calibri"/>
                </a:rPr>
                <a:t>Execution Plan Internal Representation</a:t>
              </a:r>
              <a:endParaRPr lang="en-US" sz="6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9B3CFCF3-91BF-03A1-3F34-829BDEC78CA7}"/>
                </a:ext>
              </a:extLst>
            </p:cNvPr>
            <p:cNvSpPr/>
            <p:nvPr/>
          </p:nvSpPr>
          <p:spPr>
            <a:xfrm>
              <a:off x="9420749" y="4330777"/>
              <a:ext cx="1284617" cy="5020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DAG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service calls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dependencies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C02C27E0-20B7-DA86-80AF-D7BD97401E60}"/>
                </a:ext>
              </a:extLst>
            </p:cNvPr>
            <p:cNvSpPr/>
            <p:nvPr/>
          </p:nvSpPr>
          <p:spPr>
            <a:xfrm>
              <a:off x="9901001" y="5553820"/>
              <a:ext cx="1796886" cy="8990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Step Contract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Service name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Parameters</a:t>
              </a:r>
              <a:endParaRPr lang="en-US" sz="80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Retry/timeout</a:t>
              </a:r>
              <a:endParaRPr lang="en-US" sz="80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Idempotency key</a:t>
              </a:r>
              <a:endParaRPr lang="en-US" sz="80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Input/output data references </a:t>
              </a:r>
              <a:endParaRPr lang="en-US" sz="800">
                <a:ea typeface="Calibri"/>
                <a:cs typeface="Calibri"/>
              </a:endParaRP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60E1713C-5387-2EA3-7E0D-FACD3032D4BE}"/>
                </a:ext>
              </a:extLst>
            </p:cNvPr>
            <p:cNvSpPr/>
            <p:nvPr/>
          </p:nvSpPr>
          <p:spPr>
            <a:xfrm>
              <a:off x="9439958" y="4881465"/>
              <a:ext cx="1259005" cy="5916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Routing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Complexity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Volume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Runtime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A57E5063-ABFB-60C7-33C0-6140D0048090}"/>
                </a:ext>
              </a:extLst>
            </p:cNvPr>
            <p:cNvSpPr/>
            <p:nvPr/>
          </p:nvSpPr>
          <p:spPr>
            <a:xfrm>
              <a:off x="10752646" y="4875061"/>
              <a:ext cx="1259005" cy="5916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Observability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 err="1">
                  <a:ea typeface="+mn-lt"/>
                  <a:cs typeface="+mn-lt"/>
                </a:rPr>
                <a:t>Coorelation</a:t>
              </a:r>
              <a:r>
                <a:rPr lang="en-US" sz="600">
                  <a:ea typeface="+mn-lt"/>
                  <a:cs typeface="+mn-lt"/>
                </a:rPr>
                <a:t> ID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Trace ID</a:t>
              </a:r>
              <a:endParaRPr lang="en-US" sz="80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Audit Policy</a:t>
              </a:r>
              <a:endParaRPr lang="en-US" sz="800">
                <a:ea typeface="Calibri"/>
                <a:cs typeface="Calibri"/>
              </a:endParaRP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84DB68A9-A772-AB1A-B450-3EC08B111A71}"/>
                </a:ext>
              </a:extLst>
            </p:cNvPr>
            <p:cNvSpPr/>
            <p:nvPr/>
          </p:nvSpPr>
          <p:spPr>
            <a:xfrm>
              <a:off x="10759049" y="4343580"/>
              <a:ext cx="1259005" cy="4892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Security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LF/ABAC Tags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Data Classification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1FD10812-C41E-2578-6BE8-B2B91EF37D1D}"/>
              </a:ext>
            </a:extLst>
          </p:cNvPr>
          <p:cNvGrpSpPr/>
          <p:nvPr/>
        </p:nvGrpSpPr>
        <p:grpSpPr>
          <a:xfrm>
            <a:off x="3596185" y="4888064"/>
            <a:ext cx="2027778" cy="1668317"/>
            <a:chOff x="433167" y="4055895"/>
            <a:chExt cx="2790952" cy="2500968"/>
          </a:xfrm>
        </p:grpSpPr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99F1E50C-D692-65F2-0E9A-AE26C6832E50}"/>
                </a:ext>
              </a:extLst>
            </p:cNvPr>
            <p:cNvSpPr/>
            <p:nvPr/>
          </p:nvSpPr>
          <p:spPr>
            <a:xfrm>
              <a:off x="433167" y="4055895"/>
              <a:ext cx="2790952" cy="25009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sz="800">
                  <a:solidFill>
                    <a:schemeClr val="tx1"/>
                  </a:solidFill>
                  <a:ea typeface="Calibri"/>
                  <a:cs typeface="Calibri"/>
                </a:rPr>
                <a:t>Bus Contract</a:t>
              </a:r>
              <a:endParaRPr lang="en-US" sz="105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5DE562F0-5646-7417-6252-C8A4A273613F}"/>
                </a:ext>
              </a:extLst>
            </p:cNvPr>
            <p:cNvSpPr/>
            <p:nvPr/>
          </p:nvSpPr>
          <p:spPr>
            <a:xfrm>
              <a:off x="552091" y="4522874"/>
              <a:ext cx="1271811" cy="6207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Output</a:t>
              </a:r>
              <a:endParaRPr lang="en-US" sz="700">
                <a:ea typeface="Calibri"/>
                <a:cs typeface="Calibri"/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US" sz="600">
                  <a:ea typeface="Calibri"/>
                  <a:cs typeface="Calibri"/>
                </a:rPr>
                <a:t>Message Schema</a:t>
              </a:r>
            </a:p>
            <a:p>
              <a:pPr marL="285750" indent="-285750">
                <a:buFont typeface="Arial,Sans-Serif"/>
                <a:buChar char="•"/>
              </a:pPr>
              <a:r>
                <a:rPr lang="en-US" sz="600">
                  <a:ea typeface="Calibri"/>
                  <a:cs typeface="Calibri"/>
                </a:rPr>
                <a:t>Consistent Event Naming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D42275D8-75AB-0797-D9F7-3CD978271047}"/>
                </a:ext>
              </a:extLst>
            </p:cNvPr>
            <p:cNvSpPr/>
            <p:nvPr/>
          </p:nvSpPr>
          <p:spPr>
            <a:xfrm>
              <a:off x="558497" y="5521804"/>
              <a:ext cx="2571691" cy="8862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Each Step Event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Data Product ID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Run ID / Step ID</a:t>
              </a:r>
              <a:endParaRPr lang="en-US" sz="80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Correlation ID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Input / Output Data References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Status / Metrics / Error Details</a:t>
              </a:r>
            </a:p>
            <a:p>
              <a:pPr marL="285750" indent="-285750">
                <a:buFont typeface="Arial"/>
                <a:buChar char="•"/>
              </a:pPr>
              <a:endParaRPr lang="en-US" sz="600">
                <a:ea typeface="Calibri"/>
                <a:cs typeface="Calibri"/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F06BAE61-6624-1E91-900A-B6065BBF3858}"/>
                </a:ext>
              </a:extLst>
            </p:cNvPr>
            <p:cNvSpPr/>
            <p:nvPr/>
          </p:nvSpPr>
          <p:spPr>
            <a:xfrm>
              <a:off x="558495" y="5176022"/>
              <a:ext cx="2571694" cy="2970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>
                  <a:ea typeface="Calibri"/>
                  <a:cs typeface="Calibri"/>
                </a:rPr>
                <a:t>DLQ / Retry Strategy</a:t>
              </a: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BC1316C-D4AF-D94E-0D68-6AE88CAC1D1B}"/>
                </a:ext>
              </a:extLst>
            </p:cNvPr>
            <p:cNvSpPr/>
            <p:nvPr/>
          </p:nvSpPr>
          <p:spPr>
            <a:xfrm>
              <a:off x="1871184" y="4522874"/>
              <a:ext cx="1259004" cy="6108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600" b="1" err="1">
                  <a:ea typeface="Calibri"/>
                  <a:cs typeface="Calibri"/>
                </a:rPr>
                <a:t>EventBridge</a:t>
              </a:r>
              <a:r>
                <a:rPr lang="en-US" sz="600" b="1">
                  <a:ea typeface="Calibri"/>
                  <a:cs typeface="Calibri"/>
                </a:rPr>
                <a:t> Rule Patterns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+mn-lt"/>
                  <a:cs typeface="+mn-lt"/>
                </a:rPr>
                <a:t>Step Type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600">
                  <a:ea typeface="Calibri"/>
                  <a:cs typeface="Calibri"/>
                </a:rPr>
                <a:t>Volume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E488CD9-4B44-0C3A-D25B-A589B51779A2}"/>
              </a:ext>
            </a:extLst>
          </p:cNvPr>
          <p:cNvGrpSpPr/>
          <p:nvPr/>
        </p:nvGrpSpPr>
        <p:grpSpPr>
          <a:xfrm>
            <a:off x="6023181" y="4888064"/>
            <a:ext cx="1613715" cy="1668317"/>
            <a:chOff x="3609233" y="4055895"/>
            <a:chExt cx="2221053" cy="2500968"/>
          </a:xfrm>
        </p:grpSpPr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E9CD67E4-05D0-03AF-4041-A1BF4C0AA4D9}"/>
                </a:ext>
              </a:extLst>
            </p:cNvPr>
            <p:cNvSpPr/>
            <p:nvPr/>
          </p:nvSpPr>
          <p:spPr>
            <a:xfrm>
              <a:off x="3609233" y="4055895"/>
              <a:ext cx="2221053" cy="25009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sz="800">
                  <a:solidFill>
                    <a:schemeClr val="tx1"/>
                  </a:solidFill>
                  <a:ea typeface="Calibri"/>
                  <a:cs typeface="Calibri"/>
                </a:rPr>
                <a:t>MWAA Orchestration Assets</a:t>
              </a: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47081FC-A2D0-198A-C235-EF695754D794}"/>
                </a:ext>
              </a:extLst>
            </p:cNvPr>
            <p:cNvSpPr/>
            <p:nvPr/>
          </p:nvSpPr>
          <p:spPr>
            <a:xfrm>
              <a:off x="3657722" y="4823834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Airflow DAG Python</a:t>
              </a:r>
              <a:endParaRPr lang="en-US" sz="600">
                <a:ea typeface="Calibri"/>
                <a:cs typeface="Calibri"/>
              </a:endParaRP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F13F4B2A-903D-6B48-367A-AA81466A99D9}"/>
                </a:ext>
              </a:extLst>
            </p:cNvPr>
            <p:cNvSpPr/>
            <p:nvPr/>
          </p:nvSpPr>
          <p:spPr>
            <a:xfrm>
              <a:off x="4746292" y="4823833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MWAA Dependencies</a:t>
              </a:r>
              <a:endParaRPr lang="en-US" sz="1050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57B06C79-21C1-6551-796D-AB02B79FBC29}"/>
                </a:ext>
              </a:extLst>
            </p:cNvPr>
            <p:cNvSpPr/>
            <p:nvPr/>
          </p:nvSpPr>
          <p:spPr>
            <a:xfrm>
              <a:off x="4234024" y="5438555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Airflow Config Overrides</a:t>
              </a:r>
              <a:endParaRPr lang="en-US" sz="1050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F0A6C0D0-0710-D670-6D90-B7EFB508A4D4}"/>
              </a:ext>
            </a:extLst>
          </p:cNvPr>
          <p:cNvGrpSpPr/>
          <p:nvPr/>
        </p:nvGrpSpPr>
        <p:grpSpPr>
          <a:xfrm>
            <a:off x="8036116" y="4888064"/>
            <a:ext cx="1613715" cy="1668317"/>
            <a:chOff x="5927249" y="4055895"/>
            <a:chExt cx="2221053" cy="2500968"/>
          </a:xfrm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A84C5333-5276-3C22-15DF-D789C17E18F9}"/>
                </a:ext>
              </a:extLst>
            </p:cNvPr>
            <p:cNvSpPr/>
            <p:nvPr/>
          </p:nvSpPr>
          <p:spPr>
            <a:xfrm>
              <a:off x="5927249" y="4055895"/>
              <a:ext cx="2221053" cy="25009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sz="800">
                  <a:solidFill>
                    <a:schemeClr val="tx1"/>
                  </a:solidFill>
                  <a:ea typeface="Calibri"/>
                  <a:cs typeface="Calibri"/>
                </a:rPr>
                <a:t>Service-side Invocation Adapters</a:t>
              </a:r>
              <a:endParaRPr lang="en-US" sz="1050">
                <a:solidFill>
                  <a:schemeClr val="tx1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C580EC3-50AE-005E-B870-D85FBE8FC591}"/>
                </a:ext>
              </a:extLst>
            </p:cNvPr>
            <p:cNvSpPr/>
            <p:nvPr/>
          </p:nvSpPr>
          <p:spPr>
            <a:xfrm>
              <a:off x="5969334" y="4862253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Event Consumption</a:t>
              </a:r>
              <a:endParaRPr lang="en-US" sz="1050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EE6E3748-2BE6-5D4D-0D45-59E468E7FCA9}"/>
                </a:ext>
              </a:extLst>
            </p:cNvPr>
            <p:cNvSpPr/>
            <p:nvPr/>
          </p:nvSpPr>
          <p:spPr>
            <a:xfrm>
              <a:off x="7057904" y="4862252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Service Execution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7D2949F1-5B0D-AF31-B77C-593FDB06F179}"/>
                </a:ext>
              </a:extLst>
            </p:cNvPr>
            <p:cNvSpPr/>
            <p:nvPr/>
          </p:nvSpPr>
          <p:spPr>
            <a:xfrm>
              <a:off x="6545636" y="5476974"/>
              <a:ext cx="1022081" cy="5340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700" b="1">
                  <a:ea typeface="Calibri"/>
                  <a:cs typeface="Calibri"/>
                </a:rPr>
                <a:t>Publish Status</a:t>
              </a:r>
              <a:endParaRPr lang="en-US" sz="1050"/>
            </a:p>
          </p:txBody>
        </p:sp>
      </p:grpSp>
      <p:pic>
        <p:nvPicPr>
          <p:cNvPr id="387" name="Picture 386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7317BCA5-179B-7B8F-D5B3-64B07899D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533" y="4173337"/>
            <a:ext cx="226979" cy="226114"/>
          </a:xfrm>
          <a:prstGeom prst="rect">
            <a:avLst/>
          </a:prstGeom>
        </p:spPr>
      </p:pic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B9B2160B-93C2-9B69-4F4C-0278C64428BB}"/>
              </a:ext>
            </a:extLst>
          </p:cNvPr>
          <p:cNvCxnSpPr>
            <a:cxnSpLocks/>
          </p:cNvCxnSpPr>
          <p:nvPr/>
        </p:nvCxnSpPr>
        <p:spPr>
          <a:xfrm>
            <a:off x="7095164" y="2362162"/>
            <a:ext cx="640489" cy="272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792AB546-05C7-59E6-635D-DB7C35C4F742}"/>
              </a:ext>
            </a:extLst>
          </p:cNvPr>
          <p:cNvCxnSpPr>
            <a:cxnSpLocks/>
          </p:cNvCxnSpPr>
          <p:nvPr/>
        </p:nvCxnSpPr>
        <p:spPr>
          <a:xfrm flipH="1">
            <a:off x="8128445" y="2362162"/>
            <a:ext cx="548227" cy="293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BAB6B08-738E-B20A-288F-959577E50FCF}"/>
              </a:ext>
            </a:extLst>
          </p:cNvPr>
          <p:cNvSpPr/>
          <p:nvPr/>
        </p:nvSpPr>
        <p:spPr>
          <a:xfrm>
            <a:off x="7609806" y="2566046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Identify Required Customized Service</a:t>
            </a:r>
          </a:p>
        </p:txBody>
      </p:sp>
      <p:sp>
        <p:nvSpPr>
          <p:cNvPr id="392" name="Left Brace 391">
            <a:extLst>
              <a:ext uri="{FF2B5EF4-FFF2-40B4-BE49-F238E27FC236}">
                <a16:creationId xmlns:a16="http://schemas.microsoft.com/office/drawing/2014/main" id="{4AC0F6B6-8FA4-1EBB-D51E-F8F072CB7F94}"/>
              </a:ext>
            </a:extLst>
          </p:cNvPr>
          <p:cNvSpPr/>
          <p:nvPr/>
        </p:nvSpPr>
        <p:spPr>
          <a:xfrm rot="5400000">
            <a:off x="7677849" y="435721"/>
            <a:ext cx="348265" cy="86058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3228B44E-8929-C01F-A0DE-22C1956804EC}"/>
              </a:ext>
            </a:extLst>
          </p:cNvPr>
          <p:cNvCxnSpPr>
            <a:cxnSpLocks/>
          </p:cNvCxnSpPr>
          <p:nvPr/>
        </p:nvCxnSpPr>
        <p:spPr>
          <a:xfrm flipH="1">
            <a:off x="8047369" y="2859482"/>
            <a:ext cx="2472779" cy="16390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4" name="Picture 393" descr="Web interface">
            <a:extLst>
              <a:ext uri="{FF2B5EF4-FFF2-40B4-BE49-F238E27FC236}">
                <a16:creationId xmlns:a16="http://schemas.microsoft.com/office/drawing/2014/main" id="{B1558D05-241A-4801-755E-46BD55DBB8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753" y="2213184"/>
            <a:ext cx="352282" cy="360333"/>
          </a:xfrm>
          <a:prstGeom prst="rect">
            <a:avLst/>
          </a:prstGeom>
        </p:spPr>
      </p:pic>
      <p:sp>
        <p:nvSpPr>
          <p:cNvPr id="400" name="Oval 399">
            <a:extLst>
              <a:ext uri="{FF2B5EF4-FFF2-40B4-BE49-F238E27FC236}">
                <a16:creationId xmlns:a16="http://schemas.microsoft.com/office/drawing/2014/main" id="{9D9EB8CA-F917-BFD0-396F-207693D59A65}"/>
              </a:ext>
            </a:extLst>
          </p:cNvPr>
          <p:cNvSpPr/>
          <p:nvPr/>
        </p:nvSpPr>
        <p:spPr>
          <a:xfrm>
            <a:off x="5033513" y="306247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D1B0BCD2-E005-BC1D-C969-FA090CF4A230}"/>
              </a:ext>
            </a:extLst>
          </p:cNvPr>
          <p:cNvSpPr/>
          <p:nvPr/>
        </p:nvSpPr>
        <p:spPr>
          <a:xfrm>
            <a:off x="6073395" y="306247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9EDC200C-4A94-078F-397F-C24A972DEA77}"/>
              </a:ext>
            </a:extLst>
          </p:cNvPr>
          <p:cNvSpPr/>
          <p:nvPr/>
        </p:nvSpPr>
        <p:spPr>
          <a:xfrm>
            <a:off x="6968361" y="306247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40B33FB8-EB44-6BE7-3B5B-98F5F6033908}"/>
              </a:ext>
            </a:extLst>
          </p:cNvPr>
          <p:cNvSpPr/>
          <p:nvPr/>
        </p:nvSpPr>
        <p:spPr>
          <a:xfrm>
            <a:off x="10157586" y="2307151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E0BBA0BF-D654-4EB0-C550-33EF61C213D9}"/>
              </a:ext>
            </a:extLst>
          </p:cNvPr>
          <p:cNvSpPr/>
          <p:nvPr/>
        </p:nvSpPr>
        <p:spPr>
          <a:xfrm>
            <a:off x="8300051" y="4416952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A2032286-D1A5-22FF-ADEE-8136CB3F1768}"/>
              </a:ext>
            </a:extLst>
          </p:cNvPr>
          <p:cNvSpPr/>
          <p:nvPr/>
        </p:nvSpPr>
        <p:spPr>
          <a:xfrm>
            <a:off x="9453094" y="2307151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415" name="Picture 414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BA5142AF-DCE4-3D24-97F9-4D4E0ADD2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5333" y="1218831"/>
            <a:ext cx="229142" cy="223332"/>
          </a:xfrm>
          <a:prstGeom prst="rect">
            <a:avLst/>
          </a:prstGeom>
        </p:spPr>
      </p:pic>
      <p:pic>
        <p:nvPicPr>
          <p:cNvPr id="417" name="Picture 416" descr="A logo of a bucket and a magnifying glass&#10;&#10;AI-generated content may be incorrect.">
            <a:extLst>
              <a:ext uri="{FF2B5EF4-FFF2-40B4-BE49-F238E27FC236}">
                <a16:creationId xmlns:a16="http://schemas.microsoft.com/office/drawing/2014/main" id="{BF11AF1B-5805-0B80-5E88-99B3882E3C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0920" y="1219192"/>
            <a:ext cx="252168" cy="220736"/>
          </a:xfrm>
          <a:prstGeom prst="rect">
            <a:avLst/>
          </a:prstGeom>
        </p:spPr>
      </p:pic>
      <p:sp>
        <p:nvSpPr>
          <p:cNvPr id="380" name="Rectangle 379">
            <a:extLst>
              <a:ext uri="{FF2B5EF4-FFF2-40B4-BE49-F238E27FC236}">
                <a16:creationId xmlns:a16="http://schemas.microsoft.com/office/drawing/2014/main" id="{70FA0414-230E-CA52-2EEA-934DBE8853F6}"/>
              </a:ext>
            </a:extLst>
          </p:cNvPr>
          <p:cNvSpPr/>
          <p:nvPr/>
        </p:nvSpPr>
        <p:spPr>
          <a:xfrm>
            <a:off x="10232135" y="2571066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Deploy Orchestration</a:t>
            </a:r>
          </a:p>
        </p:txBody>
      </p:sp>
      <p:sp>
        <p:nvSpPr>
          <p:cNvPr id="420" name="Rectangle: Rounded Corners 419">
            <a:extLst>
              <a:ext uri="{FF2B5EF4-FFF2-40B4-BE49-F238E27FC236}">
                <a16:creationId xmlns:a16="http://schemas.microsoft.com/office/drawing/2014/main" id="{98EBCAEE-049A-4DDE-804E-18E4965CA91F}"/>
              </a:ext>
            </a:extLst>
          </p:cNvPr>
          <p:cNvSpPr/>
          <p:nvPr/>
        </p:nvSpPr>
        <p:spPr>
          <a:xfrm>
            <a:off x="5328487" y="2005836"/>
            <a:ext cx="1583932" cy="368441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F7BD1B81-2A66-6900-47A0-A749DEA67AB5}"/>
              </a:ext>
            </a:extLst>
          </p:cNvPr>
          <p:cNvSpPr/>
          <p:nvPr/>
        </p:nvSpPr>
        <p:spPr>
          <a:xfrm>
            <a:off x="5361860" y="2068947"/>
            <a:ext cx="732735" cy="229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Light</a:t>
            </a:r>
            <a:endParaRPr lang="en-US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9A6B4C0E-2093-174A-3C23-7948359AB735}"/>
              </a:ext>
            </a:extLst>
          </p:cNvPr>
          <p:cNvSpPr/>
          <p:nvPr/>
        </p:nvSpPr>
        <p:spPr>
          <a:xfrm>
            <a:off x="6180022" y="2068947"/>
            <a:ext cx="683852" cy="229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">
                <a:ea typeface="Calibri"/>
                <a:cs typeface="Calibri"/>
              </a:rPr>
              <a:t>Heavy</a:t>
            </a:r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40ECF769-6F2A-EA84-0F46-2BBF36680B30}"/>
              </a:ext>
            </a:extLst>
          </p:cNvPr>
          <p:cNvCxnSpPr>
            <a:cxnSpLocks/>
          </p:cNvCxnSpPr>
          <p:nvPr/>
        </p:nvCxnSpPr>
        <p:spPr>
          <a:xfrm>
            <a:off x="5341126" y="2347784"/>
            <a:ext cx="640489" cy="272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64A3A0DC-02B4-8D8C-61A2-477A499711B4}"/>
              </a:ext>
            </a:extLst>
          </p:cNvPr>
          <p:cNvCxnSpPr>
            <a:cxnSpLocks/>
          </p:cNvCxnSpPr>
          <p:nvPr/>
        </p:nvCxnSpPr>
        <p:spPr>
          <a:xfrm flipH="1">
            <a:off x="6374407" y="2347784"/>
            <a:ext cx="548227" cy="293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Oval 424">
            <a:extLst>
              <a:ext uri="{FF2B5EF4-FFF2-40B4-BE49-F238E27FC236}">
                <a16:creationId xmlns:a16="http://schemas.microsoft.com/office/drawing/2014/main" id="{9663AAAF-B29F-4DE1-232D-ED7CAB0C4A89}"/>
              </a:ext>
            </a:extLst>
          </p:cNvPr>
          <p:cNvSpPr/>
          <p:nvPr/>
        </p:nvSpPr>
        <p:spPr>
          <a:xfrm>
            <a:off x="7877193" y="306247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270B8F-4BE7-B343-918F-DD0F125C27F5}"/>
              </a:ext>
            </a:extLst>
          </p:cNvPr>
          <p:cNvSpPr/>
          <p:nvPr/>
        </p:nvSpPr>
        <p:spPr>
          <a:xfrm>
            <a:off x="5825563" y="2566046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Determine Execution Type(s)</a:t>
            </a:r>
          </a:p>
        </p:txBody>
      </p:sp>
      <p:pic>
        <p:nvPicPr>
          <p:cNvPr id="429" name="Picture 428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424D1D85-AD2D-2AE0-9787-4C77A4C36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9027" y="1840556"/>
            <a:ext cx="225656" cy="22173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EFC909B-8D90-E2EB-F191-6C442931995F}"/>
              </a:ext>
            </a:extLst>
          </p:cNvPr>
          <p:cNvSpPr/>
          <p:nvPr/>
        </p:nvSpPr>
        <p:spPr>
          <a:xfrm>
            <a:off x="9387436" y="2566046"/>
            <a:ext cx="687406" cy="471853"/>
          </a:xfrm>
          <a:prstGeom prst="rect">
            <a:avLst/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Create Orchestration Package(s)</a:t>
            </a:r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E7BE3598-7994-7C8B-7FC3-F42EEA647D2E}"/>
              </a:ext>
            </a:extLst>
          </p:cNvPr>
          <p:cNvSpPr/>
          <p:nvPr/>
        </p:nvSpPr>
        <p:spPr>
          <a:xfrm>
            <a:off x="9414357" y="1450781"/>
            <a:ext cx="639164" cy="471853"/>
          </a:xfrm>
          <a:prstGeom prst="can">
            <a:avLst>
              <a:gd name="adj" fmla="val 16579"/>
            </a:avLst>
          </a:prstGeom>
          <a:solidFill>
            <a:srgbClr val="E8F3F8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600">
                <a:solidFill>
                  <a:schemeClr val="accent6">
                    <a:lumMod val="10000"/>
                  </a:schemeClr>
                </a:solidFill>
              </a:rPr>
              <a:t>Store Orchestrion Metadata</a:t>
            </a:r>
          </a:p>
        </p:txBody>
      </p:sp>
      <p:pic>
        <p:nvPicPr>
          <p:cNvPr id="430" name="Picture 42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805E8916-67C0-62E5-D56A-6FFE29D71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155" y="1786695"/>
            <a:ext cx="226979" cy="226114"/>
          </a:xfrm>
          <a:prstGeom prst="rect">
            <a:avLst/>
          </a:prstGeom>
        </p:spPr>
      </p:pic>
      <p:sp>
        <p:nvSpPr>
          <p:cNvPr id="431" name="Oval 430">
            <a:extLst>
              <a:ext uri="{FF2B5EF4-FFF2-40B4-BE49-F238E27FC236}">
                <a16:creationId xmlns:a16="http://schemas.microsoft.com/office/drawing/2014/main" id="{9673CC28-6630-AEC4-962C-B33A4AB81D57}"/>
              </a:ext>
            </a:extLst>
          </p:cNvPr>
          <p:cNvSpPr/>
          <p:nvPr/>
        </p:nvSpPr>
        <p:spPr>
          <a:xfrm>
            <a:off x="8754212" y="306247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5</a:t>
            </a:r>
          </a:p>
        </p:txBody>
      </p:sp>
      <p:pic>
        <p:nvPicPr>
          <p:cNvPr id="432" name="Picture 431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B0BD62EF-D0C3-20C8-0D52-6E113B67DF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0159" y="1840556"/>
            <a:ext cx="225656" cy="221737"/>
          </a:xfrm>
          <a:prstGeom prst="rect">
            <a:avLst/>
          </a:prstGeom>
        </p:spPr>
      </p:pic>
      <p:pic>
        <p:nvPicPr>
          <p:cNvPr id="433" name="Picture 432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A67ABF64-BE0D-FEE0-4827-DCB490168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702" y="1844204"/>
            <a:ext cx="226979" cy="226114"/>
          </a:xfrm>
          <a:prstGeom prst="rect">
            <a:avLst/>
          </a:prstGeom>
        </p:spPr>
      </p:pic>
      <p:pic>
        <p:nvPicPr>
          <p:cNvPr id="434" name="Picture 433" descr="apache spark Sticker">
            <a:extLst>
              <a:ext uri="{FF2B5EF4-FFF2-40B4-BE49-F238E27FC236}">
                <a16:creationId xmlns:a16="http://schemas.microsoft.com/office/drawing/2014/main" id="{FB752732-782E-ADF3-33F2-59BE174757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4842" y="1846650"/>
            <a:ext cx="230757" cy="210916"/>
          </a:xfrm>
          <a:prstGeom prst="rect">
            <a:avLst/>
          </a:prstGeom>
        </p:spPr>
      </p:pic>
      <p:pic>
        <p:nvPicPr>
          <p:cNvPr id="2" name="Picture 1" descr="_images/dags.png">
            <a:extLst>
              <a:ext uri="{FF2B5EF4-FFF2-40B4-BE49-F238E27FC236}">
                <a16:creationId xmlns:a16="http://schemas.microsoft.com/office/drawing/2014/main" id="{5D75B43A-7554-6C9A-CE1C-C0A82C83C2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8432" y="3313141"/>
            <a:ext cx="1222795" cy="1337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3586A9-22E3-88B1-36F5-D0518F19DBF0}"/>
              </a:ext>
            </a:extLst>
          </p:cNvPr>
          <p:cNvSpPr txBox="1"/>
          <p:nvPr/>
        </p:nvSpPr>
        <p:spPr>
          <a:xfrm>
            <a:off x="5638694" y="1367768"/>
            <a:ext cx="3711662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Use case data product definition process</a:t>
            </a:r>
            <a:endParaRPr lang="en-US" sz="1600" b="1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86085-7D69-D4B8-2DF4-4CBD6D447482}"/>
              </a:ext>
            </a:extLst>
          </p:cNvPr>
          <p:cNvSpPr txBox="1"/>
          <p:nvPr/>
        </p:nvSpPr>
        <p:spPr>
          <a:xfrm>
            <a:off x="5495414" y="6596047"/>
            <a:ext cx="4196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SMEs define intent. The platform generates execution.</a:t>
            </a:r>
            <a:endParaRPr lang="en-US" sz="11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3588AF-B5C2-14E9-48BC-8E97BBB87328}"/>
              </a:ext>
            </a:extLst>
          </p:cNvPr>
          <p:cNvSpPr txBox="1"/>
          <p:nvPr/>
        </p:nvSpPr>
        <p:spPr>
          <a:xfrm>
            <a:off x="3505812" y="837886"/>
            <a:ext cx="180608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b="1" u="sng"/>
              <a:t>Without</a:t>
            </a:r>
            <a:r>
              <a:rPr lang="en-US" sz="900" b="1"/>
              <a:t> This Model</a:t>
            </a:r>
            <a:endParaRPr lang="en-US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Custom pipelines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Manual Airflow DAG creation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Inconsistent DQ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Engine-specific logic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E9B5B2-102A-A215-84B7-E9A88E4B424E}"/>
              </a:ext>
            </a:extLst>
          </p:cNvPr>
          <p:cNvSpPr txBox="1"/>
          <p:nvPr/>
        </p:nvSpPr>
        <p:spPr>
          <a:xfrm>
            <a:off x="3512324" y="1489909"/>
            <a:ext cx="165323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b="1" u="sng"/>
              <a:t>With</a:t>
            </a:r>
            <a:r>
              <a:rPr lang="en-US" sz="900" b="1"/>
              <a:t> This Model</a:t>
            </a:r>
            <a:endParaRPr lang="en-US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Declarative composition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Automated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Embedded governance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Engine-agnostic execution</a:t>
            </a:r>
          </a:p>
        </p:txBody>
      </p:sp>
    </p:spTree>
    <p:extLst>
      <p:ext uri="{BB962C8B-B14F-4D97-AF65-F5344CB8AC3E}">
        <p14:creationId xmlns:p14="http://schemas.microsoft.com/office/powerpoint/2010/main" val="1715801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3AC4-DB2E-00EF-EEC1-A49FDEC8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EE43-6F83-0E05-E1C7-855E2C5A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5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DLH Platform – Event Bus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152230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248E-BB50-336F-03B5-CD165605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70909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The Event Bus as the Platform Backbone </a:t>
            </a:r>
            <a:br>
              <a:rPr lang="en-US"/>
            </a:br>
            <a:r>
              <a:rPr lang="en-US" sz="2200"/>
              <a:t>From Execution Engine to Intelligent Platform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508931-3756-2FA1-E887-1FAE9BF48F91}"/>
              </a:ext>
            </a:extLst>
          </p:cNvPr>
          <p:cNvSpPr/>
          <p:nvPr/>
        </p:nvSpPr>
        <p:spPr>
          <a:xfrm>
            <a:off x="4150090" y="2641686"/>
            <a:ext cx="3554014" cy="499531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10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5DD3A-7ACB-3C76-86F2-8D97E903C23A}"/>
              </a:ext>
            </a:extLst>
          </p:cNvPr>
          <p:cNvSpPr txBox="1"/>
          <p:nvPr/>
        </p:nvSpPr>
        <p:spPr>
          <a:xfrm>
            <a:off x="3544693" y="6254686"/>
            <a:ext cx="4955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The runtime runs workloads. The bus turns workloads into a learning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BBD11-5C2C-9086-A200-D24C3F3A2D50}"/>
              </a:ext>
            </a:extLst>
          </p:cNvPr>
          <p:cNvSpPr txBox="1"/>
          <p:nvPr/>
        </p:nvSpPr>
        <p:spPr>
          <a:xfrm>
            <a:off x="4736808" y="5007246"/>
            <a:ext cx="2571339" cy="136960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/>
              <a:t>The bus </a:t>
            </a:r>
            <a:r>
              <a:rPr lang="en-US" sz="1200" b="1"/>
              <a:t>enables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Cross-cutting capabilities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Runtime intelligence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Operational visibility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Future AI augmentation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Zero coupling between concerns</a:t>
            </a:r>
          </a:p>
          <a:p>
            <a:endParaRPr lang="en-US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63B0AD-EC32-F70D-81C7-7AF9B0BF8E62}"/>
              </a:ext>
            </a:extLst>
          </p:cNvPr>
          <p:cNvSpPr txBox="1"/>
          <p:nvPr/>
        </p:nvSpPr>
        <p:spPr>
          <a:xfrm>
            <a:off x="4490068" y="4370165"/>
            <a:ext cx="29109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/>
              <a:t>Decoupled.  Extensible.  Intelligent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53588-74EC-F8F7-0E57-28D988781839}"/>
              </a:ext>
            </a:extLst>
          </p:cNvPr>
          <p:cNvSpPr txBox="1"/>
          <p:nvPr/>
        </p:nvSpPr>
        <p:spPr>
          <a:xfrm>
            <a:off x="4978373" y="4764854"/>
            <a:ext cx="2088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How it fits together</a:t>
            </a:r>
            <a:endParaRPr lang="en-US" sz="1200" b="1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F4B6C-F8CA-4E05-0C1A-A40FC2A6E8EF}"/>
              </a:ext>
            </a:extLst>
          </p:cNvPr>
          <p:cNvSpPr/>
          <p:nvPr/>
        </p:nvSpPr>
        <p:spPr>
          <a:xfrm>
            <a:off x="4328564" y="3458388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Reference 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Data Listener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4C4B63-7213-CEB4-9B02-203DF746ACD9}"/>
              </a:ext>
            </a:extLst>
          </p:cNvPr>
          <p:cNvCxnSpPr>
            <a:cxnSpLocks/>
          </p:cNvCxnSpPr>
          <p:nvPr/>
        </p:nvCxnSpPr>
        <p:spPr>
          <a:xfrm flipH="1">
            <a:off x="4734158" y="3148591"/>
            <a:ext cx="69" cy="30979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A7E5B5-07EA-AA90-D873-3C8376FD6913}"/>
              </a:ext>
            </a:extLst>
          </p:cNvPr>
          <p:cNvSpPr txBox="1"/>
          <p:nvPr/>
        </p:nvSpPr>
        <p:spPr>
          <a:xfrm>
            <a:off x="4124895" y="4094687"/>
            <a:ext cx="12185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/>
              <a:t>Enrichment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7A97FD-F87F-5238-6331-CCB37A389C7E}"/>
              </a:ext>
            </a:extLst>
          </p:cNvPr>
          <p:cNvCxnSpPr>
            <a:cxnSpLocks/>
          </p:cNvCxnSpPr>
          <p:nvPr/>
        </p:nvCxnSpPr>
        <p:spPr>
          <a:xfrm flipH="1">
            <a:off x="5865579" y="3148591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EEE0694-8215-8A5E-5C04-BB8E27245BE3}"/>
              </a:ext>
            </a:extLst>
          </p:cNvPr>
          <p:cNvSpPr/>
          <p:nvPr/>
        </p:nvSpPr>
        <p:spPr>
          <a:xfrm>
            <a:off x="5463009" y="3472458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Transaction Log / Audit Trail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C8A5C7-D12D-E0EE-8191-3494E6B73135}"/>
              </a:ext>
            </a:extLst>
          </p:cNvPr>
          <p:cNvSpPr txBox="1"/>
          <p:nvPr/>
        </p:nvSpPr>
        <p:spPr>
          <a:xfrm>
            <a:off x="5259340" y="4094687"/>
            <a:ext cx="12185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/>
              <a:t>Traceability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E389B-B9FD-1CFC-232B-7C14E2B9F0ED}"/>
              </a:ext>
            </a:extLst>
          </p:cNvPr>
          <p:cNvSpPr/>
          <p:nvPr/>
        </p:nvSpPr>
        <p:spPr>
          <a:xfrm>
            <a:off x="6671813" y="3472458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AI Listener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320318-7C55-9558-98E7-12E992FB7C54}"/>
              </a:ext>
            </a:extLst>
          </p:cNvPr>
          <p:cNvCxnSpPr>
            <a:cxnSpLocks/>
          </p:cNvCxnSpPr>
          <p:nvPr/>
        </p:nvCxnSpPr>
        <p:spPr>
          <a:xfrm flipH="1">
            <a:off x="7077442" y="3162263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A9251C-17E2-AF2F-6E8B-5C71A5ABA807}"/>
              </a:ext>
            </a:extLst>
          </p:cNvPr>
          <p:cNvSpPr txBox="1"/>
          <p:nvPr/>
        </p:nvSpPr>
        <p:spPr>
          <a:xfrm>
            <a:off x="6393784" y="4094687"/>
            <a:ext cx="12185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/>
              <a:t>Learning &amp; Routing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209B7DC-7FE3-0CBC-1BA5-B45AD81CB101}"/>
              </a:ext>
            </a:extLst>
          </p:cNvPr>
          <p:cNvSpPr/>
          <p:nvPr/>
        </p:nvSpPr>
        <p:spPr>
          <a:xfrm>
            <a:off x="0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sz="1600" b="1">
              <a:solidFill>
                <a:schemeClr val="tx2"/>
              </a:solidFill>
              <a:latin typeface="Aptos"/>
              <a:ea typeface="+mn-lt"/>
              <a:cs typeface="+mn-lt"/>
            </a:endParaRPr>
          </a:p>
          <a:p>
            <a:endParaRPr lang="en-US" sz="1600" b="1">
              <a:solidFill>
                <a:schemeClr val="tx2"/>
              </a:solidFill>
              <a:latin typeface="Aptos"/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/>
                </a:solidFill>
              </a:rPr>
              <a:t>Overview</a:t>
            </a:r>
            <a:endParaRPr lang="en-US" sz="1200" b="1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Decouples services from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New capabilities attach without modifying pipelines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All platform intelligence becomes event-driven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Enables extensibility, governance, and AI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Converts runtime execution into a scalable platform</a:t>
            </a:r>
          </a:p>
          <a:p>
            <a:endParaRPr lang="en-US" sz="1200"/>
          </a:p>
          <a:p>
            <a:r>
              <a:rPr lang="en-US" sz="1600" b="1">
                <a:solidFill>
                  <a:schemeClr val="tx2"/>
                </a:solidFill>
              </a:rPr>
              <a:t>Without the bus</a:t>
            </a:r>
            <a:endParaRPr lang="en-US" sz="1200" b="1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Every new capability requires pipeline modification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Tight coupling between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Hard to scale innovation</a:t>
            </a:r>
          </a:p>
          <a:p>
            <a:endParaRPr lang="en-US" sz="1200"/>
          </a:p>
          <a:p>
            <a:r>
              <a:rPr lang="en-US" sz="1600" b="1">
                <a:solidFill>
                  <a:schemeClr val="tx2"/>
                </a:solidFill>
              </a:rPr>
              <a:t>With the bus</a:t>
            </a:r>
            <a:endParaRPr lang="en-US" sz="1200" b="1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Services listen and react independently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Capabilities are additive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Platform evolves without breaking existing workloads</a:t>
            </a:r>
          </a:p>
          <a:p>
            <a:endParaRPr lang="en-US" sz="1200"/>
          </a:p>
          <a:p>
            <a:r>
              <a:rPr lang="en-US" sz="1200">
                <a:solidFill>
                  <a:srgbClr val="002060"/>
                </a:solidFill>
              </a:rPr>
              <a:t>This is what makes it a </a:t>
            </a:r>
            <a:r>
              <a:rPr lang="en-US" sz="1200" b="1">
                <a:solidFill>
                  <a:srgbClr val="002060"/>
                </a:solidFill>
              </a:rPr>
              <a:t>platform</a:t>
            </a:r>
            <a:r>
              <a:rPr lang="en-US" sz="1200">
                <a:solidFill>
                  <a:srgbClr val="002060"/>
                </a:solidFill>
              </a:rPr>
              <a:t>, not a framework.</a:t>
            </a: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18BCBCB-0D01-B037-218A-04693C09407B}"/>
              </a:ext>
            </a:extLst>
          </p:cNvPr>
          <p:cNvSpPr/>
          <p:nvPr/>
        </p:nvSpPr>
        <p:spPr>
          <a:xfrm>
            <a:off x="8685077" y="783132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 b="1">
              <a:solidFill>
                <a:schemeClr val="tx2"/>
              </a:solidFill>
            </a:endParaRPr>
          </a:p>
          <a:p>
            <a:r>
              <a:rPr lang="en-US" sz="1600" b="1">
                <a:solidFill>
                  <a:schemeClr val="tx2"/>
                </a:solidFill>
              </a:rPr>
              <a:t>Core Bus-Enabled Services</a:t>
            </a:r>
          </a:p>
          <a:p>
            <a:endParaRPr lang="en-US" sz="1600" b="1">
              <a:solidFill>
                <a:schemeClr val="tx2"/>
              </a:solidFill>
            </a:endParaRPr>
          </a:p>
          <a:p>
            <a:r>
              <a:rPr lang="en-US" sz="1400" b="1">
                <a:solidFill>
                  <a:schemeClr val="tx2"/>
                </a:solidFill>
              </a:rPr>
              <a:t>Reference Data Listener</a:t>
            </a:r>
            <a:endParaRPr lang="en-US" sz="1200" b="1">
              <a:solidFill>
                <a:schemeClr val="tx2"/>
              </a:solidFill>
            </a:endParaRPr>
          </a:p>
          <a:p>
            <a:r>
              <a:rPr lang="en-US" sz="1050" b="1">
                <a:solidFill>
                  <a:srgbClr val="002060"/>
                </a:solidFill>
              </a:rPr>
              <a:t>Purpose: </a:t>
            </a:r>
            <a:r>
              <a:rPr lang="en-US" sz="1050">
                <a:solidFill>
                  <a:srgbClr val="002060"/>
                </a:solidFill>
              </a:rPr>
              <a:t>Ensure domain consistency across all executions</a:t>
            </a:r>
            <a:endParaRPr lang="en-US" sz="1050" b="1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Listens for data product execution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Enriches runtime with current reference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Version-aware (effective dating / domain versions)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Eliminates hard-coded joins in pipelines</a:t>
            </a:r>
          </a:p>
          <a:p>
            <a:r>
              <a:rPr lang="en-US" sz="1050" b="1">
                <a:solidFill>
                  <a:srgbClr val="002060"/>
                </a:solidFill>
              </a:rPr>
              <a:t>Value: </a:t>
            </a:r>
            <a:r>
              <a:rPr lang="en-US" sz="1050">
                <a:solidFill>
                  <a:srgbClr val="002060"/>
                </a:solidFill>
              </a:rPr>
              <a:t>Centralized truth applied automatically</a:t>
            </a:r>
            <a:endParaRPr lang="en-US" sz="1100" b="1">
              <a:solidFill>
                <a:srgbClr val="002060"/>
              </a:solidFill>
            </a:endParaRPr>
          </a:p>
          <a:p>
            <a:endParaRPr lang="en-US" sz="1200"/>
          </a:p>
          <a:p>
            <a:r>
              <a:rPr lang="en-US" sz="1400" b="1">
                <a:solidFill>
                  <a:schemeClr val="tx2"/>
                </a:solidFill>
              </a:rPr>
              <a:t>Transaction Log / Audit Trail Listener</a:t>
            </a:r>
            <a:endParaRPr lang="en-US" sz="1200" b="1">
              <a:solidFill>
                <a:schemeClr val="tx2"/>
              </a:solidFill>
            </a:endParaRPr>
          </a:p>
          <a:p>
            <a:r>
              <a:rPr lang="en-US" sz="1050" b="1">
                <a:solidFill>
                  <a:srgbClr val="002060"/>
                </a:solidFill>
              </a:rPr>
              <a:t>Purpose: </a:t>
            </a:r>
            <a:r>
              <a:rPr lang="en-US" sz="1050">
                <a:solidFill>
                  <a:srgbClr val="002060"/>
                </a:solidFill>
              </a:rPr>
              <a:t>Enterprise-grade traceability</a:t>
            </a:r>
            <a:endParaRPr lang="en-US" sz="1050" b="1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Listens to execution start/stop/failure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Captures input shape, parameters, execution engine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Logs transformation lineage &amp; metrics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Stores immutable execution records</a:t>
            </a:r>
          </a:p>
          <a:p>
            <a:r>
              <a:rPr lang="en-US" sz="1050" b="1">
                <a:solidFill>
                  <a:srgbClr val="002060"/>
                </a:solidFill>
              </a:rPr>
              <a:t>Value: </a:t>
            </a:r>
            <a:r>
              <a:rPr lang="en-US" sz="1100">
                <a:solidFill>
                  <a:srgbClr val="002060"/>
                </a:solidFill>
              </a:rPr>
              <a:t>Auditability without burdening services</a:t>
            </a:r>
            <a:endParaRPr lang="en-US" sz="1100" b="1">
              <a:solidFill>
                <a:srgbClr val="002060"/>
              </a:solidFill>
            </a:endParaRPr>
          </a:p>
          <a:p>
            <a:endParaRPr lang="en-US" sz="1400" b="1">
              <a:solidFill>
                <a:schemeClr val="tx2"/>
              </a:solidFill>
            </a:endParaRPr>
          </a:p>
          <a:p>
            <a:r>
              <a:rPr lang="en-US" sz="1400" b="1">
                <a:solidFill>
                  <a:schemeClr val="tx2"/>
                </a:solidFill>
              </a:rPr>
              <a:t>AI Listener</a:t>
            </a:r>
            <a:endParaRPr lang="en-US" sz="1200" b="1">
              <a:solidFill>
                <a:schemeClr val="tx2"/>
              </a:solidFill>
            </a:endParaRPr>
          </a:p>
          <a:p>
            <a:r>
              <a:rPr lang="en-US" sz="1050" b="1">
                <a:solidFill>
                  <a:srgbClr val="002060"/>
                </a:solidFill>
              </a:rPr>
              <a:t>Purpose: </a:t>
            </a:r>
            <a:r>
              <a:rPr lang="en-US" sz="1050">
                <a:solidFill>
                  <a:srgbClr val="002060"/>
                </a:solidFill>
              </a:rPr>
              <a:t>Intelligent optimization &amp; anomaly detection</a:t>
            </a:r>
            <a:endParaRPr lang="en-US" sz="1050" b="1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Listens to execution metadata and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Identifies optimization opportunities (light vs heavy routing)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Detects unusual data patterns or quality degradation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Feeds recommendations back into orchestration</a:t>
            </a:r>
          </a:p>
          <a:p>
            <a:r>
              <a:rPr lang="en-US" sz="1050" b="1">
                <a:solidFill>
                  <a:srgbClr val="002060"/>
                </a:solidFill>
              </a:rPr>
              <a:t>Value: </a:t>
            </a:r>
            <a:r>
              <a:rPr lang="en-US" sz="1100">
                <a:solidFill>
                  <a:srgbClr val="002060"/>
                </a:solidFill>
              </a:rPr>
              <a:t>Continuous learning across the platform</a:t>
            </a:r>
            <a:endParaRPr lang="en-US" sz="1100" b="1">
              <a:solidFill>
                <a:srgbClr val="002060"/>
              </a:solidFill>
            </a:endParaRPr>
          </a:p>
          <a:p>
            <a:endParaRPr lang="en-US" sz="1200">
              <a:solidFill>
                <a:srgbClr val="002060"/>
              </a:solidFill>
            </a:endParaRPr>
          </a:p>
          <a:p>
            <a:endParaRPr lang="en-US" sz="1200"/>
          </a:p>
          <a:p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39C3C9-3B93-FA4D-A73F-0060B03C32B2}"/>
              </a:ext>
            </a:extLst>
          </p:cNvPr>
          <p:cNvSpPr txBox="1"/>
          <p:nvPr/>
        </p:nvSpPr>
        <p:spPr>
          <a:xfrm>
            <a:off x="4075643" y="1130460"/>
            <a:ext cx="3893669" cy="15542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Standardized execution eliminates pipeline duplication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Business logic written once; runtime selects execution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Governance, DQ, and audit embedded by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Event-driven extensibility enables continuous innovation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AI readiness is architectural — not aspirational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/>
          </a:p>
          <a:p>
            <a:endParaRPr lang="en-US" sz="11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AAF87F-A3C9-FC9F-C5BB-E3D5D3B5D281}"/>
              </a:ext>
            </a:extLst>
          </p:cNvPr>
          <p:cNvSpPr txBox="1"/>
          <p:nvPr/>
        </p:nvSpPr>
        <p:spPr>
          <a:xfrm>
            <a:off x="4978373" y="888068"/>
            <a:ext cx="2088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Capability Summary</a:t>
            </a:r>
            <a:endParaRPr lang="en-US" sz="12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556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C586-25FE-4CCC-32A0-C2D86EB3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FDC2-7428-007E-93DA-31A317BE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Appendix 6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3600">
                <a:latin typeface="Segoe UI Semibold"/>
                <a:cs typeface="Segoe UI Semibold"/>
              </a:rPr>
              <a:t>DLH Platform – Execution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859547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06E9-0202-CC79-5AB8-C78A39B0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7B5A-0797-49C4-59FB-125737D6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389"/>
            <a:ext cx="10973272" cy="4617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Lakehouse Conceptual Architecture Overview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2000">
                <a:latin typeface="Segoe UI Semibold"/>
                <a:cs typeface="Segoe UI Semibold"/>
              </a:rPr>
              <a:t>Architectural Benefits</a:t>
            </a:r>
            <a:endParaRPr lang="en-US" sz="2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5B118-FDD3-DB16-6511-0065C5954DA4}"/>
              </a:ext>
            </a:extLst>
          </p:cNvPr>
          <p:cNvGrpSpPr/>
          <p:nvPr/>
        </p:nvGrpSpPr>
        <p:grpSpPr>
          <a:xfrm>
            <a:off x="1" y="837724"/>
            <a:ext cx="4582115" cy="6017704"/>
            <a:chOff x="-3570" y="1488856"/>
            <a:chExt cx="3089940" cy="388917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C2D50E-7189-DC27-8284-117F903C8688}"/>
                </a:ext>
              </a:extLst>
            </p:cNvPr>
            <p:cNvSpPr/>
            <p:nvPr/>
          </p:nvSpPr>
          <p:spPr>
            <a:xfrm>
              <a:off x="-3570" y="1488856"/>
              <a:ext cx="3089940" cy="3889171"/>
            </a:xfrm>
            <a:custGeom>
              <a:avLst/>
              <a:gdLst>
                <a:gd name="csX0" fmla="*/ 0 w 3481493"/>
                <a:gd name="csY0" fmla="*/ 0 h 3507465"/>
                <a:gd name="csX1" fmla="*/ 185140 w 3481493"/>
                <a:gd name="csY1" fmla="*/ 0 h 3507465"/>
                <a:gd name="csX2" fmla="*/ 474134 w 3481493"/>
                <a:gd name="csY2" fmla="*/ 0 h 3507465"/>
                <a:gd name="csX3" fmla="*/ 3309899 w 3481493"/>
                <a:gd name="csY3" fmla="*/ 0 h 3507465"/>
                <a:gd name="csX4" fmla="*/ 3481493 w 3481493"/>
                <a:gd name="csY4" fmla="*/ 171594 h 3507465"/>
                <a:gd name="csX5" fmla="*/ 3481493 w 3481493"/>
                <a:gd name="csY5" fmla="*/ 3335871 h 3507465"/>
                <a:gd name="csX6" fmla="*/ 3309899 w 3481493"/>
                <a:gd name="csY6" fmla="*/ 3507465 h 3507465"/>
                <a:gd name="csX7" fmla="*/ 474134 w 3481493"/>
                <a:gd name="csY7" fmla="*/ 3507465 h 3507465"/>
                <a:gd name="csX8" fmla="*/ 185140 w 3481493"/>
                <a:gd name="csY8" fmla="*/ 3507465 h 3507465"/>
                <a:gd name="csX9" fmla="*/ 0 w 3481493"/>
                <a:gd name="csY9" fmla="*/ 3507465 h 350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481493" h="3507465">
                  <a:moveTo>
                    <a:pt x="0" y="0"/>
                  </a:moveTo>
                  <a:lnTo>
                    <a:pt x="185140" y="0"/>
                  </a:lnTo>
                  <a:lnTo>
                    <a:pt x="474134" y="0"/>
                  </a:lnTo>
                  <a:lnTo>
                    <a:pt x="3309899" y="0"/>
                  </a:lnTo>
                  <a:cubicBezTo>
                    <a:pt x="3404668" y="0"/>
                    <a:pt x="3481493" y="76825"/>
                    <a:pt x="3481493" y="171594"/>
                  </a:cubicBezTo>
                  <a:lnTo>
                    <a:pt x="3481493" y="3335871"/>
                  </a:lnTo>
                  <a:cubicBezTo>
                    <a:pt x="3481493" y="3430640"/>
                    <a:pt x="3404668" y="3507465"/>
                    <a:pt x="3309899" y="3507465"/>
                  </a:cubicBezTo>
                  <a:lnTo>
                    <a:pt x="474134" y="3507465"/>
                  </a:lnTo>
                  <a:lnTo>
                    <a:pt x="185140" y="3507465"/>
                  </a:lnTo>
                  <a:lnTo>
                    <a:pt x="0" y="35074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endParaRPr lang="en-US" sz="600">
                <a:solidFill>
                  <a:schemeClr val="tx1"/>
                </a:solidFill>
                <a:ea typeface="Calibri"/>
                <a:cs typeface="Calibri"/>
              </a:endParaRPr>
            </a:p>
            <a:p>
              <a:r>
                <a:rPr lang="en-US" sz="1600" b="1">
                  <a:solidFill>
                    <a:schemeClr val="tx2"/>
                  </a:solidFill>
                  <a:latin typeface="Aptos"/>
                  <a:ea typeface="Calibri"/>
                  <a:cs typeface="Calibri"/>
                </a:rPr>
                <a:t>Evolutionary Architecture:</a:t>
              </a:r>
              <a:endParaRPr lang="en-US" sz="1600" b="1">
                <a:solidFill>
                  <a:schemeClr val="tx2"/>
                </a:solidFill>
                <a:ea typeface="Calibri"/>
                <a:cs typeface="Calibri"/>
              </a:endParaRP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200">
                  <a:solidFill>
                    <a:schemeClr val="tx1"/>
                  </a:solidFill>
                  <a:ea typeface="Calibri"/>
                  <a:cs typeface="Calibri"/>
                </a:rPr>
                <a:t>Addresses robust set of Consumption Use Cases introduced in 2026 and beyond</a:t>
              </a: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200">
                  <a:solidFill>
                    <a:schemeClr val="tx1"/>
                  </a:solidFill>
                  <a:ea typeface="Calibri"/>
                  <a:cs typeface="Calibri"/>
                </a:rPr>
                <a:t>Can be applied to Ingestion as well to support 2026 Use Cases</a:t>
              </a:r>
            </a:p>
            <a:p>
              <a:endParaRPr lang="en-US" sz="1200">
                <a:solidFill>
                  <a:schemeClr val="tx1"/>
                </a:solidFill>
                <a:ea typeface="Calibri"/>
                <a:cs typeface="Calibri"/>
              </a:endParaRPr>
            </a:p>
            <a:p>
              <a:r>
                <a:rPr lang="en-US" sz="1600" b="1">
                  <a:solidFill>
                    <a:schemeClr val="tx2"/>
                  </a:solidFill>
                  <a:latin typeface="Aptos"/>
                  <a:ea typeface="Calibri"/>
                  <a:cs typeface="Calibri"/>
                </a:rPr>
                <a:t>Addresses Concerns:</a:t>
              </a:r>
              <a:endParaRPr lang="en-US" sz="1600" b="1">
                <a:solidFill>
                  <a:schemeClr val="tx2"/>
                </a:solidFill>
                <a:ea typeface="Calibri"/>
                <a:cs typeface="Calibri"/>
              </a:endParaRP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Packaged orchestration logic (pre-packaged industry-leading formats), supporting full-auditability and regression testing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Refactor existing Operators into reusable services for light and heavy execution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Multiple execution environments to optimize cost and scalability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Light and heavy paths support real-time synchronous and long-running asynchronous data requests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Existing Iceberg open data standard, stored on S3, continues to be leveraged for inbound (CDM, Nucleus bounded context, API) and outbound consumable datasets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Collibra DQ listener</a:t>
              </a: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Leverages rules defined in Collibra DQ</a:t>
              </a:r>
              <a:endParaRPr lang="en-US">
                <a:solidFill>
                  <a:schemeClr val="tx1"/>
                </a:solidFill>
                <a:ea typeface="Calibri"/>
                <a:cs typeface="Calibri"/>
              </a:endParaRP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Publishes results back to Collibra, supporting enterprise data quality framework</a:t>
              </a:r>
              <a:endParaRPr lang="en-US">
                <a:solidFill>
                  <a:schemeClr val="tx1"/>
                </a:solidFill>
                <a:ea typeface="Calibri"/>
                <a:cs typeface="Calibri"/>
              </a:endParaRPr>
            </a:p>
            <a:p>
              <a:pPr marL="742950" lvl="1" indent="-285750">
                <a:buFont typeface="Courier New,monospace"/>
                <a:buChar char="o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Execution is performed by the Orchestration Runtime in memory, allowing parallel execution with specific Spark runtimes configured by dataset size.</a:t>
              </a:r>
              <a:endParaRPr lang="en-US">
                <a:solidFill>
                  <a:schemeClr val="tx1"/>
                </a:solidFill>
                <a:ea typeface="Calibri" panose="020F0502020204030204"/>
                <a:cs typeface="Calibri" panose="020F0502020204030204"/>
              </a:endParaRP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Logging/auditing is consistent through the use of a common bus service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Reference data services, consistent through the use of a common bus service, to be leveraged by data consumers outside the Data Team.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AI capabilities, such as intelligent routing (to light or heavy implementations) leverage the same pattern as other services on the bus</a:t>
              </a:r>
            </a:p>
            <a:p>
              <a:pPr marL="285750" indent="-285750">
                <a:buAutoNum type="arabicPeriod"/>
              </a:pP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AWS </a:t>
              </a:r>
              <a:r>
                <a:rPr lang="en-US" sz="1100" err="1">
                  <a:solidFill>
                    <a:schemeClr val="tx1"/>
                  </a:solidFill>
                  <a:ea typeface="Calibri"/>
                  <a:cs typeface="Calibri"/>
                </a:rPr>
                <a:t>Eventbridge</a:t>
              </a:r>
              <a:r>
                <a:rPr lang="en-US" sz="1100">
                  <a:solidFill>
                    <a:schemeClr val="tx1"/>
                  </a:solidFill>
                  <a:ea typeface="Calibri"/>
                  <a:cs typeface="Calibri"/>
                </a:rPr>
                <a:t> is utilized as the bus implementation for vertical scalability and enterprise observability that supports separation of orchestration from individual service definition (and implementation).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41CE7B4-122D-F408-0D91-F6919509F773}"/>
                </a:ext>
              </a:extLst>
            </p:cNvPr>
            <p:cNvCxnSpPr>
              <a:cxnSpLocks/>
            </p:cNvCxnSpPr>
            <p:nvPr/>
          </p:nvCxnSpPr>
          <p:spPr>
            <a:xfrm>
              <a:off x="76185" y="2277169"/>
              <a:ext cx="290028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76E9BC-B458-280E-D007-1C27D5F37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044" y="1506795"/>
            <a:ext cx="6895314" cy="325534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DF7689E-3D6E-BA9E-1543-058AB5F713A4}"/>
              </a:ext>
            </a:extLst>
          </p:cNvPr>
          <p:cNvSpPr/>
          <p:nvPr/>
        </p:nvSpPr>
        <p:spPr>
          <a:xfrm>
            <a:off x="7891564" y="2677321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7FDCD0D9-E802-D9CC-FAFF-4B782E21F4E7}"/>
              </a:ext>
            </a:extLst>
          </p:cNvPr>
          <p:cNvSpPr/>
          <p:nvPr/>
        </p:nvSpPr>
        <p:spPr>
          <a:xfrm>
            <a:off x="9168417" y="5038974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234" name="Picture 233" descr="A white lines on a pink background&#10;&#10;AI-generated content may be incorrect.">
            <a:extLst>
              <a:ext uri="{FF2B5EF4-FFF2-40B4-BE49-F238E27FC236}">
                <a16:creationId xmlns:a16="http://schemas.microsoft.com/office/drawing/2014/main" id="{03D4806E-4D4E-8DAB-C430-024A1FA3E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8" y="3944076"/>
            <a:ext cx="194342" cy="225738"/>
          </a:xfrm>
          <a:prstGeom prst="rect">
            <a:avLst/>
          </a:prstGeom>
        </p:spPr>
      </p:pic>
      <p:pic>
        <p:nvPicPr>
          <p:cNvPr id="236" name="Picture 235" descr="A white line drawing of a diagram&#10;&#10;AI-generated content may be incorrect.">
            <a:extLst>
              <a:ext uri="{FF2B5EF4-FFF2-40B4-BE49-F238E27FC236}">
                <a16:creationId xmlns:a16="http://schemas.microsoft.com/office/drawing/2014/main" id="{E40D13FC-9C09-C269-3662-6CDC0AE59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662" y="3024396"/>
            <a:ext cx="185247" cy="226682"/>
          </a:xfrm>
          <a:prstGeom prst="rect">
            <a:avLst/>
          </a:prstGeom>
        </p:spPr>
      </p:pic>
      <p:pic>
        <p:nvPicPr>
          <p:cNvPr id="244" name="Picture 243" descr="A logo of a bucket and a magnifying glass&#10;&#10;AI-generated content may be incorrect.">
            <a:extLst>
              <a:ext uri="{FF2B5EF4-FFF2-40B4-BE49-F238E27FC236}">
                <a16:creationId xmlns:a16="http://schemas.microsoft.com/office/drawing/2014/main" id="{49BFEADE-F8A2-394E-5CF2-23AB4DE12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540" y="2720527"/>
            <a:ext cx="209037" cy="209925"/>
          </a:xfrm>
          <a:prstGeom prst="rect">
            <a:avLst/>
          </a:prstGeom>
        </p:spPr>
      </p:pic>
      <p:pic>
        <p:nvPicPr>
          <p:cNvPr id="245" name="Picture 244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975F0945-AE53-BC82-ED2E-F4CD1001D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621" y="2714557"/>
            <a:ext cx="229141" cy="222872"/>
          </a:xfrm>
          <a:prstGeom prst="rect">
            <a:avLst/>
          </a:prstGeom>
        </p:spPr>
      </p:pic>
      <p:pic>
        <p:nvPicPr>
          <p:cNvPr id="246" name="Picture 245" descr="A white line on a green background&#10;&#10;AI-generated content may be incorrect.">
            <a:extLst>
              <a:ext uri="{FF2B5EF4-FFF2-40B4-BE49-F238E27FC236}">
                <a16:creationId xmlns:a16="http://schemas.microsoft.com/office/drawing/2014/main" id="{D9F7C056-6B3E-4550-7EC0-58FCC671A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195" y="2622684"/>
            <a:ext cx="229141" cy="222872"/>
          </a:xfrm>
          <a:prstGeom prst="rect">
            <a:avLst/>
          </a:prstGeom>
        </p:spPr>
      </p:pic>
      <p:pic>
        <p:nvPicPr>
          <p:cNvPr id="248" name="Picture 247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09CFEEFE-AD9A-ACF7-770B-CD470F031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3886" y="4759282"/>
            <a:ext cx="211279" cy="212824"/>
          </a:xfrm>
          <a:prstGeom prst="rect">
            <a:avLst/>
          </a:prstGeom>
        </p:spPr>
      </p:pic>
      <p:pic>
        <p:nvPicPr>
          <p:cNvPr id="249" name="Picture 248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19E86647-909E-C3C4-C8FD-45A9FE666B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0775" y="4752602"/>
            <a:ext cx="228023" cy="224387"/>
          </a:xfrm>
          <a:prstGeom prst="rect">
            <a:avLst/>
          </a:prstGeom>
        </p:spPr>
      </p:pic>
      <p:pic>
        <p:nvPicPr>
          <p:cNvPr id="251" name="Picture 250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C4AC33AD-6F30-B16B-3C6A-CB87D5AEA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7734" y="4761575"/>
            <a:ext cx="228023" cy="224387"/>
          </a:xfrm>
          <a:prstGeom prst="rect">
            <a:avLst/>
          </a:prstGeom>
        </p:spPr>
      </p:pic>
      <p:pic>
        <p:nvPicPr>
          <p:cNvPr id="252" name="Picture 251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91BA209D-E70F-4BD9-EFFB-3BD0354D24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359" y="4754387"/>
            <a:ext cx="211279" cy="212824"/>
          </a:xfrm>
          <a:prstGeom prst="rect">
            <a:avLst/>
          </a:prstGeom>
        </p:spPr>
      </p:pic>
      <p:pic>
        <p:nvPicPr>
          <p:cNvPr id="253" name="Picture 252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256B555C-EABE-AB64-C210-7F38C8E1F5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0484" y="4766980"/>
            <a:ext cx="228023" cy="224387"/>
          </a:xfrm>
          <a:prstGeom prst="rect">
            <a:avLst/>
          </a:prstGeom>
        </p:spPr>
      </p:pic>
      <p:pic>
        <p:nvPicPr>
          <p:cNvPr id="256" name="Picture 255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A6EAACC7-4E2F-DD3F-6027-0F3F290AA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6505" y="3609452"/>
            <a:ext cx="225656" cy="221737"/>
          </a:xfrm>
          <a:prstGeom prst="rect">
            <a:avLst/>
          </a:prstGeom>
        </p:spPr>
      </p:pic>
      <p:pic>
        <p:nvPicPr>
          <p:cNvPr id="257" name="Picture 256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9385A913-7D48-2D15-A31D-4F72149E14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2160" y="3608635"/>
            <a:ext cx="208182" cy="209780"/>
          </a:xfrm>
          <a:prstGeom prst="rect">
            <a:avLst/>
          </a:prstGeom>
        </p:spPr>
      </p:pic>
      <p:pic>
        <p:nvPicPr>
          <p:cNvPr id="259" name="Picture 258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B70BE70-A35E-E9CD-0788-70A0CE2C2A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747" y="2592308"/>
            <a:ext cx="226979" cy="226114"/>
          </a:xfrm>
          <a:prstGeom prst="rect">
            <a:avLst/>
          </a:prstGeom>
        </p:spPr>
      </p:pic>
      <p:pic>
        <p:nvPicPr>
          <p:cNvPr id="260" name="Picture 259" descr="A logo of a bucket and a magnifying glass&#10;&#10;AI-generated content may be incorrect.">
            <a:extLst>
              <a:ext uri="{FF2B5EF4-FFF2-40B4-BE49-F238E27FC236}">
                <a16:creationId xmlns:a16="http://schemas.microsoft.com/office/drawing/2014/main" id="{B4EF9DB3-EFE0-EF3E-369B-D4A70D8DB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1114" y="2628654"/>
            <a:ext cx="209037" cy="209925"/>
          </a:xfrm>
          <a:prstGeom prst="rect">
            <a:avLst/>
          </a:prstGeom>
        </p:spPr>
      </p:pic>
      <p:pic>
        <p:nvPicPr>
          <p:cNvPr id="261" name="Picture 260" descr="Data Quality &amp; Observability | Collibra">
            <a:extLst>
              <a:ext uri="{FF2B5EF4-FFF2-40B4-BE49-F238E27FC236}">
                <a16:creationId xmlns:a16="http://schemas.microsoft.com/office/drawing/2014/main" id="{26E727C8-A34E-0C98-4FD2-185707C95A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3410" y="5094672"/>
            <a:ext cx="228276" cy="223737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8B02F687-0EBA-4496-C9FD-B65C95A84760}"/>
              </a:ext>
            </a:extLst>
          </p:cNvPr>
          <p:cNvSpPr txBox="1"/>
          <p:nvPr/>
        </p:nvSpPr>
        <p:spPr>
          <a:xfrm>
            <a:off x="9203195" y="5321049"/>
            <a:ext cx="74457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Collibra DQ&amp;O</a:t>
            </a:r>
          </a:p>
        </p:txBody>
      </p: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66BE0125-7BC5-5DE6-CEA2-A279269908BC}"/>
              </a:ext>
            </a:extLst>
          </p:cNvPr>
          <p:cNvCxnSpPr>
            <a:cxnSpLocks/>
          </p:cNvCxnSpPr>
          <p:nvPr/>
        </p:nvCxnSpPr>
        <p:spPr>
          <a:xfrm>
            <a:off x="9541713" y="4754852"/>
            <a:ext cx="11930" cy="33656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5BF7BCD2-F42E-589B-F3CF-53B93FA1DFF6}"/>
              </a:ext>
            </a:extLst>
          </p:cNvPr>
          <p:cNvSpPr txBox="1"/>
          <p:nvPr/>
        </p:nvSpPr>
        <p:spPr>
          <a:xfrm>
            <a:off x="9363487" y="4825591"/>
            <a:ext cx="744578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Rest API</a:t>
            </a:r>
            <a:endParaRPr lang="en-US"/>
          </a:p>
        </p:txBody>
      </p:sp>
      <p:sp>
        <p:nvSpPr>
          <p:cNvPr id="266" name="Oval 265">
            <a:extLst>
              <a:ext uri="{FF2B5EF4-FFF2-40B4-BE49-F238E27FC236}">
                <a16:creationId xmlns:a16="http://schemas.microsoft.com/office/drawing/2014/main" id="{AE41CCC8-F6C5-15B8-DBD8-4D991E536A0E}"/>
              </a:ext>
            </a:extLst>
          </p:cNvPr>
          <p:cNvSpPr/>
          <p:nvPr/>
        </p:nvSpPr>
        <p:spPr>
          <a:xfrm>
            <a:off x="7716689" y="3017788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9D403144-8ECB-C859-B21B-BC362FE714B1}"/>
              </a:ext>
            </a:extLst>
          </p:cNvPr>
          <p:cNvSpPr/>
          <p:nvPr/>
        </p:nvSpPr>
        <p:spPr>
          <a:xfrm>
            <a:off x="11139521" y="229902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289D42B9-457D-892B-3AEA-3DB3044D8B1E}"/>
              </a:ext>
            </a:extLst>
          </p:cNvPr>
          <p:cNvSpPr/>
          <p:nvPr/>
        </p:nvSpPr>
        <p:spPr>
          <a:xfrm>
            <a:off x="9374797" y="3655841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B5E926AD-1810-251C-8D5E-4B158A42D060}"/>
              </a:ext>
            </a:extLst>
          </p:cNvPr>
          <p:cNvSpPr/>
          <p:nvPr/>
        </p:nvSpPr>
        <p:spPr>
          <a:xfrm>
            <a:off x="9105197" y="3002029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D8DA04BE-50E5-77D7-2750-32F83F401A88}"/>
              </a:ext>
            </a:extLst>
          </p:cNvPr>
          <p:cNvSpPr/>
          <p:nvPr/>
        </p:nvSpPr>
        <p:spPr>
          <a:xfrm>
            <a:off x="7995591" y="5046163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71C92AD-4EB5-DF8D-66EF-F7AE06A0773E}"/>
              </a:ext>
            </a:extLst>
          </p:cNvPr>
          <p:cNvSpPr/>
          <p:nvPr/>
        </p:nvSpPr>
        <p:spPr>
          <a:xfrm>
            <a:off x="7547038" y="5038974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8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CCB48042-25A2-9D67-33CA-90B7FEDB5139}"/>
              </a:ext>
            </a:extLst>
          </p:cNvPr>
          <p:cNvSpPr/>
          <p:nvPr/>
        </p:nvSpPr>
        <p:spPr>
          <a:xfrm>
            <a:off x="8517969" y="5038974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9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2320B19D-958D-E0D5-1C77-FD83E628155D}"/>
              </a:ext>
            </a:extLst>
          </p:cNvPr>
          <p:cNvSpPr/>
          <p:nvPr/>
        </p:nvSpPr>
        <p:spPr>
          <a:xfrm>
            <a:off x="9640218" y="2634539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5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3A57D3BB-0931-6ECA-83A6-0D3C3AC0BA09}"/>
              </a:ext>
            </a:extLst>
          </p:cNvPr>
          <p:cNvSpPr/>
          <p:nvPr/>
        </p:nvSpPr>
        <p:spPr>
          <a:xfrm>
            <a:off x="7683880" y="3953179"/>
            <a:ext cx="502040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10</a:t>
            </a:r>
          </a:p>
        </p:txBody>
      </p:sp>
      <p:pic>
        <p:nvPicPr>
          <p:cNvPr id="275" name="Picture 274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F9D9A179-0269-D6E3-C5C5-06773FE4AD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4435" y="4759282"/>
            <a:ext cx="228023" cy="224387"/>
          </a:xfrm>
          <a:prstGeom prst="rect">
            <a:avLst/>
          </a:prstGeom>
        </p:spPr>
      </p:pic>
      <p:pic>
        <p:nvPicPr>
          <p:cNvPr id="276" name="Picture 275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822A8EE8-28CF-881F-A8A3-5772BF8EF5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6728" y="3613100"/>
            <a:ext cx="226979" cy="226114"/>
          </a:xfrm>
          <a:prstGeom prst="rect">
            <a:avLst/>
          </a:prstGeom>
        </p:spPr>
      </p:pic>
      <p:pic>
        <p:nvPicPr>
          <p:cNvPr id="277" name="Picture 276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A0F6E9E-5321-255E-493D-00FFC455BA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841" y="3052383"/>
            <a:ext cx="226979" cy="226114"/>
          </a:xfrm>
          <a:prstGeom prst="rect">
            <a:avLst/>
          </a:prstGeom>
        </p:spPr>
      </p:pic>
      <p:pic>
        <p:nvPicPr>
          <p:cNvPr id="278" name="Picture 277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8AC1B50A-20C8-CD85-D837-ED4FE140D8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2008" y="4255616"/>
            <a:ext cx="208182" cy="209780"/>
          </a:xfrm>
          <a:prstGeom prst="rect">
            <a:avLst/>
          </a:prstGeom>
        </p:spPr>
      </p:pic>
      <p:pic>
        <p:nvPicPr>
          <p:cNvPr id="280" name="Picture 279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EB72F8E2-9826-50C3-A2A4-DEFA863814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2199" y="3598722"/>
            <a:ext cx="226979" cy="226114"/>
          </a:xfrm>
          <a:prstGeom prst="rect">
            <a:avLst/>
          </a:prstGeom>
        </p:spPr>
      </p:pic>
      <p:pic>
        <p:nvPicPr>
          <p:cNvPr id="282" name="Picture 281" descr="apache spark Sticker">
            <a:extLst>
              <a:ext uri="{FF2B5EF4-FFF2-40B4-BE49-F238E27FC236}">
                <a16:creationId xmlns:a16="http://schemas.microsoft.com/office/drawing/2014/main" id="{A7401905-8227-EEF4-A64F-350F476751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6131" y="3615545"/>
            <a:ext cx="230757" cy="21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58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24C5-349D-56B7-6700-E4A7E76A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9D5C56-E143-AFF3-8C81-096052407280}"/>
              </a:ext>
            </a:extLst>
          </p:cNvPr>
          <p:cNvSpPr/>
          <p:nvPr/>
        </p:nvSpPr>
        <p:spPr>
          <a:xfrm>
            <a:off x="5122523" y="1146873"/>
            <a:ext cx="2655935" cy="82423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3C8760-0361-DEE6-D460-ED0AD712E859}"/>
              </a:ext>
            </a:extLst>
          </p:cNvPr>
          <p:cNvSpPr/>
          <p:nvPr/>
        </p:nvSpPr>
        <p:spPr>
          <a:xfrm>
            <a:off x="6158610" y="1146873"/>
            <a:ext cx="1619849" cy="211907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AC2E23-9E70-8A52-BD59-F4D601D3ED43}"/>
              </a:ext>
            </a:extLst>
          </p:cNvPr>
          <p:cNvSpPr/>
          <p:nvPr/>
        </p:nvSpPr>
        <p:spPr>
          <a:xfrm>
            <a:off x="6162477" y="2871455"/>
            <a:ext cx="1615981" cy="102832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92D48F-C7F6-1698-42B0-CBD451DCBA89}"/>
              </a:ext>
            </a:extLst>
          </p:cNvPr>
          <p:cNvSpPr/>
          <p:nvPr/>
        </p:nvSpPr>
        <p:spPr>
          <a:xfrm>
            <a:off x="7149744" y="3428206"/>
            <a:ext cx="1037585" cy="1521628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B3543-63ED-B26D-FDBC-BA7C8B63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78224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Lakehouse Execution Model</a:t>
            </a:r>
            <a:br>
              <a:rPr lang="en-US"/>
            </a:br>
            <a:r>
              <a:rPr lang="en-US" sz="2200"/>
              <a:t>From Request to Data Product</a:t>
            </a:r>
            <a:endParaRPr lang="en-US"/>
          </a:p>
        </p:txBody>
      </p:sp>
      <p:cxnSp>
        <p:nvCxnSpPr>
          <p:cNvPr id="60" name="Straight Arrow Connector 72">
            <a:extLst>
              <a:ext uri="{FF2B5EF4-FFF2-40B4-BE49-F238E27FC236}">
                <a16:creationId xmlns:a16="http://schemas.microsoft.com/office/drawing/2014/main" id="{CE756B3E-0CCF-E7A0-0C1B-1AE802566B32}"/>
              </a:ext>
            </a:extLst>
          </p:cNvPr>
          <p:cNvCxnSpPr>
            <a:cxnSpLocks/>
            <a:stCxn id="62" idx="0"/>
          </p:cNvCxnSpPr>
          <p:nvPr/>
        </p:nvCxnSpPr>
        <p:spPr>
          <a:xfrm rot="5400000" flipH="1" flipV="1">
            <a:off x="2199637" y="2605450"/>
            <a:ext cx="645691" cy="896914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4811A06-06B7-B7E1-5C32-398A128FCB6A}"/>
              </a:ext>
            </a:extLst>
          </p:cNvPr>
          <p:cNvCxnSpPr>
            <a:cxnSpLocks/>
          </p:cNvCxnSpPr>
          <p:nvPr/>
        </p:nvCxnSpPr>
        <p:spPr>
          <a:xfrm>
            <a:off x="3448549" y="3032051"/>
            <a:ext cx="0" cy="34136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F481D91-923E-B6A2-9B4B-437F03EF709C}"/>
              </a:ext>
            </a:extLst>
          </p:cNvPr>
          <p:cNvSpPr/>
          <p:nvPr/>
        </p:nvSpPr>
        <p:spPr>
          <a:xfrm>
            <a:off x="1448122" y="3376752"/>
            <a:ext cx="1251805" cy="60198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Consumable or Pipeline Request for Use Case Data Product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6EC9E76-896C-1604-61EB-C89DD6D361BE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2699927" y="3674406"/>
            <a:ext cx="271012" cy="33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72">
            <a:extLst>
              <a:ext uri="{FF2B5EF4-FFF2-40B4-BE49-F238E27FC236}">
                <a16:creationId xmlns:a16="http://schemas.microsoft.com/office/drawing/2014/main" id="{4DF4ABC2-9B29-285D-711D-0E88F728161A}"/>
              </a:ext>
            </a:extLst>
          </p:cNvPr>
          <p:cNvCxnSpPr>
            <a:cxnSpLocks/>
            <a:stCxn id="80" idx="0"/>
            <a:endCxn id="67" idx="2"/>
          </p:cNvCxnSpPr>
          <p:nvPr/>
        </p:nvCxnSpPr>
        <p:spPr>
          <a:xfrm flipV="1">
            <a:off x="4688916" y="2872813"/>
            <a:ext cx="6526" cy="52621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AACE72A-DB4A-0078-7C11-C0CFDBB38208}"/>
              </a:ext>
            </a:extLst>
          </p:cNvPr>
          <p:cNvSpPr/>
          <p:nvPr/>
        </p:nvSpPr>
        <p:spPr>
          <a:xfrm>
            <a:off x="4308188" y="2270833"/>
            <a:ext cx="774507" cy="60198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Airflow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Listener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7DA35A8-5A01-B41F-9C9F-CCF8FB022E09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 flipV="1">
            <a:off x="5082695" y="2570804"/>
            <a:ext cx="191346" cy="101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2BEA4D91-28E3-8255-B8FD-C7C7EBB50261}"/>
              </a:ext>
            </a:extLst>
          </p:cNvPr>
          <p:cNvSpPr/>
          <p:nvPr/>
        </p:nvSpPr>
        <p:spPr>
          <a:xfrm>
            <a:off x="5274041" y="2269814"/>
            <a:ext cx="762664" cy="60198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Execute Orchestration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16A3ED-57F4-854E-27A4-1E065BF9AA38}"/>
              </a:ext>
            </a:extLst>
          </p:cNvPr>
          <p:cNvSpPr/>
          <p:nvPr/>
        </p:nvSpPr>
        <p:spPr>
          <a:xfrm>
            <a:off x="4164645" y="424203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Reference </a:t>
            </a:r>
          </a:p>
          <a:p>
            <a:pPr algn="ctr"/>
            <a:r>
              <a:rPr lang="en-US" sz="1000">
                <a:solidFill>
                  <a:schemeClr val="bg1"/>
                </a:solidFill>
              </a:rPr>
              <a:t>Data Listener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ED16DA5-30ED-64A6-65EA-F9AC37DC46DB}"/>
              </a:ext>
            </a:extLst>
          </p:cNvPr>
          <p:cNvCxnSpPr>
            <a:cxnSpLocks/>
            <a:stCxn id="81" idx="4"/>
            <a:endCxn id="70" idx="0"/>
          </p:cNvCxnSpPr>
          <p:nvPr/>
        </p:nvCxnSpPr>
        <p:spPr>
          <a:xfrm flipH="1">
            <a:off x="4570274" y="3932234"/>
            <a:ext cx="69" cy="30979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39DEF8A-19E5-CF7D-849A-7E3B3C05ED94}"/>
              </a:ext>
            </a:extLst>
          </p:cNvPr>
          <p:cNvGrpSpPr/>
          <p:nvPr/>
        </p:nvGrpSpPr>
        <p:grpSpPr>
          <a:xfrm>
            <a:off x="5195053" y="1404302"/>
            <a:ext cx="893649" cy="499531"/>
            <a:chOff x="7076910" y="2836138"/>
            <a:chExt cx="1013225" cy="47380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EE18588-DC27-E324-AB6D-DD2F720A5608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52AA7EB-7F6C-1571-42AF-C2B78E0F4BF9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05CAAF0-5F2B-5285-1C90-07F5803AB781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cxnSp>
        <p:nvCxnSpPr>
          <p:cNvPr id="76" name="Straight Arrow Connector 72">
            <a:extLst>
              <a:ext uri="{FF2B5EF4-FFF2-40B4-BE49-F238E27FC236}">
                <a16:creationId xmlns:a16="http://schemas.microsoft.com/office/drawing/2014/main" id="{0BDE0B91-B9E4-88D0-2C11-F0D658FEB378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9194539" y="2564017"/>
            <a:ext cx="121905" cy="3571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48D36FA-274C-47D4-AE32-12F12903E015}"/>
              </a:ext>
            </a:extLst>
          </p:cNvPr>
          <p:cNvCxnSpPr>
            <a:cxnSpLocks/>
            <a:stCxn id="82" idx="4"/>
            <a:endCxn id="79" idx="0"/>
          </p:cNvCxnSpPr>
          <p:nvPr/>
        </p:nvCxnSpPr>
        <p:spPr>
          <a:xfrm flipH="1">
            <a:off x="5528152" y="3932234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E903B83-B3AD-6CBE-E1BD-E247F49EA1A4}"/>
              </a:ext>
            </a:extLst>
          </p:cNvPr>
          <p:cNvSpPr/>
          <p:nvPr/>
        </p:nvSpPr>
        <p:spPr>
          <a:xfrm>
            <a:off x="5122523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Transaction Log / Audit Trail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D2FC2D0-F223-94A6-EAF9-B2A1F534ADB3}"/>
              </a:ext>
            </a:extLst>
          </p:cNvPr>
          <p:cNvSpPr/>
          <p:nvPr/>
        </p:nvSpPr>
        <p:spPr>
          <a:xfrm>
            <a:off x="4629922" y="3399023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ACAAE25-AB7E-B7E0-2144-7859D7E547CB}"/>
              </a:ext>
            </a:extLst>
          </p:cNvPr>
          <p:cNvSpPr/>
          <p:nvPr/>
        </p:nvSpPr>
        <p:spPr>
          <a:xfrm>
            <a:off x="4511349" y="381378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B19FEAA-8BCC-13BB-AC9F-6A37F2E67594}"/>
              </a:ext>
            </a:extLst>
          </p:cNvPr>
          <p:cNvSpPr/>
          <p:nvPr/>
        </p:nvSpPr>
        <p:spPr>
          <a:xfrm>
            <a:off x="5475275" y="381378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83EE189-0AFE-F5F0-C4D0-2B46201AC3A5}"/>
              </a:ext>
            </a:extLst>
          </p:cNvPr>
          <p:cNvSpPr/>
          <p:nvPr/>
        </p:nvSpPr>
        <p:spPr>
          <a:xfrm>
            <a:off x="7121700" y="2440216"/>
            <a:ext cx="596238" cy="4312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10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EB46042-0407-A88D-5E50-71969B813A9A}"/>
              </a:ext>
            </a:extLst>
          </p:cNvPr>
          <p:cNvSpPr/>
          <p:nvPr/>
        </p:nvSpPr>
        <p:spPr>
          <a:xfrm>
            <a:off x="11133023" y="3369503"/>
            <a:ext cx="734707" cy="60198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Consumer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081FCB2-CE20-55E0-5189-BB3A4E9B6FB5}"/>
              </a:ext>
            </a:extLst>
          </p:cNvPr>
          <p:cNvSpPr/>
          <p:nvPr/>
        </p:nvSpPr>
        <p:spPr>
          <a:xfrm>
            <a:off x="9316444" y="2266598"/>
            <a:ext cx="526470" cy="59483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Post Result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205FF1E-E808-A7F5-6DC2-B44637997F1B}"/>
              </a:ext>
            </a:extLst>
          </p:cNvPr>
          <p:cNvSpPr/>
          <p:nvPr/>
        </p:nvSpPr>
        <p:spPr>
          <a:xfrm>
            <a:off x="9520685" y="3413950"/>
            <a:ext cx="117987" cy="11845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72">
            <a:extLst>
              <a:ext uri="{FF2B5EF4-FFF2-40B4-BE49-F238E27FC236}">
                <a16:creationId xmlns:a16="http://schemas.microsoft.com/office/drawing/2014/main" id="{F2B86943-1F5F-68AE-B7E4-56B83BF71BBE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9579679" y="2861435"/>
            <a:ext cx="0" cy="55251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72">
            <a:extLst>
              <a:ext uri="{FF2B5EF4-FFF2-40B4-BE49-F238E27FC236}">
                <a16:creationId xmlns:a16="http://schemas.microsoft.com/office/drawing/2014/main" id="{86E00AFE-3C41-37E3-E1FF-F3D1A55283F0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9326790" y="1877133"/>
            <a:ext cx="2173587" cy="1492370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D129E710-6B7D-F79D-7063-D348448CDDC0}"/>
              </a:ext>
            </a:extLst>
          </p:cNvPr>
          <p:cNvSpPr/>
          <p:nvPr/>
        </p:nvSpPr>
        <p:spPr>
          <a:xfrm>
            <a:off x="10276793" y="3374436"/>
            <a:ext cx="526470" cy="594837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50000"/>
                  </a:schemeClr>
                </a:solidFill>
              </a:rPr>
              <a:t>Result Listener</a:t>
            </a:r>
          </a:p>
        </p:txBody>
      </p:sp>
      <p:cxnSp>
        <p:nvCxnSpPr>
          <p:cNvPr id="94" name="Straight Arrow Connector 72">
            <a:extLst>
              <a:ext uri="{FF2B5EF4-FFF2-40B4-BE49-F238E27FC236}">
                <a16:creationId xmlns:a16="http://schemas.microsoft.com/office/drawing/2014/main" id="{7B18CB4A-E4EA-6E60-82A0-77C72A7162F7}"/>
              </a:ext>
            </a:extLst>
          </p:cNvPr>
          <p:cNvCxnSpPr>
            <a:cxnSpLocks/>
            <a:stCxn id="93" idx="3"/>
            <a:endCxn id="86" idx="1"/>
          </p:cNvCxnSpPr>
          <p:nvPr/>
        </p:nvCxnSpPr>
        <p:spPr>
          <a:xfrm flipV="1">
            <a:off x="10803263" y="3670493"/>
            <a:ext cx="329760" cy="1362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1195958-E051-2B97-4EF2-F7C471F1AD76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5655373" y="2871794"/>
            <a:ext cx="0" cy="52159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ylinder 96">
            <a:extLst>
              <a:ext uri="{FF2B5EF4-FFF2-40B4-BE49-F238E27FC236}">
                <a16:creationId xmlns:a16="http://schemas.microsoft.com/office/drawing/2014/main" id="{36C44A5F-C298-1F4C-C92B-104E110E32BA}"/>
              </a:ext>
            </a:extLst>
          </p:cNvPr>
          <p:cNvSpPr/>
          <p:nvPr/>
        </p:nvSpPr>
        <p:spPr>
          <a:xfrm>
            <a:off x="6624220" y="1223019"/>
            <a:ext cx="707896" cy="348043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CDMs / Source/ Target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2DC4023-F8E8-14D9-BBBD-39DEA59A97A4}"/>
              </a:ext>
            </a:extLst>
          </p:cNvPr>
          <p:cNvSpPr/>
          <p:nvPr/>
        </p:nvSpPr>
        <p:spPr>
          <a:xfrm>
            <a:off x="6228052" y="2441574"/>
            <a:ext cx="893648" cy="43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Light or Heavy Implementation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5788331-C35D-F97E-112B-B20B485DC18B}"/>
              </a:ext>
            </a:extLst>
          </p:cNvPr>
          <p:cNvCxnSpPr>
            <a:cxnSpLocks/>
            <a:stCxn id="98" idx="2"/>
          </p:cNvCxnSpPr>
          <p:nvPr/>
        </p:nvCxnSpPr>
        <p:spPr>
          <a:xfrm>
            <a:off x="6674876" y="2872814"/>
            <a:ext cx="6526" cy="552515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62D5EA2-04C0-1D96-31D3-CA79D4EC9035}"/>
              </a:ext>
            </a:extLst>
          </p:cNvPr>
          <p:cNvCxnSpPr>
            <a:cxnSpLocks/>
            <a:stCxn id="111" idx="0"/>
            <a:endCxn id="97" idx="3"/>
          </p:cNvCxnSpPr>
          <p:nvPr/>
        </p:nvCxnSpPr>
        <p:spPr>
          <a:xfrm flipV="1">
            <a:off x="6978168" y="1571062"/>
            <a:ext cx="0" cy="6955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72">
            <a:extLst>
              <a:ext uri="{FF2B5EF4-FFF2-40B4-BE49-F238E27FC236}">
                <a16:creationId xmlns:a16="http://schemas.microsoft.com/office/drawing/2014/main" id="{7AA9EBBB-D12B-F3C0-51BD-C56B841D27CC}"/>
              </a:ext>
            </a:extLst>
          </p:cNvPr>
          <p:cNvCxnSpPr>
            <a:cxnSpLocks/>
          </p:cNvCxnSpPr>
          <p:nvPr/>
        </p:nvCxnSpPr>
        <p:spPr>
          <a:xfrm>
            <a:off x="6088704" y="1707339"/>
            <a:ext cx="373524" cy="559259"/>
          </a:xfrm>
          <a:prstGeom prst="bentConnector2">
            <a:avLst/>
          </a:prstGeom>
          <a:ln>
            <a:solidFill>
              <a:schemeClr val="accent6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9CB9952-9C61-9349-0E14-F43EBE890AB0}"/>
              </a:ext>
            </a:extLst>
          </p:cNvPr>
          <p:cNvSpPr/>
          <p:nvPr/>
        </p:nvSpPr>
        <p:spPr>
          <a:xfrm>
            <a:off x="6181198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AI Listener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BA60E88-AEAF-816E-E2D3-963D4BE0BCFD}"/>
              </a:ext>
            </a:extLst>
          </p:cNvPr>
          <p:cNvCxnSpPr>
            <a:cxnSpLocks/>
          </p:cNvCxnSpPr>
          <p:nvPr/>
        </p:nvCxnSpPr>
        <p:spPr>
          <a:xfrm flipH="1">
            <a:off x="6586827" y="3945906"/>
            <a:ext cx="6117" cy="323867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612D1B1-2963-763E-5CE6-E39699CE455F}"/>
              </a:ext>
            </a:extLst>
          </p:cNvPr>
          <p:cNvSpPr/>
          <p:nvPr/>
        </p:nvSpPr>
        <p:spPr>
          <a:xfrm>
            <a:off x="7250479" y="425610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Collibra Listener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CB0E136-9593-2545-F4FC-4291BE0E2F35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7656107" y="3921512"/>
            <a:ext cx="1" cy="33458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6E546FE-9B8F-7E20-AA69-BA03317A61F3}"/>
              </a:ext>
            </a:extLst>
          </p:cNvPr>
          <p:cNvSpPr txBox="1"/>
          <p:nvPr/>
        </p:nvSpPr>
        <p:spPr>
          <a:xfrm>
            <a:off x="10125878" y="1701641"/>
            <a:ext cx="10118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chemeClr val="accent6">
                    <a:lumMod val="50000"/>
                  </a:schemeClr>
                </a:solidFill>
              </a:rPr>
              <a:t>Heavy Only Payload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BB8B789-3AF4-E2F9-991D-2CAEBBC81A7C}"/>
              </a:ext>
            </a:extLst>
          </p:cNvPr>
          <p:cNvSpPr/>
          <p:nvPr/>
        </p:nvSpPr>
        <p:spPr>
          <a:xfrm>
            <a:off x="6940393" y="2268120"/>
            <a:ext cx="132251" cy="141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724248F-E328-2D46-4849-72A4FBDE43CB}"/>
              </a:ext>
            </a:extLst>
          </p:cNvPr>
          <p:cNvSpPr/>
          <p:nvPr/>
        </p:nvSpPr>
        <p:spPr>
          <a:xfrm>
            <a:off x="6225656" y="2262362"/>
            <a:ext cx="1504364" cy="18851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D92D64E-860F-5F55-64E9-A2969A01FB3E}"/>
              </a:ext>
            </a:extLst>
          </p:cNvPr>
          <p:cNvSpPr/>
          <p:nvPr/>
        </p:nvSpPr>
        <p:spPr>
          <a:xfrm>
            <a:off x="7468368" y="2270498"/>
            <a:ext cx="4571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B168286-1DA1-3497-49A3-675C0158E174}"/>
              </a:ext>
            </a:extLst>
          </p:cNvPr>
          <p:cNvSpPr/>
          <p:nvPr/>
        </p:nvSpPr>
        <p:spPr>
          <a:xfrm>
            <a:off x="6228052" y="2266598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49F9D85-5550-FF67-41A9-E2C4AF4735DC}"/>
              </a:ext>
            </a:extLst>
          </p:cNvPr>
          <p:cNvSpPr/>
          <p:nvPr/>
        </p:nvSpPr>
        <p:spPr>
          <a:xfrm>
            <a:off x="3982888" y="3425329"/>
            <a:ext cx="4402727" cy="499531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10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D811D1-56B8-20AB-FFEE-C2C38A228C96}"/>
              </a:ext>
            </a:extLst>
          </p:cNvPr>
          <p:cNvSpPr/>
          <p:nvPr/>
        </p:nvSpPr>
        <p:spPr>
          <a:xfrm>
            <a:off x="-7448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</a:rPr>
              <a:t>Engine-Agnostic Execution: One Pattern, Any Runtime</a:t>
            </a:r>
            <a:endParaRPr lang="en-US" sz="1200" b="1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Governed Orchestration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API request triggers governed orchestration, which composes reusable services from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Data Loaded Once</a:t>
            </a:r>
            <a:br>
              <a:rPr lang="en-US" sz="1200">
                <a:solidFill>
                  <a:srgbClr val="002060"/>
                </a:solidFill>
                <a:latin typeface="Consolas" panose="020B0609020204030204" pitchFamily="49" charset="0"/>
              </a:rPr>
            </a:br>
            <a:r>
              <a:rPr lang="en-US" sz="1050" err="1">
                <a:solidFill>
                  <a:srgbClr val="002060"/>
                </a:solidFill>
                <a:latin typeface="Consolas" panose="020B0609020204030204" pitchFamily="49" charset="0"/>
              </a:rPr>
              <a:t>RuntimeFrame</a:t>
            </a:r>
            <a:r>
              <a:rPr lang="en-US" sz="1100">
                <a:solidFill>
                  <a:srgbClr val="002060"/>
                </a:solidFill>
              </a:rPr>
              <a:t> loads data by defined shape (CDM / Datamart / Export)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Composable service implementations</a:t>
            </a:r>
            <a:br>
              <a:rPr lang="en-US" sz="1400" b="1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Transformers apply business logic once, supporting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Light – Returns result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Heavy -  Returns pointer to service instance ID, which will be used to: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Check status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Retrieve data via S3 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Supports multiple data shapes 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(Flat for analytics &amp; external systems / Nested for APIs &amp; AI)</a:t>
            </a:r>
            <a:endParaRPr lang="en-US" sz="14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Event Bus publishes execution events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for enrichment and governance</a:t>
            </a:r>
            <a:endParaRPr lang="en-US" sz="12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Enables virtualized CDMs</a:t>
            </a:r>
            <a:br>
              <a:rPr lang="en-US" sz="14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without duplicating pipelines</a:t>
            </a:r>
            <a:endParaRPr lang="en-US" sz="1400">
              <a:solidFill>
                <a:srgbClr val="002060"/>
              </a:solidFill>
            </a:endParaRPr>
          </a:p>
          <a:p>
            <a:pPr marL="169863" indent="-169863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2060"/>
                </a:solidFill>
              </a:rPr>
              <a:t>Supports n</a:t>
            </a:r>
            <a:r>
              <a:rPr lang="en-US" sz="1400" b="1">
                <a:solidFill>
                  <a:schemeClr val="accent6">
                    <a:lumMod val="10000"/>
                  </a:schemeClr>
                </a:solidFill>
              </a:rPr>
              <a:t>ested and chained orchestration</a:t>
            </a:r>
            <a:endParaRPr lang="en-US" sz="1400" b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2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C7521BB-3E12-BC23-5522-C561A1807FE7}"/>
              </a:ext>
            </a:extLst>
          </p:cNvPr>
          <p:cNvSpPr/>
          <p:nvPr/>
        </p:nvSpPr>
        <p:spPr>
          <a:xfrm>
            <a:off x="8711674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endParaRPr lang="en-US" sz="11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rgbClr val="002060"/>
              </a:solidFill>
            </a:endParaRPr>
          </a:p>
          <a:p>
            <a:r>
              <a:rPr lang="en-US" sz="2000" b="1">
                <a:solidFill>
                  <a:schemeClr val="tx2"/>
                </a:solidFill>
              </a:rPr>
              <a:t>Enterprise Data Quality</a:t>
            </a:r>
          </a:p>
          <a:p>
            <a:r>
              <a:rPr lang="en-US" sz="1400">
                <a:solidFill>
                  <a:srgbClr val="002060"/>
                </a:solidFill>
              </a:rPr>
              <a:t>Integrated, not bolted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Retrieves Parameterized DQ Rules from Collibra DQ&amp;O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Executes in-memory within </a:t>
            </a:r>
            <a:r>
              <a:rPr lang="en-US" sz="1200" err="1">
                <a:solidFill>
                  <a:srgbClr val="002060"/>
                </a:solidFill>
                <a:latin typeface="Consolas" panose="020B0609020204030204" pitchFamily="49" charset="0"/>
              </a:rPr>
              <a:t>RuntimeFrame</a:t>
            </a:r>
            <a:r>
              <a:rPr lang="en-US" sz="1200">
                <a:solidFill>
                  <a:srgbClr val="002060"/>
                </a:solidFill>
              </a:rPr>
              <a:t>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Publishes results back to Collibra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2060"/>
                </a:solidFill>
              </a:rPr>
              <a:t>Converts Collibra into a true centralized rules library</a:t>
            </a:r>
          </a:p>
          <a:p>
            <a:endParaRPr lang="en-US" sz="700">
              <a:solidFill>
                <a:srgbClr val="002060"/>
              </a:solidFill>
            </a:endParaRPr>
          </a:p>
          <a:p>
            <a:r>
              <a:rPr lang="en-US" sz="1200">
                <a:solidFill>
                  <a:srgbClr val="002060"/>
                </a:solidFill>
              </a:rPr>
              <a:t>Strengths:  governance + runtime enforcement</a:t>
            </a:r>
          </a:p>
          <a:p>
            <a:r>
              <a:rPr lang="en-US" sz="1200">
                <a:solidFill>
                  <a:srgbClr val="002060"/>
                </a:solidFill>
              </a:rPr>
              <a:t>Eliminates: siloed validation layers</a:t>
            </a:r>
          </a:p>
        </p:txBody>
      </p:sp>
    </p:spTree>
    <p:extLst>
      <p:ext uri="{BB962C8B-B14F-4D97-AF65-F5344CB8AC3E}">
        <p14:creationId xmlns:p14="http://schemas.microsoft.com/office/powerpoint/2010/main" val="561352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C7241-1719-3595-EDF6-982AE701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B4F1-5BDE-4395-FE74-37B50E3D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Engine-Agnostic Execution: One Pattern, Any Runtime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85B249-AE40-BF5D-4D04-6AC26D01969F}"/>
              </a:ext>
            </a:extLst>
          </p:cNvPr>
          <p:cNvSpPr/>
          <p:nvPr/>
        </p:nvSpPr>
        <p:spPr>
          <a:xfrm>
            <a:off x="4604548" y="4819169"/>
            <a:ext cx="3587267" cy="499531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100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0A3C3F-3BE5-7DFF-A5D8-E4CFD3E80EB0}"/>
              </a:ext>
            </a:extLst>
          </p:cNvPr>
          <p:cNvGrpSpPr/>
          <p:nvPr/>
        </p:nvGrpSpPr>
        <p:grpSpPr>
          <a:xfrm>
            <a:off x="4604548" y="2217781"/>
            <a:ext cx="893649" cy="499531"/>
            <a:chOff x="7076910" y="2836138"/>
            <a:chExt cx="1013225" cy="473803"/>
          </a:xfrm>
          <a:solidFill>
            <a:schemeClr val="tx2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0A2E7D-85BD-B88D-CC4A-7148A598AC15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7EE407-7F29-57F1-14DC-B23D9C04EA57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48EB4A-B1B4-AD88-6D9E-9957E434EA52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FD182B4-181F-5FBA-06E7-09DA393CE892}"/>
              </a:ext>
            </a:extLst>
          </p:cNvPr>
          <p:cNvSpPr/>
          <p:nvPr/>
        </p:nvSpPr>
        <p:spPr>
          <a:xfrm>
            <a:off x="7536544" y="5649941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Collibra Listener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CB4D-2BF1-DD39-148E-CAE2658BB892}"/>
              </a:ext>
            </a:extLst>
          </p:cNvPr>
          <p:cNvSpPr/>
          <p:nvPr/>
        </p:nvSpPr>
        <p:spPr>
          <a:xfrm>
            <a:off x="4665299" y="3827292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E36FC-97A8-F094-8647-CF594F4B593B}"/>
              </a:ext>
            </a:extLst>
          </p:cNvPr>
          <p:cNvSpPr/>
          <p:nvPr/>
        </p:nvSpPr>
        <p:spPr>
          <a:xfrm>
            <a:off x="5566522" y="4009382"/>
            <a:ext cx="596238" cy="4312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Runtime </a:t>
            </a:r>
            <a:r>
              <a:rPr lang="en-US" sz="10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10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40D48-9EC6-3B77-A26E-1F0364CD2682}"/>
              </a:ext>
            </a:extLst>
          </p:cNvPr>
          <p:cNvSpPr/>
          <p:nvPr/>
        </p:nvSpPr>
        <p:spPr>
          <a:xfrm>
            <a:off x="4672874" y="4010740"/>
            <a:ext cx="893648" cy="43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Light or Heavy Implementation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8B31132-86F5-9BCD-85E8-900B3A339412}"/>
              </a:ext>
            </a:extLst>
          </p:cNvPr>
          <p:cNvSpPr/>
          <p:nvPr/>
        </p:nvSpPr>
        <p:spPr>
          <a:xfrm>
            <a:off x="5385215" y="3837286"/>
            <a:ext cx="132251" cy="141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3D91ED-7FFD-22FD-39AC-CE71426EB9C3}"/>
              </a:ext>
            </a:extLst>
          </p:cNvPr>
          <p:cNvSpPr/>
          <p:nvPr/>
        </p:nvSpPr>
        <p:spPr>
          <a:xfrm>
            <a:off x="4670478" y="3831528"/>
            <a:ext cx="1504364" cy="18851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F49948-8F51-2ED2-5E59-E25BFBAD3C7A}"/>
              </a:ext>
            </a:extLst>
          </p:cNvPr>
          <p:cNvSpPr/>
          <p:nvPr/>
        </p:nvSpPr>
        <p:spPr>
          <a:xfrm>
            <a:off x="5913190" y="3839664"/>
            <a:ext cx="4571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BFE03-38CC-03F4-1E2A-E976FFD1D419}"/>
              </a:ext>
            </a:extLst>
          </p:cNvPr>
          <p:cNvSpPr/>
          <p:nvPr/>
        </p:nvSpPr>
        <p:spPr>
          <a:xfrm>
            <a:off x="4672874" y="3835764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ECF1E0-96F7-052C-558B-8077A9037886}"/>
              </a:ext>
            </a:extLst>
          </p:cNvPr>
          <p:cNvCxnSpPr>
            <a:cxnSpLocks/>
          </p:cNvCxnSpPr>
          <p:nvPr/>
        </p:nvCxnSpPr>
        <p:spPr>
          <a:xfrm>
            <a:off x="5112123" y="4433508"/>
            <a:ext cx="0" cy="36576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9804A9-3808-F0D6-1F46-6C731F296896}"/>
              </a:ext>
            </a:extLst>
          </p:cNvPr>
          <p:cNvCxnSpPr>
            <a:cxnSpLocks/>
          </p:cNvCxnSpPr>
          <p:nvPr/>
        </p:nvCxnSpPr>
        <p:spPr>
          <a:xfrm>
            <a:off x="7942172" y="5315352"/>
            <a:ext cx="1" cy="33458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E319D98-0DEC-F4F1-CFAD-1C2E5FB0C3B9}"/>
              </a:ext>
            </a:extLst>
          </p:cNvPr>
          <p:cNvSpPr/>
          <p:nvPr/>
        </p:nvSpPr>
        <p:spPr>
          <a:xfrm>
            <a:off x="6388853" y="1108215"/>
            <a:ext cx="2149353" cy="8226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RuntimeFrame</a:t>
            </a:r>
            <a:endParaRPr lang="en-US" sz="500"/>
          </a:p>
          <a:p>
            <a:r>
              <a:rPr lang="en-US" sz="800"/>
              <a:t>Engine: Spark | Pandas | Polars</a:t>
            </a:r>
          </a:p>
          <a:p>
            <a:r>
              <a:rPr lang="en-US" sz="800"/>
              <a:t>Shape: Flat | Nested</a:t>
            </a:r>
          </a:p>
          <a:p>
            <a:endParaRPr lang="en-US" sz="800"/>
          </a:p>
          <a:p>
            <a:r>
              <a:rPr lang="en-US" sz="800"/>
              <a:t>Adapter Layer:</a:t>
            </a:r>
          </a:p>
          <a:p>
            <a:r>
              <a:rPr lang="en-US" sz="800" err="1"/>
              <a:t>AdapterSpark</a:t>
            </a:r>
            <a:r>
              <a:rPr lang="en-US" sz="800"/>
              <a:t> / </a:t>
            </a:r>
            <a:r>
              <a:rPr lang="en-US" sz="800" err="1"/>
              <a:t>AdapterPandas</a:t>
            </a:r>
            <a:r>
              <a:rPr lang="en-US" sz="800"/>
              <a:t> / </a:t>
            </a:r>
            <a:r>
              <a:rPr lang="en-US" sz="800" err="1"/>
              <a:t>AdapterPolars</a:t>
            </a:r>
            <a:endParaRPr lang="en-US" sz="800"/>
          </a:p>
          <a:p>
            <a:pPr algn="ctr"/>
            <a:endParaRPr lang="en-US" sz="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0B28FC-EB9D-7C99-B39E-2C0B128D34F1}"/>
              </a:ext>
            </a:extLst>
          </p:cNvPr>
          <p:cNvSpPr/>
          <p:nvPr/>
        </p:nvSpPr>
        <p:spPr>
          <a:xfrm>
            <a:off x="6385048" y="2088249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nb-NO" sz="500"/>
              <a:t>FilterTransformer</a:t>
            </a:r>
          </a:p>
          <a:p>
            <a:r>
              <a:rPr lang="nb-NO" sz="800"/>
              <a:t>(Predicate Pushdown / Nested Filtering)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EAB1C0-43E5-5753-22AF-47915E1FA31E}"/>
              </a:ext>
            </a:extLst>
          </p:cNvPr>
          <p:cNvSpPr/>
          <p:nvPr/>
        </p:nvSpPr>
        <p:spPr>
          <a:xfrm>
            <a:off x="6385048" y="2623467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DQTransformer</a:t>
            </a:r>
            <a:endParaRPr lang="en-US" sz="500"/>
          </a:p>
          <a:p>
            <a:r>
              <a:rPr lang="en-US" sz="800"/>
              <a:t>(Rules, </a:t>
            </a:r>
            <a:r>
              <a:rPr lang="en-US" sz="800" err="1"/>
              <a:t>Explode→Validate→Re-Nest</a:t>
            </a:r>
            <a:r>
              <a:rPr lang="en-US" sz="800"/>
              <a:t>, Audit)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D0CA10-8B4D-8B5D-F43F-236BCA660D79}"/>
              </a:ext>
            </a:extLst>
          </p:cNvPr>
          <p:cNvSpPr/>
          <p:nvPr/>
        </p:nvSpPr>
        <p:spPr>
          <a:xfrm>
            <a:off x="6385048" y="3158685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AggregateTransformer</a:t>
            </a:r>
            <a:endParaRPr lang="en-US" sz="500"/>
          </a:p>
          <a:p>
            <a:r>
              <a:rPr lang="en-US" sz="800"/>
              <a:t>(Group / Rollup / Nested Aggregation)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95AFCA-53D8-2FCF-6D21-DA79C2F39CFD}"/>
              </a:ext>
            </a:extLst>
          </p:cNvPr>
          <p:cNvSpPr/>
          <p:nvPr/>
        </p:nvSpPr>
        <p:spPr>
          <a:xfrm>
            <a:off x="6404894" y="3693904"/>
            <a:ext cx="2117270" cy="822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FinalRuntimeFrame</a:t>
            </a:r>
            <a:endParaRPr lang="en-US" sz="500"/>
          </a:p>
          <a:p>
            <a:r>
              <a:rPr lang="en-US" sz="800"/>
              <a:t>Flat Output: BI / SQL / Analytics</a:t>
            </a:r>
          </a:p>
          <a:p>
            <a:r>
              <a:rPr lang="en-US" sz="800"/>
              <a:t>Nested Output: API / Event / AI Payloads</a:t>
            </a:r>
          </a:p>
          <a:p>
            <a:endParaRPr lang="en-US" sz="800"/>
          </a:p>
          <a:p>
            <a:r>
              <a:rPr lang="en-US" sz="800"/>
              <a:t>Audit &amp; Lineage: Status / Counts / DQ Results</a:t>
            </a:r>
          </a:p>
          <a:p>
            <a:pPr algn="ctr"/>
            <a:endParaRPr lang="en-US" sz="80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428B9676-3802-7124-EDEB-B62D069EF9B7}"/>
              </a:ext>
            </a:extLst>
          </p:cNvPr>
          <p:cNvSpPr/>
          <p:nvPr/>
        </p:nvSpPr>
        <p:spPr>
          <a:xfrm>
            <a:off x="5239066" y="2792985"/>
            <a:ext cx="707896" cy="348043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CDMs / Source/ Target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E8D4B9-705D-06B2-EC76-C2958F97201D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5593014" y="3141028"/>
            <a:ext cx="0" cy="6955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CB24E3-4D2C-7131-C787-06F437C038BB}"/>
              </a:ext>
            </a:extLst>
          </p:cNvPr>
          <p:cNvCxnSpPr>
            <a:cxnSpLocks/>
          </p:cNvCxnSpPr>
          <p:nvPr/>
        </p:nvCxnSpPr>
        <p:spPr>
          <a:xfrm flipV="1">
            <a:off x="5112123" y="2723890"/>
            <a:ext cx="0" cy="109728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67FFC26B-501D-8902-813A-6F4ED5568A1A}"/>
              </a:ext>
            </a:extLst>
          </p:cNvPr>
          <p:cNvSpPr/>
          <p:nvPr/>
        </p:nvSpPr>
        <p:spPr>
          <a:xfrm rot="17856258">
            <a:off x="5425145" y="2000296"/>
            <a:ext cx="1289732" cy="2185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/>
              <a:t>Reads Data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28EE30BA-99CC-4964-D5BB-1BB86D64A50E}"/>
              </a:ext>
            </a:extLst>
          </p:cNvPr>
          <p:cNvSpPr/>
          <p:nvPr/>
        </p:nvSpPr>
        <p:spPr>
          <a:xfrm>
            <a:off x="7343922" y="1895036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46B76F8C-E472-69E9-A9AD-07A1614455B0}"/>
              </a:ext>
            </a:extLst>
          </p:cNvPr>
          <p:cNvSpPr/>
          <p:nvPr/>
        </p:nvSpPr>
        <p:spPr>
          <a:xfrm>
            <a:off x="7343922" y="2443298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36258C9B-205D-AFBB-1D91-ECD0FF12594C}"/>
              </a:ext>
            </a:extLst>
          </p:cNvPr>
          <p:cNvSpPr/>
          <p:nvPr/>
        </p:nvSpPr>
        <p:spPr>
          <a:xfrm>
            <a:off x="7343922" y="2978583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030CF3E2-FA08-0D3A-9D8D-E584F817C715}"/>
              </a:ext>
            </a:extLst>
          </p:cNvPr>
          <p:cNvSpPr/>
          <p:nvPr/>
        </p:nvSpPr>
        <p:spPr>
          <a:xfrm>
            <a:off x="7343922" y="3500508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FF2163B9-CA94-804E-7757-CC542BE34CAD}"/>
              </a:ext>
            </a:extLst>
          </p:cNvPr>
          <p:cNvSpPr/>
          <p:nvPr/>
        </p:nvSpPr>
        <p:spPr>
          <a:xfrm rot="13285793" flipV="1">
            <a:off x="5735816" y="3345316"/>
            <a:ext cx="769589" cy="2185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/>
              <a:t>Writes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F595D0-A362-D160-EB39-3F83C2F09A48}"/>
              </a:ext>
            </a:extLst>
          </p:cNvPr>
          <p:cNvSpPr txBox="1"/>
          <p:nvPr/>
        </p:nvSpPr>
        <p:spPr>
          <a:xfrm>
            <a:off x="4358491" y="6363250"/>
            <a:ext cx="444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Write business logic once.  Runtime decides how and where it executes.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06F20B-36D2-66A0-BCD2-0D45FDDE4BA1}"/>
              </a:ext>
            </a:extLst>
          </p:cNvPr>
          <p:cNvSpPr/>
          <p:nvPr/>
        </p:nvSpPr>
        <p:spPr>
          <a:xfrm>
            <a:off x="8684298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>
              <a:defRPr sz="1200"/>
            </a:pPr>
            <a:r>
              <a:rPr lang="en-US" sz="1600" b="1">
                <a:solidFill>
                  <a:schemeClr val="tx2"/>
                </a:solidFill>
              </a:rPr>
              <a:t>Core Architectural Components</a:t>
            </a:r>
            <a:endParaRPr lang="en-US" sz="1600"/>
          </a:p>
          <a:p>
            <a:r>
              <a:rPr lang="en-US" sz="1200" b="1" err="1">
                <a:solidFill>
                  <a:srgbClr val="002060"/>
                </a:solidFill>
              </a:rPr>
              <a:t>RuntimeFrame</a:t>
            </a:r>
            <a:endParaRPr lang="en-US" sz="1200" b="1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Wraps Spark or Pandas in-memory </a:t>
            </a:r>
            <a:r>
              <a:rPr lang="en-US" sz="1050" err="1">
                <a:solidFill>
                  <a:srgbClr val="002060"/>
                </a:solidFill>
              </a:rPr>
              <a:t>DataFrame</a:t>
            </a:r>
            <a:endParaRPr lang="en-US" sz="105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Provides consistent execution contract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Encapsulates data “shape” (Flat or Nested)</a:t>
            </a:r>
          </a:p>
          <a:p>
            <a:endParaRPr lang="en-US" sz="1200">
              <a:solidFill>
                <a:srgbClr val="002060"/>
              </a:solidFill>
            </a:endParaRPr>
          </a:p>
          <a:p>
            <a:r>
              <a:rPr lang="en-US" sz="1200" b="1">
                <a:solidFill>
                  <a:srgbClr val="002060"/>
                </a:solidFill>
              </a:rPr>
              <a:t>Transformer</a:t>
            </a:r>
            <a:endParaRPr lang="en-US" sz="1600" b="1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err="1">
                <a:solidFill>
                  <a:srgbClr val="002060"/>
                </a:solidFill>
              </a:rPr>
              <a:t>DataFrame</a:t>
            </a:r>
            <a:r>
              <a:rPr lang="en-US" sz="1050">
                <a:solidFill>
                  <a:srgbClr val="002060"/>
                </a:solidFill>
              </a:rPr>
              <a:t> in → logic applied → </a:t>
            </a:r>
            <a:r>
              <a:rPr lang="en-US" sz="1050" err="1">
                <a:solidFill>
                  <a:srgbClr val="002060"/>
                </a:solidFill>
              </a:rPr>
              <a:t>DataFrame</a:t>
            </a:r>
            <a:r>
              <a:rPr lang="en-US" sz="1050">
                <a:solidFill>
                  <a:srgbClr val="002060"/>
                </a:solidFill>
              </a:rPr>
              <a:t>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Stateless, composable, chainable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Engine-agnostic</a:t>
            </a:r>
          </a:p>
          <a:p>
            <a:endParaRPr lang="en-US" sz="1600">
              <a:solidFill>
                <a:srgbClr val="002060"/>
              </a:solidFill>
            </a:endParaRPr>
          </a:p>
          <a:p>
            <a:r>
              <a:rPr lang="en-US" sz="1200" b="1">
                <a:solidFill>
                  <a:srgbClr val="002060"/>
                </a:solidFill>
              </a:rPr>
              <a:t>Service Base</a:t>
            </a:r>
          </a:p>
          <a:p>
            <a:r>
              <a:rPr lang="en-US" sz="1050">
                <a:solidFill>
                  <a:srgbClr val="002060"/>
                </a:solidFill>
              </a:rPr>
              <a:t>Abstract service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Validates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Handles logging and telemetry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Routes to correct light/heavy implementation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Wraps execution with consistent error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/>
                </a:solidFill>
              </a:rPr>
              <a:t>Produces a Transformer</a:t>
            </a:r>
            <a:br>
              <a:rPr lang="en-US" sz="1050">
                <a:solidFill>
                  <a:srgbClr val="002060"/>
                </a:solidFill>
              </a:rPr>
            </a:br>
            <a:endParaRPr lang="en-US" sz="1200">
              <a:solidFill>
                <a:srgbClr val="002060"/>
              </a:solidFill>
            </a:endParaRPr>
          </a:p>
          <a:p>
            <a:r>
              <a:rPr lang="en-US" sz="1200" b="1">
                <a:solidFill>
                  <a:srgbClr val="002060"/>
                </a:solidFill>
              </a:rPr>
              <a:t>Concrete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Contain only engine-specific </a:t>
            </a:r>
            <a:r>
              <a:rPr lang="en-US" sz="1050" err="1">
                <a:solidFill>
                  <a:srgbClr val="002060"/>
                </a:solidFill>
              </a:rPr>
              <a:t>dataframe</a:t>
            </a:r>
            <a:r>
              <a:rPr lang="en-US" sz="1050">
                <a:solidFill>
                  <a:srgbClr val="002060"/>
                </a:solidFill>
              </a:rPr>
              <a:t>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No orchestration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/>
                </a:solidFill>
              </a:rPr>
              <a:t>No cross-cutting concerns</a:t>
            </a:r>
            <a:endParaRPr lang="en-US" sz="1200">
              <a:solidFill>
                <a:srgbClr val="002060"/>
              </a:solidFill>
            </a:endParaRPr>
          </a:p>
          <a:p>
            <a:pPr>
              <a:buNone/>
            </a:pPr>
            <a:endParaRPr lang="en-US" sz="1200">
              <a:solidFill>
                <a:schemeClr val="accent6">
                  <a:lumMod val="10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Service produces a Transformer</a:t>
            </a:r>
            <a:br>
              <a:rPr lang="en-US" sz="1100">
                <a:solidFill>
                  <a:schemeClr val="accent6">
                    <a:lumMod val="10000"/>
                  </a:schemeClr>
                </a:solidFill>
              </a:rPr>
            </a:b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FilterService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(spec).</a:t>
            </a: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() → Transformer</a:t>
            </a:r>
            <a:endParaRPr lang="en-US" sz="1100">
              <a:solidFill>
                <a:schemeClr val="accent6">
                  <a:lumMod val="1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Transformers are chained</a:t>
            </a:r>
            <a:br>
              <a:rPr lang="en-US" sz="1100">
                <a:solidFill>
                  <a:schemeClr val="accent6">
                    <a:lumMod val="1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pipeline = compose(    </a:t>
            </a:r>
            <a:r>
              <a:rPr lang="en-US" sz="1100" err="1">
                <a:solidFill>
                  <a:schemeClr val="accent6">
                    <a:lumMod val="10000"/>
                  </a:schemeClr>
                </a:solidFill>
              </a:rPr>
              <a:t>FilterService</a:t>
            </a: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(...).</a:t>
            </a:r>
            <a:r>
              <a:rPr lang="en-US" sz="1100" err="1">
                <a:solidFill>
                  <a:schemeClr val="accent6">
                    <a:lumMod val="10000"/>
                  </a:schemeClr>
                </a:solidFill>
              </a:rPr>
              <a:t>fn</a:t>
            </a: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(),    </a:t>
            </a: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CollibraDQService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(),    </a:t>
            </a: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AggregateService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90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())</a:t>
            </a: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Pipeline executes against a </a:t>
            </a:r>
            <a:r>
              <a:rPr lang="en-US" sz="1100" err="1">
                <a:solidFill>
                  <a:schemeClr val="accent6">
                    <a:lumMod val="10000"/>
                  </a:schemeClr>
                </a:solidFill>
              </a:rPr>
              <a:t>RuntimeFrame</a:t>
            </a:r>
            <a:br>
              <a:rPr lang="en-US" sz="1100">
                <a:solidFill>
                  <a:schemeClr val="accent6">
                    <a:lumMod val="10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result = pipeline(</a:t>
            </a:r>
            <a:r>
              <a:rPr lang="en-US" sz="1100" err="1">
                <a:solidFill>
                  <a:schemeClr val="accent6">
                    <a:lumMod val="10000"/>
                  </a:schemeClr>
                </a:solidFill>
              </a:rPr>
              <a:t>runtime_frame</a:t>
            </a:r>
            <a:r>
              <a:rPr lang="en-US" sz="110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  <a:p>
            <a:endParaRPr lang="en-US" sz="110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1495A6E-4914-72DF-A277-F383602B5B0B}"/>
              </a:ext>
            </a:extLst>
          </p:cNvPr>
          <p:cNvSpPr/>
          <p:nvPr/>
        </p:nvSpPr>
        <p:spPr>
          <a:xfrm>
            <a:off x="-9190" y="544894"/>
            <a:ext cx="4443397" cy="6313106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0" bIns="45720" rtlCol="0" anchor="t">
            <a:noAutofit/>
          </a:bodyPr>
          <a:lstStyle/>
          <a:p>
            <a:endParaRPr lang="en-US" sz="1600" b="1">
              <a:solidFill>
                <a:schemeClr val="tx2"/>
              </a:solidFill>
            </a:endParaRPr>
          </a:p>
          <a:p>
            <a:r>
              <a:rPr lang="en-US" sz="1600" b="1">
                <a:solidFill>
                  <a:schemeClr val="tx2"/>
                </a:solidFill>
              </a:rPr>
              <a:t>How this actually 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err="1">
                <a:solidFill>
                  <a:srgbClr val="002060"/>
                </a:solidFill>
                <a:latin typeface="Consolas" panose="020B0609020204030204" pitchFamily="49" charset="0"/>
              </a:rPr>
              <a:t>RuntimeFrame</a:t>
            </a:r>
            <a:r>
              <a:rPr lang="en-US" sz="1100">
                <a:solidFill>
                  <a:srgbClr val="002060"/>
                </a:solidFill>
              </a:rPr>
              <a:t> virtualizes execution engines (Spark, Pandas, Polars)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Services / Transformers execute functionally identical across engines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Implementation Type determines return 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Light returns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Heavy returns service instance pointer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Supports flat and nested domain-aligned data shapes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Enables virtualized CDMs without duplicating pipelines</a:t>
            </a:r>
            <a:endParaRPr lang="en-US" sz="1200">
              <a:solidFill>
                <a:srgbClr val="002060"/>
              </a:solidFill>
            </a:endParaRPr>
          </a:p>
          <a:p>
            <a:endParaRPr lang="en-US" sz="800" b="1">
              <a:solidFill>
                <a:schemeClr val="tx2"/>
              </a:solidFill>
            </a:endParaRPr>
          </a:p>
          <a:p>
            <a:r>
              <a:rPr lang="en-US" sz="1600" b="1">
                <a:solidFill>
                  <a:schemeClr val="tx2"/>
                </a:solidFill>
              </a:rPr>
              <a:t>Architectural Principle: </a:t>
            </a:r>
          </a:p>
          <a:p>
            <a:r>
              <a:rPr lang="en-US" sz="1400" b="1">
                <a:solidFill>
                  <a:schemeClr val="tx2"/>
                </a:solidFill>
              </a:rPr>
              <a:t>Bring Functions to the Data</a:t>
            </a:r>
            <a:endParaRPr lang="en-US" sz="1200" b="1">
              <a:solidFill>
                <a:schemeClr val="tx2"/>
              </a:solidFill>
            </a:endParaRPr>
          </a:p>
          <a:p>
            <a:r>
              <a:rPr lang="en-US" sz="1100">
                <a:solidFill>
                  <a:srgbClr val="002060"/>
                </a:solidFill>
              </a:rPr>
              <a:t>Instead of moving data between systems:</a:t>
            </a:r>
          </a:p>
          <a:p>
            <a:endParaRPr lang="en-US" sz="500">
              <a:solidFill>
                <a:srgbClr val="00206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Data is loaded </a:t>
            </a:r>
            <a:r>
              <a:rPr lang="en-US" sz="1100" b="1">
                <a:solidFill>
                  <a:srgbClr val="002060"/>
                </a:solidFill>
              </a:rPr>
              <a:t>once per defined shape</a:t>
            </a:r>
            <a:r>
              <a:rPr lang="en-US" sz="1100">
                <a:solidFill>
                  <a:srgbClr val="002060"/>
                </a:solidFill>
              </a:rPr>
              <a:t> (CDM1, CDM2, Datamart1, Export123)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Logic is composed into a </a:t>
            </a:r>
            <a:r>
              <a:rPr lang="en-US" sz="1100" b="1">
                <a:solidFill>
                  <a:srgbClr val="002060"/>
                </a:solidFill>
              </a:rPr>
              <a:t>functional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No intermediate persistence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No engine-specific logic in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2060"/>
                </a:solidFill>
              </a:rPr>
              <a:t>Same pattern supports </a:t>
            </a:r>
            <a:r>
              <a:rPr lang="en-US" sz="1100" b="1">
                <a:solidFill>
                  <a:srgbClr val="002060"/>
                </a:solidFill>
              </a:rPr>
              <a:t>Ingress and Egress</a:t>
            </a:r>
          </a:p>
          <a:p>
            <a:endParaRPr lang="en-US" sz="500" b="1">
              <a:solidFill>
                <a:srgbClr val="002060"/>
              </a:solidFill>
            </a:endParaRPr>
          </a:p>
          <a:p>
            <a:r>
              <a:rPr lang="en-US" sz="1100">
                <a:solidFill>
                  <a:srgbClr val="002060"/>
                </a:solidFill>
              </a:rPr>
              <a:t>This is what makes the architecture scalable and reusable.</a:t>
            </a:r>
          </a:p>
          <a:p>
            <a:pPr>
              <a:defRPr sz="1200"/>
            </a:pPr>
            <a:endParaRPr lang="en-US" sz="800" b="1">
              <a:solidFill>
                <a:schemeClr val="tx2"/>
              </a:solidFill>
            </a:endParaRPr>
          </a:p>
          <a:p>
            <a:pPr>
              <a:defRPr sz="1200"/>
            </a:pPr>
            <a:r>
              <a:rPr lang="en-US" sz="1600" b="1">
                <a:solidFill>
                  <a:schemeClr val="tx2"/>
                </a:solidFill>
              </a:rPr>
              <a:t>Execution Pattern (How it actually works)</a:t>
            </a:r>
            <a:endParaRPr lang="en-US" sz="1600"/>
          </a:p>
          <a:p>
            <a:pPr marL="228600" indent="-228600">
              <a:buFont typeface="+mj-lt"/>
              <a:buAutoNum type="arabicPeriod"/>
            </a:pPr>
            <a:r>
              <a:rPr lang="en-US" sz="1100" b="1">
                <a:solidFill>
                  <a:srgbClr val="002060"/>
                </a:solidFill>
              </a:rPr>
              <a:t>Service </a:t>
            </a:r>
            <a:r>
              <a:rPr lang="en-US" sz="1100">
                <a:solidFill>
                  <a:srgbClr val="002060"/>
                </a:solidFill>
              </a:rPr>
              <a:t>produces a </a:t>
            </a:r>
            <a:r>
              <a:rPr lang="en-US" sz="1100" b="1">
                <a:solidFill>
                  <a:srgbClr val="002060"/>
                </a:solidFill>
              </a:rPr>
              <a:t>Transformer</a:t>
            </a:r>
            <a:br>
              <a:rPr lang="en-US" sz="1100" b="1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Each service validates config and emits a pure transformation function.</a:t>
            </a:r>
            <a:br>
              <a:rPr lang="en-US" sz="1100" b="1">
                <a:solidFill>
                  <a:srgbClr val="002060"/>
                </a:solidFill>
              </a:rPr>
            </a:b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FilterService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(spec).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() → Transformer</a:t>
            </a:r>
            <a:endParaRPr lang="en-US" sz="1100">
              <a:solidFill>
                <a:srgbClr val="002060"/>
              </a:solidFill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100" b="1">
                <a:solidFill>
                  <a:srgbClr val="002060"/>
                </a:solidFill>
              </a:rPr>
              <a:t>Transformers</a:t>
            </a:r>
            <a:r>
              <a:rPr lang="en-US" sz="1100">
                <a:solidFill>
                  <a:srgbClr val="002060"/>
                </a:solidFill>
              </a:rPr>
              <a:t> are composed</a:t>
            </a:r>
            <a:br>
              <a:rPr lang="en-US" sz="11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A pipeline is constructed from reusable, engine-agnostic logic.</a:t>
            </a:r>
            <a:br>
              <a:rPr lang="en-US" sz="1100">
                <a:solidFill>
                  <a:srgbClr val="002060"/>
                </a:solidFill>
              </a:rPr>
            </a:b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pipeline = compose(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FilterService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(), 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CollibraDQService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(), 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AggregateService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())</a:t>
            </a:r>
            <a:endParaRPr lang="en-US" sz="1100">
              <a:solidFill>
                <a:srgbClr val="002060"/>
              </a:solidFill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100" b="1">
                <a:solidFill>
                  <a:srgbClr val="002060"/>
                </a:solidFill>
              </a:rPr>
              <a:t>Pipeline</a:t>
            </a:r>
            <a:r>
              <a:rPr lang="en-US" sz="1100">
                <a:solidFill>
                  <a:srgbClr val="002060"/>
                </a:solidFill>
              </a:rPr>
              <a:t> executes against a </a:t>
            </a:r>
            <a:r>
              <a:rPr lang="en-US" sz="1100" b="1" err="1">
                <a:solidFill>
                  <a:srgbClr val="002060"/>
                </a:solidFill>
              </a:rPr>
              <a:t>RuntimeFrame</a:t>
            </a:r>
            <a:br>
              <a:rPr lang="en-US" sz="1100" b="1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Execution engine is abstracted.</a:t>
            </a:r>
            <a:br>
              <a:rPr lang="en-US" sz="1100">
                <a:solidFill>
                  <a:srgbClr val="002060"/>
                </a:solidFill>
              </a:rPr>
            </a:br>
            <a:r>
              <a:rPr lang="en-US" sz="1100">
                <a:solidFill>
                  <a:srgbClr val="002060"/>
                </a:solidFill>
              </a:rPr>
              <a:t>Same code runs on Spark (heavy) or Pandas (light).</a:t>
            </a:r>
            <a:br>
              <a:rPr lang="en-US" sz="1100" b="1">
                <a:solidFill>
                  <a:srgbClr val="002060"/>
                </a:solidFill>
              </a:rPr>
            </a:b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result = pipeline(</a:t>
            </a:r>
            <a:r>
              <a:rPr lang="en-US" sz="800" err="1">
                <a:solidFill>
                  <a:srgbClr val="002060"/>
                </a:solidFill>
                <a:latin typeface="Consolas" panose="020B0609020204030204" pitchFamily="49" charset="0"/>
              </a:rPr>
              <a:t>runtime_frame</a:t>
            </a:r>
            <a:r>
              <a:rPr lang="en-US" sz="800">
                <a:solidFill>
                  <a:srgbClr val="002060"/>
                </a:solidFill>
                <a:latin typeface="Consolas" panose="020B0609020204030204" pitchFamily="49" charset="0"/>
              </a:rPr>
              <a:t>)</a:t>
            </a:r>
            <a:endParaRPr lang="en-US" sz="110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endParaRPr lang="en-US" sz="1600" b="1">
              <a:solidFill>
                <a:schemeClr val="tx2"/>
              </a:solidFill>
              <a:latin typeface="Apto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57401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56A4-8806-12D8-6E1E-FE6136E3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FDEB-58E3-33E0-C1FA-56F582C1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63594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Engine-Agnostic Execution: </a:t>
            </a:r>
            <a:br>
              <a:rPr lang="en-US"/>
            </a:br>
            <a:r>
              <a:rPr lang="en-US" sz="2200"/>
              <a:t>Service + Transformer Pattern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332CB3-F280-48FB-1BAE-6A9129540E80}"/>
              </a:ext>
            </a:extLst>
          </p:cNvPr>
          <p:cNvSpPr/>
          <p:nvPr/>
        </p:nvSpPr>
        <p:spPr>
          <a:xfrm>
            <a:off x="4632069" y="4425372"/>
            <a:ext cx="3896243" cy="499531"/>
          </a:xfrm>
          <a:prstGeom prst="roundRect">
            <a:avLst>
              <a:gd name="adj" fmla="val 35918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Message or Event Bus</a:t>
            </a:r>
            <a:endParaRPr lang="en-US" sz="100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E0A831-F556-D896-95FA-3C12D5BE68BE}"/>
              </a:ext>
            </a:extLst>
          </p:cNvPr>
          <p:cNvGrpSpPr/>
          <p:nvPr/>
        </p:nvGrpSpPr>
        <p:grpSpPr>
          <a:xfrm>
            <a:off x="4941045" y="1823984"/>
            <a:ext cx="893649" cy="499531"/>
            <a:chOff x="7076910" y="2836138"/>
            <a:chExt cx="1013225" cy="473803"/>
          </a:xfrm>
          <a:solidFill>
            <a:schemeClr val="tx2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106664-A1EE-3EB7-6DAA-58BC9C4FA64E}"/>
                </a:ext>
              </a:extLst>
            </p:cNvPr>
            <p:cNvSpPr/>
            <p:nvPr/>
          </p:nvSpPr>
          <p:spPr>
            <a:xfrm>
              <a:off x="7076910" y="2836138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047EB2-F804-BD29-0429-EE558DBD6531}"/>
                </a:ext>
              </a:extLst>
            </p:cNvPr>
            <p:cNvSpPr/>
            <p:nvPr/>
          </p:nvSpPr>
          <p:spPr>
            <a:xfrm>
              <a:off x="7130543" y="2885517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800">
                <a:solidFill>
                  <a:schemeClr val="bg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A11883-0F7D-E9E5-2CEA-9E59B92B2A9D}"/>
                </a:ext>
              </a:extLst>
            </p:cNvPr>
            <p:cNvSpPr/>
            <p:nvPr/>
          </p:nvSpPr>
          <p:spPr>
            <a:xfrm>
              <a:off x="7194851" y="2937193"/>
              <a:ext cx="895284" cy="372748"/>
            </a:xfrm>
            <a:prstGeom prst="rect">
              <a:avLst/>
            </a:prstGeom>
            <a:grpFill/>
            <a:ln w="3175">
              <a:solidFill>
                <a:schemeClr val="accent6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800">
                  <a:solidFill>
                    <a:schemeClr val="bg1"/>
                  </a:solidFill>
                </a:rPr>
                <a:t>Common Service Objects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EF59F91-E98B-5D12-4B85-9FF821E71DAA}"/>
              </a:ext>
            </a:extLst>
          </p:cNvPr>
          <p:cNvSpPr/>
          <p:nvPr/>
        </p:nvSpPr>
        <p:spPr>
          <a:xfrm>
            <a:off x="7392483" y="5256144"/>
            <a:ext cx="811257" cy="601980"/>
          </a:xfrm>
          <a:prstGeom prst="rect">
            <a:avLst/>
          </a:prstGeom>
          <a:solidFill>
            <a:schemeClr val="tx2"/>
          </a:solidFill>
          <a:ln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Collibra Listener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26E56-5B3E-6FD1-60FA-AAF036C72D6E}"/>
              </a:ext>
            </a:extLst>
          </p:cNvPr>
          <p:cNvSpPr/>
          <p:nvPr/>
        </p:nvSpPr>
        <p:spPr>
          <a:xfrm>
            <a:off x="5001796" y="3433495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A8826-9B88-1A07-086C-37818D7B7F40}"/>
              </a:ext>
            </a:extLst>
          </p:cNvPr>
          <p:cNvSpPr/>
          <p:nvPr/>
        </p:nvSpPr>
        <p:spPr>
          <a:xfrm>
            <a:off x="5903019" y="3615585"/>
            <a:ext cx="596238" cy="4312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Runtime </a:t>
            </a:r>
            <a:r>
              <a:rPr lang="en-US" sz="1000" err="1">
                <a:solidFill>
                  <a:schemeClr val="accent6">
                    <a:lumMod val="10000"/>
                  </a:schemeClr>
                </a:solidFill>
              </a:rPr>
              <a:t>Dataframe</a:t>
            </a:r>
            <a:endParaRPr lang="en-US" sz="1000">
              <a:solidFill>
                <a:schemeClr val="accent6">
                  <a:lumMod val="1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FEF46E-469A-AB6E-62A9-C74E2567489F}"/>
              </a:ext>
            </a:extLst>
          </p:cNvPr>
          <p:cNvSpPr/>
          <p:nvPr/>
        </p:nvSpPr>
        <p:spPr>
          <a:xfrm>
            <a:off x="5009371" y="3616943"/>
            <a:ext cx="893648" cy="431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Light or Heavy Implementation</a:t>
            </a:r>
            <a:endParaRPr lang="en-US" sz="1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2E092A-F7EF-DF10-452F-168D4DD8B0CF}"/>
              </a:ext>
            </a:extLst>
          </p:cNvPr>
          <p:cNvSpPr/>
          <p:nvPr/>
        </p:nvSpPr>
        <p:spPr>
          <a:xfrm>
            <a:off x="5721712" y="3443489"/>
            <a:ext cx="132251" cy="14151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7B0082-0A2D-B3F9-BCF5-D3193187447F}"/>
              </a:ext>
            </a:extLst>
          </p:cNvPr>
          <p:cNvSpPr/>
          <p:nvPr/>
        </p:nvSpPr>
        <p:spPr>
          <a:xfrm>
            <a:off x="5006975" y="3437731"/>
            <a:ext cx="1504364" cy="188513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Orchestrator Runtime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E6A02F-5D20-35ED-6887-E9C96B0FC7C5}"/>
              </a:ext>
            </a:extLst>
          </p:cNvPr>
          <p:cNvSpPr/>
          <p:nvPr/>
        </p:nvSpPr>
        <p:spPr>
          <a:xfrm>
            <a:off x="6249687" y="3445867"/>
            <a:ext cx="45719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F2B62E-3DDD-0004-E0BC-9A5398F314E8}"/>
              </a:ext>
            </a:extLst>
          </p:cNvPr>
          <p:cNvSpPr/>
          <p:nvPr/>
        </p:nvSpPr>
        <p:spPr>
          <a:xfrm>
            <a:off x="5009371" y="3441967"/>
            <a:ext cx="1500232" cy="6019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9FD27E-5E44-869D-767E-F45DA693BC8B}"/>
              </a:ext>
            </a:extLst>
          </p:cNvPr>
          <p:cNvCxnSpPr>
            <a:cxnSpLocks/>
          </p:cNvCxnSpPr>
          <p:nvPr/>
        </p:nvCxnSpPr>
        <p:spPr>
          <a:xfrm>
            <a:off x="5448620" y="4039711"/>
            <a:ext cx="0" cy="36576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26CEA0-65D3-5F1B-B372-5A1821B7142D}"/>
              </a:ext>
            </a:extLst>
          </p:cNvPr>
          <p:cNvCxnSpPr>
            <a:cxnSpLocks/>
          </p:cNvCxnSpPr>
          <p:nvPr/>
        </p:nvCxnSpPr>
        <p:spPr>
          <a:xfrm>
            <a:off x="7798111" y="4921555"/>
            <a:ext cx="1" cy="334589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85C812E-605A-A166-EE98-DD91CA7571D9}"/>
              </a:ext>
            </a:extLst>
          </p:cNvPr>
          <p:cNvSpPr txBox="1"/>
          <p:nvPr/>
        </p:nvSpPr>
        <p:spPr>
          <a:xfrm>
            <a:off x="4438851" y="4944804"/>
            <a:ext cx="30049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tx2"/>
                </a:solidFill>
              </a:rPr>
              <a:t>Enterprise Data Quality</a:t>
            </a:r>
          </a:p>
          <a:p>
            <a:r>
              <a:rPr lang="en-US" sz="1000"/>
              <a:t>Integrated, not bolted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Retrieves Parameterized DQ Rules from Collibra DQ&amp;O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Executes in-memory within </a:t>
            </a:r>
            <a:r>
              <a:rPr lang="en-US" sz="900" err="1">
                <a:latin typeface="Consolas" panose="020B0609020204030204" pitchFamily="49" charset="0"/>
              </a:rPr>
              <a:t>RuntimeFrame</a:t>
            </a:r>
            <a:r>
              <a:rPr lang="en-US" sz="900"/>
              <a:t> stack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Publishes results back to Collibra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Converts Collibra into a true centralized rules library</a:t>
            </a:r>
          </a:p>
          <a:p>
            <a:endParaRPr lang="en-US" sz="300"/>
          </a:p>
          <a:p>
            <a:r>
              <a:rPr lang="en-US" sz="900"/>
              <a:t>Strengths:  governance + runtime enforcement</a:t>
            </a:r>
          </a:p>
          <a:p>
            <a:r>
              <a:rPr lang="en-US" sz="900"/>
              <a:t>Eliminates: siloed validation layers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4CE9D3-C155-AF8E-7D8C-7DFDA9320CE4}"/>
              </a:ext>
            </a:extLst>
          </p:cNvPr>
          <p:cNvSpPr/>
          <p:nvPr/>
        </p:nvSpPr>
        <p:spPr>
          <a:xfrm>
            <a:off x="6725350" y="714418"/>
            <a:ext cx="2149353" cy="822603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RuntimeFrame</a:t>
            </a:r>
            <a:endParaRPr lang="en-US" sz="500"/>
          </a:p>
          <a:p>
            <a:r>
              <a:rPr lang="en-US" sz="800"/>
              <a:t>Engine: Spark | Pandas | Polars</a:t>
            </a:r>
          </a:p>
          <a:p>
            <a:r>
              <a:rPr lang="en-US" sz="800"/>
              <a:t>Shape: Flat | Nested</a:t>
            </a:r>
          </a:p>
          <a:p>
            <a:endParaRPr lang="en-US" sz="800"/>
          </a:p>
          <a:p>
            <a:r>
              <a:rPr lang="en-US" sz="800"/>
              <a:t>Adapter Layer:</a:t>
            </a:r>
          </a:p>
          <a:p>
            <a:r>
              <a:rPr lang="en-US" sz="800" err="1"/>
              <a:t>AdapterSpark</a:t>
            </a:r>
            <a:r>
              <a:rPr lang="en-US" sz="800"/>
              <a:t> / </a:t>
            </a:r>
            <a:r>
              <a:rPr lang="en-US" sz="800" err="1"/>
              <a:t>AdapterPandas</a:t>
            </a:r>
            <a:r>
              <a:rPr lang="en-US" sz="800"/>
              <a:t> / </a:t>
            </a:r>
            <a:r>
              <a:rPr lang="en-US" sz="800" err="1"/>
              <a:t>AdapterPolars</a:t>
            </a:r>
            <a:endParaRPr lang="en-US" sz="800"/>
          </a:p>
          <a:p>
            <a:pPr algn="ctr"/>
            <a:endParaRPr lang="en-US" sz="8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8E4A23-E811-217E-7529-10E2BE36CC38}"/>
              </a:ext>
            </a:extLst>
          </p:cNvPr>
          <p:cNvSpPr/>
          <p:nvPr/>
        </p:nvSpPr>
        <p:spPr>
          <a:xfrm>
            <a:off x="6721545" y="1694452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nb-NO" sz="500"/>
              <a:t>FilterTransformer</a:t>
            </a:r>
          </a:p>
          <a:p>
            <a:r>
              <a:rPr lang="nb-NO" sz="800"/>
              <a:t>(Predicate Pushdown / Nested Filtering)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00BD63-9EBC-8F02-16E2-0C5B7AAFD726}"/>
              </a:ext>
            </a:extLst>
          </p:cNvPr>
          <p:cNvSpPr/>
          <p:nvPr/>
        </p:nvSpPr>
        <p:spPr>
          <a:xfrm>
            <a:off x="6721545" y="2229670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DQTransformer</a:t>
            </a:r>
            <a:endParaRPr lang="en-US" sz="500"/>
          </a:p>
          <a:p>
            <a:r>
              <a:rPr lang="en-US" sz="800"/>
              <a:t>(Rules, </a:t>
            </a:r>
            <a:r>
              <a:rPr lang="en-US" sz="800" err="1"/>
              <a:t>Explode→Validate→Re-Nest</a:t>
            </a:r>
            <a:r>
              <a:rPr lang="en-US" sz="800"/>
              <a:t>, Audit)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15E6E8-46AD-D481-F202-99EF94AA0529}"/>
              </a:ext>
            </a:extLst>
          </p:cNvPr>
          <p:cNvSpPr/>
          <p:nvPr/>
        </p:nvSpPr>
        <p:spPr>
          <a:xfrm>
            <a:off x="6721545" y="2764888"/>
            <a:ext cx="2156962" cy="3777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AggregateTransformer</a:t>
            </a:r>
            <a:endParaRPr lang="en-US" sz="500"/>
          </a:p>
          <a:p>
            <a:r>
              <a:rPr lang="en-US" sz="800"/>
              <a:t>(Group / Rollup / Nested Aggregation)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E63403-E67F-66FF-2295-E16599423BFB}"/>
              </a:ext>
            </a:extLst>
          </p:cNvPr>
          <p:cNvSpPr/>
          <p:nvPr/>
        </p:nvSpPr>
        <p:spPr>
          <a:xfrm>
            <a:off x="6741391" y="3300107"/>
            <a:ext cx="2117270" cy="822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200"/>
            </a:pPr>
            <a:r>
              <a:rPr lang="en-US" sz="500" err="1"/>
              <a:t>FinalRuntimeFrame</a:t>
            </a:r>
            <a:endParaRPr lang="en-US" sz="500"/>
          </a:p>
          <a:p>
            <a:r>
              <a:rPr lang="en-US" sz="800"/>
              <a:t>Flat Output: BI / SQL / Analytics</a:t>
            </a:r>
          </a:p>
          <a:p>
            <a:r>
              <a:rPr lang="en-US" sz="800"/>
              <a:t>Nested Output: API / Event / AI Payloads</a:t>
            </a:r>
          </a:p>
          <a:p>
            <a:endParaRPr lang="en-US" sz="800"/>
          </a:p>
          <a:p>
            <a:r>
              <a:rPr lang="en-US" sz="800"/>
              <a:t>Audit &amp; Lineage: Status / Counts / DQ Results</a:t>
            </a:r>
          </a:p>
          <a:p>
            <a:pPr algn="ctr"/>
            <a:endParaRPr lang="en-US" sz="800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01F5A9F4-DDED-AA69-A11F-D953B5ECFABB}"/>
              </a:ext>
            </a:extLst>
          </p:cNvPr>
          <p:cNvSpPr/>
          <p:nvPr/>
        </p:nvSpPr>
        <p:spPr>
          <a:xfrm>
            <a:off x="5575563" y="2399188"/>
            <a:ext cx="707896" cy="348043"/>
          </a:xfrm>
          <a:prstGeom prst="can">
            <a:avLst>
              <a:gd name="adj" fmla="val 16579"/>
            </a:avLst>
          </a:prstGeom>
          <a:solidFill>
            <a:srgbClr val="00B050"/>
          </a:solidFill>
          <a:ln w="63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800">
                <a:solidFill>
                  <a:schemeClr val="bg1"/>
                </a:solidFill>
              </a:rPr>
              <a:t>CDMs / Source/ Target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812FB1-0387-988D-7EC7-9C9A1DF220A4}"/>
              </a:ext>
            </a:extLst>
          </p:cNvPr>
          <p:cNvCxnSpPr>
            <a:cxnSpLocks/>
            <a:endCxn id="39" idx="3"/>
          </p:cNvCxnSpPr>
          <p:nvPr/>
        </p:nvCxnSpPr>
        <p:spPr>
          <a:xfrm flipV="1">
            <a:off x="5929511" y="2747231"/>
            <a:ext cx="0" cy="695536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E4A443-7517-7BA8-0AEF-C0C79838A764}"/>
              </a:ext>
            </a:extLst>
          </p:cNvPr>
          <p:cNvCxnSpPr>
            <a:cxnSpLocks/>
          </p:cNvCxnSpPr>
          <p:nvPr/>
        </p:nvCxnSpPr>
        <p:spPr>
          <a:xfrm flipV="1">
            <a:off x="5448620" y="2330093"/>
            <a:ext cx="0" cy="1097280"/>
          </a:xfrm>
          <a:prstGeom prst="straightConnector1">
            <a:avLst/>
          </a:prstGeom>
          <a:ln>
            <a:solidFill>
              <a:schemeClr val="accent6">
                <a:lumMod val="1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F8200860-4C33-5B9D-5D1B-AC5B96C9A51C}"/>
              </a:ext>
            </a:extLst>
          </p:cNvPr>
          <p:cNvSpPr/>
          <p:nvPr/>
        </p:nvSpPr>
        <p:spPr>
          <a:xfrm rot="17856258">
            <a:off x="5761642" y="1606499"/>
            <a:ext cx="1289732" cy="2185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/>
              <a:t>Reads Data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ACD83055-7CCC-2E87-8C95-E54B8FC00D25}"/>
              </a:ext>
            </a:extLst>
          </p:cNvPr>
          <p:cNvSpPr/>
          <p:nvPr/>
        </p:nvSpPr>
        <p:spPr>
          <a:xfrm>
            <a:off x="7680419" y="1501239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A7F84A96-9A2B-D131-74F4-6EFEE63F38A1}"/>
              </a:ext>
            </a:extLst>
          </p:cNvPr>
          <p:cNvSpPr/>
          <p:nvPr/>
        </p:nvSpPr>
        <p:spPr>
          <a:xfrm>
            <a:off x="7680419" y="2049501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CDC1ECE5-F8A3-C495-16D2-3EE5FA75FAC3}"/>
              </a:ext>
            </a:extLst>
          </p:cNvPr>
          <p:cNvSpPr/>
          <p:nvPr/>
        </p:nvSpPr>
        <p:spPr>
          <a:xfrm>
            <a:off x="7680419" y="2584786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EBA67D59-29F1-D2E9-6F18-487B057E2FD6}"/>
              </a:ext>
            </a:extLst>
          </p:cNvPr>
          <p:cNvSpPr/>
          <p:nvPr/>
        </p:nvSpPr>
        <p:spPr>
          <a:xfrm>
            <a:off x="7680419" y="3106711"/>
            <a:ext cx="239215" cy="22552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680B821-967B-5558-44C8-6D8C6EDBEB78}"/>
              </a:ext>
            </a:extLst>
          </p:cNvPr>
          <p:cNvSpPr/>
          <p:nvPr/>
        </p:nvSpPr>
        <p:spPr>
          <a:xfrm rot="13285793" flipV="1">
            <a:off x="6072313" y="2951519"/>
            <a:ext cx="769589" cy="21856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"/>
              <a:t>Writes Data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56D437A-87ED-2FF7-78C7-12E3F5C5E12B}"/>
              </a:ext>
            </a:extLst>
          </p:cNvPr>
          <p:cNvSpPr/>
          <p:nvPr/>
        </p:nvSpPr>
        <p:spPr>
          <a:xfrm>
            <a:off x="8684298" y="777208"/>
            <a:ext cx="3506923" cy="6080792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>
              <a:defRPr sz="1200"/>
            </a:pPr>
            <a:r>
              <a:rPr lang="en-US" sz="1600" b="1">
                <a:solidFill>
                  <a:schemeClr val="tx2">
                    <a:alpha val="25000"/>
                  </a:schemeClr>
                </a:solidFill>
              </a:rPr>
              <a:t>Core Architectural Components</a:t>
            </a:r>
            <a:endParaRPr lang="en-US" sz="1600">
              <a:solidFill>
                <a:schemeClr val="lt1">
                  <a:alpha val="25000"/>
                </a:schemeClr>
              </a:solidFill>
            </a:endParaRPr>
          </a:p>
          <a:p>
            <a:r>
              <a:rPr lang="en-US" sz="1200" b="1" err="1">
                <a:solidFill>
                  <a:srgbClr val="002060">
                    <a:alpha val="25000"/>
                  </a:srgbClr>
                </a:solidFill>
              </a:rPr>
              <a:t>RuntimeFrame</a:t>
            </a:r>
            <a:endParaRPr lang="en-US" sz="1200" b="1">
              <a:solidFill>
                <a:srgbClr val="002060">
                  <a:alpha val="25000"/>
                </a:srgb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Wraps Spark or Pandas in-memory </a:t>
            </a:r>
            <a:r>
              <a:rPr lang="en-US" sz="1050" err="1">
                <a:solidFill>
                  <a:srgbClr val="002060">
                    <a:alpha val="25000"/>
                  </a:srgbClr>
                </a:solidFill>
              </a:rPr>
              <a:t>dataframe</a:t>
            </a:r>
            <a:endParaRPr lang="en-US" sz="1050">
              <a:solidFill>
                <a:srgbClr val="002060">
                  <a:alpha val="25000"/>
                </a:srgb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Provides consistent execution contract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Encapsulates data “shape” (Flat or Nested)</a:t>
            </a:r>
          </a:p>
          <a:p>
            <a:endParaRPr lang="en-US" sz="1200">
              <a:solidFill>
                <a:srgbClr val="002060">
                  <a:alpha val="25000"/>
                </a:srgbClr>
              </a:solidFill>
            </a:endParaRPr>
          </a:p>
          <a:p>
            <a:r>
              <a:rPr lang="en-US" sz="1200" b="1">
                <a:solidFill>
                  <a:srgbClr val="002060">
                    <a:alpha val="25000"/>
                  </a:srgbClr>
                </a:solidFill>
              </a:rPr>
              <a:t>Transformer</a:t>
            </a:r>
            <a:endParaRPr lang="en-US" sz="1600" b="1">
              <a:solidFill>
                <a:srgbClr val="002060">
                  <a:alpha val="25000"/>
                </a:srgb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err="1">
                <a:solidFill>
                  <a:srgbClr val="002060">
                    <a:alpha val="25000"/>
                  </a:srgbClr>
                </a:solidFill>
              </a:rPr>
              <a:t>DataFrame</a:t>
            </a: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 in → logic applied → </a:t>
            </a:r>
            <a:r>
              <a:rPr lang="en-US" sz="1050" err="1">
                <a:solidFill>
                  <a:srgbClr val="002060">
                    <a:alpha val="25000"/>
                  </a:srgbClr>
                </a:solidFill>
              </a:rPr>
              <a:t>DataFrame</a:t>
            </a: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 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Stateless, composable, chainable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Engine-agnostic</a:t>
            </a:r>
          </a:p>
          <a:p>
            <a:endParaRPr lang="en-US" sz="1600">
              <a:solidFill>
                <a:srgbClr val="002060">
                  <a:alpha val="25000"/>
                </a:srgbClr>
              </a:solidFill>
            </a:endParaRPr>
          </a:p>
          <a:p>
            <a:r>
              <a:rPr lang="en-US" sz="1200" b="1">
                <a:solidFill>
                  <a:srgbClr val="002060">
                    <a:alpha val="25000"/>
                  </a:srgbClr>
                </a:solidFill>
              </a:rPr>
              <a:t>Service Base</a:t>
            </a:r>
          </a:p>
          <a:p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Abstract service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>
                    <a:alpha val="25000"/>
                  </a:srgbClr>
                </a:solidFill>
              </a:rPr>
              <a:t>Validates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>
                    <a:alpha val="25000"/>
                  </a:srgbClr>
                </a:solidFill>
              </a:rPr>
              <a:t>Handles logging and telemetry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>
                    <a:alpha val="25000"/>
                  </a:srgbClr>
                </a:solidFill>
              </a:rPr>
              <a:t>Routes to correct light/heavy implementation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>
                    <a:alpha val="25000"/>
                  </a:srgbClr>
                </a:solidFill>
              </a:rPr>
              <a:t>Wraps execution with consistent error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2060">
                    <a:alpha val="25000"/>
                  </a:srgbClr>
                </a:solidFill>
              </a:rPr>
              <a:t>Produces a Transformer</a:t>
            </a:r>
            <a:br>
              <a:rPr lang="en-US" sz="1050">
                <a:solidFill>
                  <a:srgbClr val="002060">
                    <a:alpha val="25000"/>
                  </a:srgbClr>
                </a:solidFill>
              </a:rPr>
            </a:br>
            <a:endParaRPr lang="en-US" sz="1200">
              <a:solidFill>
                <a:srgbClr val="002060">
                  <a:alpha val="25000"/>
                </a:srgbClr>
              </a:solidFill>
            </a:endParaRPr>
          </a:p>
          <a:p>
            <a:r>
              <a:rPr lang="en-US" sz="1200" b="1">
                <a:solidFill>
                  <a:srgbClr val="002060">
                    <a:alpha val="25000"/>
                  </a:srgbClr>
                </a:solidFill>
              </a:rPr>
              <a:t>Concrete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Contain only engine-specific </a:t>
            </a:r>
            <a:r>
              <a:rPr lang="en-US" sz="1050" err="1">
                <a:solidFill>
                  <a:srgbClr val="002060">
                    <a:alpha val="25000"/>
                  </a:srgbClr>
                </a:solidFill>
              </a:rPr>
              <a:t>dataframe</a:t>
            </a: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No orchestration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02060">
                    <a:alpha val="25000"/>
                  </a:srgbClr>
                </a:solidFill>
              </a:rPr>
              <a:t>No cross-cutting concerns</a:t>
            </a:r>
            <a:endParaRPr lang="en-US" sz="1200">
              <a:solidFill>
                <a:srgbClr val="002060">
                  <a:alpha val="25000"/>
                </a:srgbClr>
              </a:solidFill>
            </a:endParaRPr>
          </a:p>
          <a:p>
            <a:pPr>
              <a:buNone/>
            </a:pPr>
            <a:endParaRPr lang="en-US" sz="1200">
              <a:solidFill>
                <a:schemeClr val="accent6">
                  <a:lumMod val="10000"/>
                  <a:alpha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Service produces a Transformer</a:t>
            </a:r>
            <a:b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</a:b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FilterService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(spec).</a:t>
            </a: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() → Transformer</a:t>
            </a:r>
            <a:endParaRPr lang="en-US" sz="1100">
              <a:solidFill>
                <a:schemeClr val="accent6">
                  <a:lumMod val="10000"/>
                  <a:alpha val="25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Transformers are chained</a:t>
            </a:r>
            <a:b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pipeline = compose(    </a:t>
            </a:r>
            <a:r>
              <a:rPr lang="en-US" sz="1100" err="1">
                <a:solidFill>
                  <a:schemeClr val="accent6">
                    <a:lumMod val="10000"/>
                    <a:alpha val="25000"/>
                  </a:schemeClr>
                </a:solidFill>
              </a:rPr>
              <a:t>FilterService</a:t>
            </a: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(...).</a:t>
            </a:r>
            <a:r>
              <a:rPr lang="en-US" sz="1100" err="1">
                <a:solidFill>
                  <a:schemeClr val="accent6">
                    <a:lumMod val="10000"/>
                    <a:alpha val="25000"/>
                  </a:schemeClr>
                </a:solidFill>
              </a:rPr>
              <a:t>fn</a:t>
            </a: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(),    </a:t>
            </a: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CollibraDQService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(),    </a:t>
            </a: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AggregateService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900" err="1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900">
                <a:solidFill>
                  <a:schemeClr val="accent6">
                    <a:lumMod val="10000"/>
                    <a:alpha val="25000"/>
                  </a:schemeClr>
                </a:solidFill>
                <a:latin typeface="Consolas" panose="020B0609020204030204" pitchFamily="49" charset="0"/>
              </a:rPr>
              <a:t>())</a:t>
            </a:r>
          </a:p>
          <a:p>
            <a:pPr marL="228600" indent="-228600">
              <a:buAutoNum type="arabicPeriod"/>
            </a:pP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Pipeline executes against a </a:t>
            </a:r>
            <a:r>
              <a:rPr lang="en-US" sz="1100" err="1">
                <a:solidFill>
                  <a:schemeClr val="accent6">
                    <a:lumMod val="10000"/>
                    <a:alpha val="25000"/>
                  </a:schemeClr>
                </a:solidFill>
              </a:rPr>
              <a:t>RuntimeFrame</a:t>
            </a:r>
            <a:b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result = pipeline(</a:t>
            </a:r>
            <a:r>
              <a:rPr lang="en-US" sz="1100" err="1">
                <a:solidFill>
                  <a:schemeClr val="accent6">
                    <a:lumMod val="10000"/>
                    <a:alpha val="25000"/>
                  </a:schemeClr>
                </a:solidFill>
              </a:rPr>
              <a:t>runtime_frame</a:t>
            </a:r>
            <a:r>
              <a:rPr lang="en-US" sz="1100">
                <a:solidFill>
                  <a:schemeClr val="accent6">
                    <a:lumMod val="10000"/>
                    <a:alpha val="25000"/>
                  </a:schemeClr>
                </a:solidFill>
              </a:rPr>
              <a:t>)</a:t>
            </a:r>
          </a:p>
          <a:p>
            <a:endParaRPr lang="en-US" sz="1100">
              <a:solidFill>
                <a:srgbClr val="002060">
                  <a:alpha val="25000"/>
                </a:srgbClr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2F6C7C7-0027-610C-1A43-621FEFB2F62D}"/>
              </a:ext>
            </a:extLst>
          </p:cNvPr>
          <p:cNvSpPr/>
          <p:nvPr/>
        </p:nvSpPr>
        <p:spPr>
          <a:xfrm>
            <a:off x="-9190" y="777206"/>
            <a:ext cx="4443397" cy="6080793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0" bIns="45720" rtlCol="0" anchor="t">
            <a:noAutofit/>
          </a:bodyPr>
          <a:lstStyle/>
          <a:p>
            <a:endParaRPr lang="en-US" sz="1600" b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b="1">
                <a:solidFill>
                  <a:schemeClr val="accent6">
                    <a:lumMod val="75000"/>
                  </a:schemeClr>
                </a:solidFill>
              </a:rPr>
              <a:t>How this actually 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RuntimeFrame</a:t>
            </a: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 virtualizes execution engines (Spark, Pandas, Polars)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Services / Transformers execute functionally identical across engines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Implementation Type determines return 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Light returns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Heavy returns service instance pointer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Supports flat and nested domain-aligned data shapes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Enables virtualized CDMs without duplicating pipelines</a:t>
            </a:r>
            <a:endParaRPr lang="en-US" sz="120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800" b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b="1">
                <a:solidFill>
                  <a:schemeClr val="accent6">
                    <a:lumMod val="75000"/>
                  </a:schemeClr>
                </a:solidFill>
              </a:rPr>
              <a:t>Architectural Principle: </a:t>
            </a:r>
          </a:p>
          <a:p>
            <a:r>
              <a:rPr lang="en-US" sz="1400" b="1">
                <a:solidFill>
                  <a:schemeClr val="accent6">
                    <a:lumMod val="75000"/>
                  </a:schemeClr>
                </a:solidFill>
              </a:rPr>
              <a:t>Bring Functions to the Data</a:t>
            </a:r>
            <a:endParaRPr lang="en-US" sz="1200" b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Instead of moving data between systems:</a:t>
            </a:r>
          </a:p>
          <a:p>
            <a:endParaRPr lang="en-US" sz="500">
              <a:solidFill>
                <a:schemeClr val="accent6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Data is loaded </a:t>
            </a: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once per defined shape</a:t>
            </a: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 (CDM1, CDM2, Datamart1, Export123)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Logic is composed into a </a:t>
            </a: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functional pipeline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No intermediate persistence required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No engine-specific logic in orchestration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Same pattern supports </a:t>
            </a: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Ingress and Egress</a:t>
            </a:r>
          </a:p>
          <a:p>
            <a:endParaRPr lang="en-US" sz="500" b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This is what makes the architecture scalable and reusable.</a:t>
            </a:r>
          </a:p>
          <a:p>
            <a:pPr>
              <a:defRPr sz="1200"/>
            </a:pPr>
            <a:endParaRPr lang="en-US" sz="800" b="1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 sz="1200"/>
            </a:pPr>
            <a:r>
              <a:rPr lang="en-US" sz="1600" b="1">
                <a:solidFill>
                  <a:schemeClr val="accent6">
                    <a:lumMod val="75000"/>
                  </a:schemeClr>
                </a:solidFill>
              </a:rPr>
              <a:t>Execution Pattern (How it actually works)</a:t>
            </a:r>
            <a:endParaRPr lang="en-US" sz="1600">
              <a:solidFill>
                <a:schemeClr val="accent6">
                  <a:lumMod val="75000"/>
                </a:schemeClr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Service </a:t>
            </a: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produces a </a:t>
            </a: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Transformer</a:t>
            </a:r>
            <a:br>
              <a:rPr lang="en-US" sz="11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Each service validates config and emits a pure transformation function.</a:t>
            </a:r>
            <a:br>
              <a:rPr lang="en-US" sz="11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FilterService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(spec).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→ Transformer</a:t>
            </a:r>
            <a:endParaRPr lang="en-US" sz="1100">
              <a:solidFill>
                <a:schemeClr val="accent6">
                  <a:lumMod val="75000"/>
                </a:schemeClr>
              </a:solidFill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Transformers</a:t>
            </a: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 are composed</a:t>
            </a:r>
            <a:br>
              <a:rPr lang="en-US" sz="110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A pipeline is constructed from reusable, engine-agnostic logic.</a:t>
            </a:r>
            <a:br>
              <a:rPr lang="en-US" sz="110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pipeline = compose(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FilterService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CollibraDQService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AggregateService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(...).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fn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</a:t>
            </a:r>
            <a:endParaRPr lang="en-US" sz="1100">
              <a:solidFill>
                <a:schemeClr val="accent6">
                  <a:lumMod val="75000"/>
                </a:schemeClr>
              </a:solidFill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100" b="1">
                <a:solidFill>
                  <a:schemeClr val="accent6">
                    <a:lumMod val="75000"/>
                  </a:schemeClr>
                </a:solidFill>
              </a:rPr>
              <a:t>Pipeline</a:t>
            </a: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 executes against a </a:t>
            </a:r>
            <a:r>
              <a:rPr lang="en-US" sz="1100" b="1" err="1">
                <a:solidFill>
                  <a:schemeClr val="accent6">
                    <a:lumMod val="75000"/>
                  </a:schemeClr>
                </a:solidFill>
              </a:rPr>
              <a:t>RuntimeFrame</a:t>
            </a:r>
            <a:br>
              <a:rPr lang="en-US" sz="11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Execution engine is abstracted.</a:t>
            </a:r>
            <a:br>
              <a:rPr lang="en-US" sz="110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100">
                <a:solidFill>
                  <a:schemeClr val="accent6">
                    <a:lumMod val="75000"/>
                  </a:schemeClr>
                </a:solidFill>
              </a:rPr>
              <a:t>Same code runs on Spark (heavy) or Pandas (light).</a:t>
            </a:r>
            <a:br>
              <a:rPr lang="en-US" sz="11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 = pipeline(</a:t>
            </a:r>
            <a:r>
              <a:rPr lang="en-US" sz="80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runtime_frame</a:t>
            </a:r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110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B4EDFC-4AC0-8548-8AA1-EC3BEB897402}"/>
              </a:ext>
            </a:extLst>
          </p:cNvPr>
          <p:cNvSpPr txBox="1"/>
          <p:nvPr/>
        </p:nvSpPr>
        <p:spPr>
          <a:xfrm>
            <a:off x="4358491" y="6363250"/>
            <a:ext cx="4443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Write business logic once.  Runtime decides how and where it executes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9C74D5-4E0D-9948-F0A1-7FD7D9A74804}"/>
              </a:ext>
            </a:extLst>
          </p:cNvPr>
          <p:cNvSpPr/>
          <p:nvPr/>
        </p:nvSpPr>
        <p:spPr>
          <a:xfrm>
            <a:off x="2804381" y="870421"/>
            <a:ext cx="6793514" cy="542916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</a:rPr>
              <a:t>Pseudo Code</a:t>
            </a:r>
          </a:p>
          <a:p>
            <a:endParaRPr lang="en-US"/>
          </a:p>
          <a:p>
            <a:r>
              <a:rPr lang="en-US" sz="1400">
                <a:latin typeface="Consolas" panose="020B0609020204030204" pitchFamily="49" charset="0"/>
              </a:rPr>
              <a:t># Select execution context</a:t>
            </a:r>
          </a:p>
          <a:p>
            <a:r>
              <a:rPr lang="en-US" sz="1400">
                <a:latin typeface="Consolas" panose="020B0609020204030204" pitchFamily="49" charset="0"/>
              </a:rPr>
              <a:t>runtime = </a:t>
            </a:r>
            <a:r>
              <a:rPr lang="en-US" sz="1400" err="1">
                <a:latin typeface="Consolas" panose="020B0609020204030204" pitchFamily="49" charset="0"/>
              </a:rPr>
              <a:t>RuntimeFrame.initialize</a:t>
            </a:r>
            <a:r>
              <a:rPr lang="en-US" sz="1400">
                <a:latin typeface="Consolas" panose="020B0609020204030204" pitchFamily="49" charset="0"/>
              </a:rPr>
              <a:t>(</a:t>
            </a:r>
          </a:p>
          <a:p>
            <a:pPr lvl="1"/>
            <a:r>
              <a:rPr lang="en-US" sz="1400" err="1">
                <a:latin typeface="Consolas" panose="020B0609020204030204" pitchFamily="49" charset="0"/>
              </a:rPr>
              <a:t>data_shape</a:t>
            </a:r>
            <a:r>
              <a:rPr lang="en-US" sz="1400">
                <a:latin typeface="Consolas" panose="020B0609020204030204" pitchFamily="49" charset="0"/>
              </a:rPr>
              <a:t>="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</a:rPr>
              <a:t>CDM1</a:t>
            </a:r>
            <a:r>
              <a:rPr lang="en-US" sz="1400">
                <a:latin typeface="Consolas" panose="020B0609020204030204" pitchFamily="49" charset="0"/>
              </a:rPr>
              <a:t>",    </a:t>
            </a:r>
          </a:p>
          <a:p>
            <a:pPr lvl="1"/>
            <a:r>
              <a:rPr lang="en-US" sz="1400" err="1">
                <a:latin typeface="Consolas" panose="020B0609020204030204" pitchFamily="49" charset="0"/>
              </a:rPr>
              <a:t>execution_mode</a:t>
            </a:r>
            <a:r>
              <a:rPr lang="en-US" sz="1400">
                <a:latin typeface="Consolas" panose="020B0609020204030204" pitchFamily="49" charset="0"/>
              </a:rPr>
              <a:t>="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</a:rPr>
              <a:t>heavy</a:t>
            </a:r>
            <a:r>
              <a:rPr lang="en-US" sz="1400">
                <a:latin typeface="Consolas" panose="020B0609020204030204" pitchFamily="49" charset="0"/>
              </a:rPr>
              <a:t>",      # light | heavy    </a:t>
            </a:r>
          </a:p>
          <a:p>
            <a:pPr lvl="1"/>
            <a:r>
              <a:rPr lang="en-US" sz="1400">
                <a:latin typeface="Consolas" panose="020B0609020204030204" pitchFamily="49" charset="0"/>
              </a:rPr>
              <a:t>engine="</a:t>
            </a:r>
            <a:r>
              <a:rPr lang="en-US" sz="1400">
                <a:solidFill>
                  <a:srgbClr val="00B050"/>
                </a:solidFill>
                <a:latin typeface="Consolas" panose="020B0609020204030204" pitchFamily="49" charset="0"/>
              </a:rPr>
              <a:t>spark</a:t>
            </a:r>
            <a:r>
              <a:rPr lang="en-US" sz="1400">
                <a:latin typeface="Consolas" panose="020B0609020204030204" pitchFamily="49" charset="0"/>
              </a:rPr>
              <a:t>“</a:t>
            </a:r>
          </a:p>
          <a:p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# Declare transformation pipeline (engine-agnostic)</a:t>
            </a:r>
          </a:p>
          <a:p>
            <a:r>
              <a:rPr lang="en-US" sz="1400">
                <a:latin typeface="Consolas" panose="020B0609020204030204" pitchFamily="49" charset="0"/>
              </a:rPr>
              <a:t>pipeline = </a:t>
            </a:r>
            <a:r>
              <a:rPr lang="en-US" sz="1400" err="1">
                <a:latin typeface="Consolas" panose="020B0609020204030204" pitchFamily="49" charset="0"/>
              </a:rPr>
              <a:t>DataPipeline.compose</a:t>
            </a:r>
            <a:r>
              <a:rPr lang="en-US" sz="1400">
                <a:latin typeface="Consolas" panose="020B0609020204030204" pitchFamily="49" charset="0"/>
              </a:rPr>
              <a:t>(</a:t>
            </a:r>
          </a:p>
          <a:p>
            <a:pPr lvl="1"/>
            <a:r>
              <a:rPr lang="en-US" sz="1400" err="1">
                <a:solidFill>
                  <a:srgbClr val="00B050"/>
                </a:solidFill>
                <a:latin typeface="Consolas" panose="020B0609020204030204" pitchFamily="49" charset="0"/>
              </a:rPr>
              <a:t>FilterService</a:t>
            </a:r>
            <a:r>
              <a:rPr lang="en-US" sz="1400">
                <a:latin typeface="Consolas" panose="020B0609020204030204" pitchFamily="49" charset="0"/>
              </a:rPr>
              <a:t>(spec=</a:t>
            </a:r>
            <a:r>
              <a:rPr lang="en-US" sz="1400" err="1">
                <a:latin typeface="Consolas" panose="020B0609020204030204" pitchFamily="49" charset="0"/>
              </a:rPr>
              <a:t>filter_spec</a:t>
            </a:r>
            <a:r>
              <a:rPr lang="en-US" sz="1400">
                <a:latin typeface="Consolas" panose="020B0609020204030204" pitchFamily="49" charset="0"/>
              </a:rPr>
              <a:t>),</a:t>
            </a:r>
          </a:p>
          <a:p>
            <a:pPr lvl="1"/>
            <a:r>
              <a:rPr lang="en-US" sz="1400" err="1">
                <a:solidFill>
                  <a:srgbClr val="00B050"/>
                </a:solidFill>
                <a:latin typeface="Consolas" panose="020B0609020204030204" pitchFamily="49" charset="0"/>
              </a:rPr>
              <a:t>CollibraDQService</a:t>
            </a:r>
            <a:r>
              <a:rPr lang="en-US" sz="1400">
                <a:latin typeface="Consolas" panose="020B0609020204030204" pitchFamily="49" charset="0"/>
              </a:rPr>
              <a:t>(spec=</a:t>
            </a:r>
            <a:r>
              <a:rPr lang="en-US" sz="1400" err="1">
                <a:latin typeface="Consolas" panose="020B0609020204030204" pitchFamily="49" charset="0"/>
              </a:rPr>
              <a:t>dq_spec</a:t>
            </a:r>
            <a:r>
              <a:rPr lang="en-US" sz="1400">
                <a:latin typeface="Consolas" panose="020B0609020204030204" pitchFamily="49" charset="0"/>
              </a:rPr>
              <a:t>),</a:t>
            </a:r>
          </a:p>
          <a:p>
            <a:pPr lvl="1"/>
            <a:r>
              <a:rPr lang="en-US" sz="1400" err="1">
                <a:solidFill>
                  <a:srgbClr val="00B050"/>
                </a:solidFill>
                <a:latin typeface="Consolas" panose="020B0609020204030204" pitchFamily="49" charset="0"/>
              </a:rPr>
              <a:t>AggregateService</a:t>
            </a:r>
            <a:r>
              <a:rPr lang="en-US" sz="1400">
                <a:latin typeface="Consolas" panose="020B0609020204030204" pitchFamily="49" charset="0"/>
              </a:rPr>
              <a:t>(spec=</a:t>
            </a:r>
            <a:r>
              <a:rPr lang="en-US" sz="1400" err="1">
                <a:latin typeface="Consolas" panose="020B0609020204030204" pitchFamily="49" charset="0"/>
              </a:rPr>
              <a:t>agg_spec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r>
              <a:rPr lang="en-US" sz="1400">
                <a:latin typeface="Consolas" panose="020B0609020204030204" pitchFamily="49" charset="0"/>
              </a:rPr>
              <a:t>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# Execute functional pipeline against runtime</a:t>
            </a:r>
          </a:p>
          <a:p>
            <a:r>
              <a:rPr lang="en-US" sz="1400">
                <a:latin typeface="Consolas" panose="020B0609020204030204" pitchFamily="49" charset="0"/>
              </a:rPr>
              <a:t>result = </a:t>
            </a:r>
            <a:r>
              <a:rPr lang="en-US" sz="1400" err="1">
                <a:latin typeface="Consolas" panose="020B0609020204030204" pitchFamily="49" charset="0"/>
              </a:rPr>
              <a:t>pipeline.execute</a:t>
            </a:r>
            <a:r>
              <a:rPr lang="en-US" sz="1400">
                <a:latin typeface="Consolas" panose="020B0609020204030204" pitchFamily="49" charset="0"/>
              </a:rPr>
              <a:t>(runtime)</a:t>
            </a:r>
          </a:p>
          <a:p>
            <a:endParaRPr lang="en-US" sz="1400">
              <a:latin typeface="Consolas" panose="020B0609020204030204" pitchFamily="49" charset="0"/>
            </a:endParaRPr>
          </a:p>
          <a:p>
            <a:r>
              <a:rPr lang="en-US" sz="1400">
                <a:latin typeface="Consolas" panose="020B0609020204030204" pitchFamily="49" charset="0"/>
              </a:rPr>
              <a:t># Persist or emit results</a:t>
            </a:r>
          </a:p>
          <a:p>
            <a:r>
              <a:rPr lang="en-US" sz="1400" err="1">
                <a:latin typeface="Consolas" panose="020B0609020204030204" pitchFamily="49" charset="0"/>
              </a:rPr>
              <a:t>result.publish</a:t>
            </a:r>
            <a:r>
              <a:rPr lang="en-US" sz="1400">
                <a:latin typeface="Consolas" panose="020B0609020204030204" pitchFamily="49" charset="0"/>
              </a:rPr>
              <a:t>(target=</a:t>
            </a:r>
            <a:r>
              <a:rPr lang="en-US" sz="1400" err="1">
                <a:latin typeface="Consolas" panose="020B0609020204030204" pitchFamily="49" charset="0"/>
              </a:rPr>
              <a:t>output_target</a:t>
            </a:r>
            <a:r>
              <a:rPr lang="en-US" sz="140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1054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9E6F-097D-CEDF-1856-AFBD9094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117295-6C43-B2F1-EB28-BA5158D40CA5}"/>
              </a:ext>
            </a:extLst>
          </p:cNvPr>
          <p:cNvSpPr/>
          <p:nvPr/>
        </p:nvSpPr>
        <p:spPr>
          <a:xfrm>
            <a:off x="7034539" y="3372258"/>
            <a:ext cx="4766958" cy="64830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33A96-74B4-5138-818A-4BA9FFE4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6389"/>
            <a:ext cx="10973272" cy="461765"/>
          </a:xfrm>
        </p:spPr>
        <p:txBody>
          <a:bodyPr>
            <a:normAutofit fontScale="90000"/>
          </a:bodyPr>
          <a:lstStyle/>
          <a:p>
            <a:r>
              <a:rPr lang="en-US">
                <a:latin typeface="Segoe UI Semibold"/>
                <a:cs typeface="Segoe UI Semibold"/>
              </a:rPr>
              <a:t>Lakehouse Conceptual Architecture Overview</a:t>
            </a:r>
            <a:br>
              <a:rPr lang="en-US">
                <a:latin typeface="Segoe UI Semibold"/>
                <a:cs typeface="Segoe UI Semibold"/>
              </a:rPr>
            </a:br>
            <a:r>
              <a:rPr lang="en-US" sz="2000">
                <a:latin typeface="Segoe UI Semibold"/>
                <a:cs typeface="Segoe UI Semibold"/>
              </a:rPr>
              <a:t>Detailed Consumption Flow</a:t>
            </a:r>
            <a:endParaRPr lang="en-US" sz="20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1DCE089-7C28-2E44-D34B-F5C94C42FE5B}"/>
              </a:ext>
            </a:extLst>
          </p:cNvPr>
          <p:cNvSpPr/>
          <p:nvPr/>
        </p:nvSpPr>
        <p:spPr>
          <a:xfrm>
            <a:off x="1" y="657616"/>
            <a:ext cx="4582115" cy="6197813"/>
          </a:xfrm>
          <a:custGeom>
            <a:avLst/>
            <a:gdLst>
              <a:gd name="csX0" fmla="*/ 0 w 3481493"/>
              <a:gd name="csY0" fmla="*/ 0 h 3507465"/>
              <a:gd name="csX1" fmla="*/ 185140 w 3481493"/>
              <a:gd name="csY1" fmla="*/ 0 h 3507465"/>
              <a:gd name="csX2" fmla="*/ 474134 w 3481493"/>
              <a:gd name="csY2" fmla="*/ 0 h 3507465"/>
              <a:gd name="csX3" fmla="*/ 3309899 w 3481493"/>
              <a:gd name="csY3" fmla="*/ 0 h 3507465"/>
              <a:gd name="csX4" fmla="*/ 3481493 w 3481493"/>
              <a:gd name="csY4" fmla="*/ 171594 h 3507465"/>
              <a:gd name="csX5" fmla="*/ 3481493 w 3481493"/>
              <a:gd name="csY5" fmla="*/ 3335871 h 3507465"/>
              <a:gd name="csX6" fmla="*/ 3309899 w 3481493"/>
              <a:gd name="csY6" fmla="*/ 3507465 h 3507465"/>
              <a:gd name="csX7" fmla="*/ 474134 w 3481493"/>
              <a:gd name="csY7" fmla="*/ 3507465 h 3507465"/>
              <a:gd name="csX8" fmla="*/ 185140 w 3481493"/>
              <a:gd name="csY8" fmla="*/ 3507465 h 3507465"/>
              <a:gd name="csX9" fmla="*/ 0 w 3481493"/>
              <a:gd name="csY9" fmla="*/ 3507465 h 3507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81493" h="3507465">
                <a:moveTo>
                  <a:pt x="0" y="0"/>
                </a:moveTo>
                <a:lnTo>
                  <a:pt x="185140" y="0"/>
                </a:lnTo>
                <a:lnTo>
                  <a:pt x="474134" y="0"/>
                </a:lnTo>
                <a:lnTo>
                  <a:pt x="3309899" y="0"/>
                </a:lnTo>
                <a:cubicBezTo>
                  <a:pt x="3404668" y="0"/>
                  <a:pt x="3481493" y="76825"/>
                  <a:pt x="3481493" y="171594"/>
                </a:cubicBezTo>
                <a:lnTo>
                  <a:pt x="3481493" y="3335871"/>
                </a:lnTo>
                <a:cubicBezTo>
                  <a:pt x="3481493" y="3430640"/>
                  <a:pt x="3404668" y="3507465"/>
                  <a:pt x="3309899" y="3507465"/>
                </a:cubicBezTo>
                <a:lnTo>
                  <a:pt x="474134" y="3507465"/>
                </a:lnTo>
                <a:lnTo>
                  <a:pt x="185140" y="3507465"/>
                </a:lnTo>
                <a:lnTo>
                  <a:pt x="0" y="350746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endParaRPr lang="en-US" sz="60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US" sz="1600" b="1">
                <a:solidFill>
                  <a:schemeClr val="tx2"/>
                </a:solidFill>
                <a:latin typeface="Aptos"/>
                <a:ea typeface="Calibri"/>
                <a:cs typeface="Calibri"/>
              </a:rPr>
              <a:t>Process Flow:</a:t>
            </a:r>
            <a:endParaRPr lang="en-US" sz="1600" b="1">
              <a:solidFill>
                <a:schemeClr val="tx2"/>
              </a:solidFill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000" b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Data Consumer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 requests Data from </a:t>
            </a:r>
            <a:r>
              <a:rPr lang="en-US" sz="1000" b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Router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 (</a:t>
            </a:r>
            <a:r>
              <a:rPr lang="en-US" sz="1000" err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Eventbridge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)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The Router triggers an Orchestration function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The trigger activates the Orchestrator with configuration in the service envelope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Orchestrator produces a services DAG (ordered list of services)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Orchestrator publishes message on Consumption Event Bus</a:t>
            </a:r>
            <a:br>
              <a:rPr lang="en-US" sz="1000">
                <a:latin typeface="Segoe UI Semilight"/>
                <a:ea typeface="Calibri"/>
                <a:cs typeface="Segoe UI Semilight"/>
              </a:rPr>
            </a:b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5b. Route Optimization Service listens for data product requests from 5, executes AI workflows on Bedrock and </a:t>
            </a:r>
            <a:r>
              <a:rPr lang="en-US" sz="1000" err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publishe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s any recommended optimized optimizations back to the bus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Data Product Service X receives message to instantiate based on the message configuration from 5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Data Product Service X retrieves list of services, constructed by Orchestrator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A service registry allows required services to be located and returned.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The message configuration will define whether the implementation type is Light or Heavy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If the configuration includes Collibra DQ, a message is sent to the bus, where a list of DQ rules bound to the configured dataset is returned by the Collibra DQ services via a restful API call to the Collibra DQ&amp;O instance (once the rules are executed by each Data Product Service, the results will be forwarded to DQ&amp;O vis the bus).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Any data required is retrieved from S3 and/or Athena Iceberg tables and loaded into memory (by implementation type) by the Data Product Service.  Each of the configured services are executed on the in-memory data.  After all of the services are complete, the payload is either saved to S3/Athena Iceberg tables (heavy) or packaged up in the status response message, which is published to the bus. As each service completes, updated event status are published to the bus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Data Product Service publishes technical details to CloudWatch logs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An orchestration feedback </a:t>
            </a:r>
            <a:r>
              <a:rPr lang="en-US" sz="1000" err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que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ue subscribes to the bus which is configured to forward to the Router (from 1), which is then stored to a </a:t>
            </a:r>
            <a:r>
              <a:rPr lang="en-US" sz="1000" err="1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persiste</a:t>
            </a: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nt store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rgbClr val="000000"/>
                </a:solidFill>
                <a:latin typeface="Segoe UI Semilight"/>
                <a:ea typeface="Calibri"/>
                <a:cs typeface="Segoe UI Semilight"/>
              </a:rPr>
              <a:t>Business auditable events (published to the bus by each Data Product Service) are published to Audit Log</a:t>
            </a:r>
          </a:p>
          <a:p>
            <a:pPr marL="342900" indent="-342900">
              <a:buAutoNum type="arabicPeriod"/>
            </a:pPr>
            <a:r>
              <a:rPr lang="en-US" sz="1000">
                <a:solidFill>
                  <a:schemeClr val="tx1"/>
                </a:solidFill>
                <a:latin typeface="Segoe UI Semilight"/>
                <a:ea typeface="Calibri"/>
                <a:cs typeface="Segoe UI Semilight"/>
              </a:rPr>
              <a:t>Any heavy requests are forwarded back to data consumer by a Consumption Response Service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4D54B0-CFB0-C072-9F48-78BF4E73546E}"/>
              </a:ext>
            </a:extLst>
          </p:cNvPr>
          <p:cNvSpPr/>
          <p:nvPr/>
        </p:nvSpPr>
        <p:spPr>
          <a:xfrm>
            <a:off x="5714421" y="3144515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0C2CA9CC-36D7-CDEF-509A-62460A5E55C1}"/>
              </a:ext>
            </a:extLst>
          </p:cNvPr>
          <p:cNvSpPr/>
          <p:nvPr/>
        </p:nvSpPr>
        <p:spPr>
          <a:xfrm>
            <a:off x="8483257" y="3156385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256" name="Picture 255" descr="A white line on a purple background&#10;&#10;AI-generated content may be incorrect.">
            <a:extLst>
              <a:ext uri="{FF2B5EF4-FFF2-40B4-BE49-F238E27FC236}">
                <a16:creationId xmlns:a16="http://schemas.microsoft.com/office/drawing/2014/main" id="{EDB94224-8ACA-2D2C-0EF6-921E45302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624" y="2879468"/>
            <a:ext cx="225656" cy="221737"/>
          </a:xfrm>
          <a:prstGeom prst="rect">
            <a:avLst/>
          </a:prstGeom>
        </p:spPr>
      </p:pic>
      <p:sp>
        <p:nvSpPr>
          <p:cNvPr id="267" name="Oval 266">
            <a:extLst>
              <a:ext uri="{FF2B5EF4-FFF2-40B4-BE49-F238E27FC236}">
                <a16:creationId xmlns:a16="http://schemas.microsoft.com/office/drawing/2014/main" id="{D5C879F0-29D4-FEB6-64F6-D399F288BB7A}"/>
              </a:ext>
            </a:extLst>
          </p:cNvPr>
          <p:cNvSpPr/>
          <p:nvPr/>
        </p:nvSpPr>
        <p:spPr>
          <a:xfrm>
            <a:off x="5177991" y="3144515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E2B3F4FD-027A-4884-AD41-6B8A97A2C5D4}"/>
              </a:ext>
            </a:extLst>
          </p:cNvPr>
          <p:cNvSpPr/>
          <p:nvPr/>
        </p:nvSpPr>
        <p:spPr>
          <a:xfrm>
            <a:off x="6243554" y="3147717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ECCFE31A-A8FF-7E51-214E-468ACAAAF9BA}"/>
              </a:ext>
            </a:extLst>
          </p:cNvPr>
          <p:cNvSpPr/>
          <p:nvPr/>
        </p:nvSpPr>
        <p:spPr>
          <a:xfrm>
            <a:off x="6620693" y="2752296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333722C0-9A82-1DB7-9043-0A63DBF7242A}"/>
              </a:ext>
            </a:extLst>
          </p:cNvPr>
          <p:cNvSpPr/>
          <p:nvPr/>
        </p:nvSpPr>
        <p:spPr>
          <a:xfrm>
            <a:off x="7521743" y="2804986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A0BECC38-5517-A55B-F4AF-7147B9444485}"/>
              </a:ext>
            </a:extLst>
          </p:cNvPr>
          <p:cNvSpPr/>
          <p:nvPr/>
        </p:nvSpPr>
        <p:spPr>
          <a:xfrm>
            <a:off x="8334651" y="2516049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9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871BAF0D-964F-3B7E-6BE8-6221CFC966C9}"/>
              </a:ext>
            </a:extLst>
          </p:cNvPr>
          <p:cNvSpPr/>
          <p:nvPr/>
        </p:nvSpPr>
        <p:spPr>
          <a:xfrm>
            <a:off x="10195650" y="4411444"/>
            <a:ext cx="455315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EC72DA82-1541-7EF9-5A06-ABA79DAA589B}"/>
              </a:ext>
            </a:extLst>
          </p:cNvPr>
          <p:cNvSpPr/>
          <p:nvPr/>
        </p:nvSpPr>
        <p:spPr>
          <a:xfrm>
            <a:off x="6790723" y="3146806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5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2C6790B-3058-E513-C6FD-3841000D7322}"/>
              </a:ext>
            </a:extLst>
          </p:cNvPr>
          <p:cNvGrpSpPr/>
          <p:nvPr/>
        </p:nvGrpSpPr>
        <p:grpSpPr>
          <a:xfrm>
            <a:off x="4789446" y="3377746"/>
            <a:ext cx="591221" cy="628840"/>
            <a:chOff x="4571732" y="3377746"/>
            <a:chExt cx="591221" cy="628840"/>
          </a:xfrm>
        </p:grpSpPr>
        <p:pic>
          <p:nvPicPr>
            <p:cNvPr id="6" name="Picture 5" descr="Actor | UML Use Case">
              <a:extLst>
                <a:ext uri="{FF2B5EF4-FFF2-40B4-BE49-F238E27FC236}">
                  <a16:creationId xmlns:a16="http://schemas.microsoft.com/office/drawing/2014/main" id="{FDE2378B-F2B8-4F1E-5E2B-520DBC5CB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4028" y="3377746"/>
              <a:ext cx="331579" cy="30282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16C608-AE08-0EBB-7BB6-EA30CB543CE4}"/>
                </a:ext>
              </a:extLst>
            </p:cNvPr>
            <p:cNvSpPr txBox="1"/>
            <p:nvPr/>
          </p:nvSpPr>
          <p:spPr>
            <a:xfrm>
              <a:off x="4571732" y="3698809"/>
              <a:ext cx="591221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Data</a:t>
              </a:r>
              <a:endParaRPr lang="en-US"/>
            </a:p>
            <a:p>
              <a:pPr algn="ctr"/>
              <a:r>
                <a:rPr lang="en-US" sz="700">
                  <a:ea typeface="Calibri"/>
                  <a:cs typeface="Calibri"/>
                </a:rPr>
                <a:t>Consumer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481BB81-4573-8FD3-87AD-6F340F7BFE0E}"/>
              </a:ext>
            </a:extLst>
          </p:cNvPr>
          <p:cNvSpPr txBox="1"/>
          <p:nvPr/>
        </p:nvSpPr>
        <p:spPr>
          <a:xfrm>
            <a:off x="9074010" y="3686000"/>
            <a:ext cx="6872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Consumption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Event Bus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815CD27-C59C-7FE3-AF41-B070ACED0F89}"/>
              </a:ext>
            </a:extLst>
          </p:cNvPr>
          <p:cNvGrpSpPr/>
          <p:nvPr/>
        </p:nvGrpSpPr>
        <p:grpSpPr>
          <a:xfrm>
            <a:off x="6275022" y="3415001"/>
            <a:ext cx="687272" cy="458247"/>
            <a:chOff x="6057308" y="3415001"/>
            <a:chExt cx="687272" cy="458247"/>
          </a:xfrm>
        </p:grpSpPr>
        <p:pic>
          <p:nvPicPr>
            <p:cNvPr id="11" name="Picture 10" descr="A white line drawing of a diagram&#10;&#10;AI-generated content may be incorrect.">
              <a:extLst>
                <a:ext uri="{FF2B5EF4-FFF2-40B4-BE49-F238E27FC236}">
                  <a16:creationId xmlns:a16="http://schemas.microsoft.com/office/drawing/2014/main" id="{7955D60D-AD0A-0161-E808-FDBE041CF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8443" y="3415001"/>
              <a:ext cx="185247" cy="22668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877BB7-DD72-1EC1-98DC-6134F68BB207}"/>
                </a:ext>
              </a:extLst>
            </p:cNvPr>
            <p:cNvSpPr txBox="1"/>
            <p:nvPr/>
          </p:nvSpPr>
          <p:spPr>
            <a:xfrm>
              <a:off x="6057308" y="3673193"/>
              <a:ext cx="687272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Orchestrator</a:t>
              </a:r>
              <a:endParaRPr lang="en-US">
                <a:ea typeface="Calibri"/>
                <a:cs typeface="Calibri"/>
              </a:endParaRPr>
            </a:p>
          </p:txBody>
        </p:sp>
      </p:grpSp>
      <p:pic>
        <p:nvPicPr>
          <p:cNvPr id="15" name="Picture 14" descr="A white line drawing of a funnel and a circle with dots&#10;&#10;AI-generated content may be incorrect.">
            <a:extLst>
              <a:ext uri="{FF2B5EF4-FFF2-40B4-BE49-F238E27FC236}">
                <a16:creationId xmlns:a16="http://schemas.microsoft.com/office/drawing/2014/main" id="{0DC708E7-5A23-AF13-B14E-714C46448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732" y="3430281"/>
            <a:ext cx="215154" cy="219329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5CD6D3DA-0572-5B44-FE39-A4DA9D5F5CEC}"/>
              </a:ext>
            </a:extLst>
          </p:cNvPr>
          <p:cNvGrpSpPr/>
          <p:nvPr/>
        </p:nvGrpSpPr>
        <p:grpSpPr>
          <a:xfrm>
            <a:off x="5220604" y="3425403"/>
            <a:ext cx="687272" cy="460651"/>
            <a:chOff x="4955931" y="3425403"/>
            <a:chExt cx="687272" cy="460651"/>
          </a:xfrm>
        </p:grpSpPr>
        <p:pic>
          <p:nvPicPr>
            <p:cNvPr id="234" name="Picture 233" descr="A white lines on a pink background&#10;&#10;AI-generated content may be incorrect.">
              <a:extLst>
                <a:ext uri="{FF2B5EF4-FFF2-40B4-BE49-F238E27FC236}">
                  <a16:creationId xmlns:a16="http://schemas.microsoft.com/office/drawing/2014/main" id="{CD6C140A-4D6B-8910-486F-61ECA35AD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04375" y="3425403"/>
              <a:ext cx="194342" cy="22573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821EC9-488E-0EFB-F36C-546224F771C3}"/>
                </a:ext>
              </a:extLst>
            </p:cNvPr>
            <p:cNvSpPr txBox="1"/>
            <p:nvPr/>
          </p:nvSpPr>
          <p:spPr>
            <a:xfrm>
              <a:off x="4955931" y="3685999"/>
              <a:ext cx="687272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Router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579F47-9862-80C6-1AF3-9EFA841D1C63}"/>
              </a:ext>
            </a:extLst>
          </p:cNvPr>
          <p:cNvGrpSpPr/>
          <p:nvPr/>
        </p:nvGrpSpPr>
        <p:grpSpPr>
          <a:xfrm>
            <a:off x="5747813" y="3442146"/>
            <a:ext cx="687270" cy="538825"/>
            <a:chOff x="5448992" y="3442146"/>
            <a:chExt cx="687270" cy="538825"/>
          </a:xfrm>
        </p:grpSpPr>
        <p:pic>
          <p:nvPicPr>
            <p:cNvPr id="19" name="Picture 18" descr="A white line on an orange background&#10;&#10;AI-generated content may be incorrect.">
              <a:extLst>
                <a:ext uri="{FF2B5EF4-FFF2-40B4-BE49-F238E27FC236}">
                  <a16:creationId xmlns:a16="http://schemas.microsoft.com/office/drawing/2014/main" id="{8D8466A5-A056-822C-34F9-84C706DC1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7739" y="3442146"/>
              <a:ext cx="208182" cy="20978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43231B-28F3-FB0F-184F-9BC002FD780A}"/>
                </a:ext>
              </a:extLst>
            </p:cNvPr>
            <p:cNvSpPr txBox="1"/>
            <p:nvPr/>
          </p:nvSpPr>
          <p:spPr>
            <a:xfrm>
              <a:off x="5448992" y="3673194"/>
              <a:ext cx="68727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Trigger</a:t>
              </a:r>
              <a:endParaRPr lang="en-US">
                <a:ea typeface="Calibri"/>
                <a:cs typeface="Calibri"/>
              </a:endParaRPr>
            </a:p>
            <a:p>
              <a:pPr algn="ctr"/>
              <a:r>
                <a:rPr lang="en-US" sz="700">
                  <a:ea typeface="Calibri"/>
                  <a:cs typeface="Calibri"/>
                </a:rPr>
                <a:t>Orchestration</a:t>
              </a:r>
            </a:p>
          </p:txBody>
        </p:sp>
      </p:grpSp>
      <p:pic>
        <p:nvPicPr>
          <p:cNvPr id="22" name="Picture 21" descr="A white logo with arrows&#10;&#10;AI-generated content may be incorrect.">
            <a:extLst>
              <a:ext uri="{FF2B5EF4-FFF2-40B4-BE49-F238E27FC236}">
                <a16:creationId xmlns:a16="http://schemas.microsoft.com/office/drawing/2014/main" id="{7C3E1EB5-515C-8D86-5EA3-F55D83A1C2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0895" y="4237104"/>
            <a:ext cx="215153" cy="22048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87D857-77DA-7412-DD16-CDAE5F8F2637}"/>
              </a:ext>
            </a:extLst>
          </p:cNvPr>
          <p:cNvSpPr txBox="1"/>
          <p:nvPr/>
        </p:nvSpPr>
        <p:spPr>
          <a:xfrm>
            <a:off x="8087172" y="4454401"/>
            <a:ext cx="68727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Orchestrator</a:t>
            </a:r>
            <a:endParaRPr lang="en-US"/>
          </a:p>
          <a:p>
            <a:pPr algn="ctr"/>
            <a:r>
              <a:rPr lang="en-US" sz="700">
                <a:ea typeface="Calibri"/>
                <a:cs typeface="Calibri"/>
              </a:rPr>
              <a:t>Feedback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Queue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5BDA28-67EA-E73C-F732-96515268B905}"/>
              </a:ext>
            </a:extLst>
          </p:cNvPr>
          <p:cNvSpPr txBox="1"/>
          <p:nvPr/>
        </p:nvSpPr>
        <p:spPr>
          <a:xfrm>
            <a:off x="8420146" y="2584619"/>
            <a:ext cx="8153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Data Product 1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Service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DB4D610-555C-FB07-DD37-74FC67C09918}"/>
              </a:ext>
            </a:extLst>
          </p:cNvPr>
          <p:cNvGrpSpPr/>
          <p:nvPr/>
        </p:nvGrpSpPr>
        <p:grpSpPr>
          <a:xfrm>
            <a:off x="8304885" y="1777795"/>
            <a:ext cx="1084279" cy="717295"/>
            <a:chOff x="8087171" y="1777795"/>
            <a:chExt cx="1084279" cy="71729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8C1E08C-79B7-D860-C1A4-34EDBD03EB1B}"/>
                </a:ext>
              </a:extLst>
            </p:cNvPr>
            <p:cNvSpPr/>
            <p:nvPr/>
          </p:nvSpPr>
          <p:spPr>
            <a:xfrm>
              <a:off x="8217577" y="1987044"/>
              <a:ext cx="815932" cy="5080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 descr="pandas - Python Data Analysis Library">
              <a:extLst>
                <a:ext uri="{FF2B5EF4-FFF2-40B4-BE49-F238E27FC236}">
                  <a16:creationId xmlns:a16="http://schemas.microsoft.com/office/drawing/2014/main" id="{D975F04C-15F3-2845-D602-21F56220F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01438" y="2202315"/>
              <a:ext cx="295596" cy="217519"/>
            </a:xfrm>
            <a:prstGeom prst="rect">
              <a:avLst/>
            </a:prstGeom>
          </p:spPr>
        </p:pic>
        <p:pic>
          <p:nvPicPr>
            <p:cNvPr id="29" name="Picture 28" descr="apache spark Sticker">
              <a:extLst>
                <a:ext uri="{FF2B5EF4-FFF2-40B4-BE49-F238E27FC236}">
                  <a16:creationId xmlns:a16="http://schemas.microsoft.com/office/drawing/2014/main" id="{5DAD086B-2CC3-806D-1827-1C6C9787E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98366" y="2211681"/>
              <a:ext cx="238125" cy="21907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F7B3A3-7FBF-739C-A973-0231EC1E1A91}"/>
                </a:ext>
              </a:extLst>
            </p:cNvPr>
            <p:cNvSpPr txBox="1"/>
            <p:nvPr/>
          </p:nvSpPr>
          <p:spPr>
            <a:xfrm>
              <a:off x="8208835" y="2040332"/>
              <a:ext cx="437540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Light</a:t>
              </a:r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87BC3E-CBDC-6EC1-95EC-38EC1D0E3C75}"/>
                </a:ext>
              </a:extLst>
            </p:cNvPr>
            <p:cNvSpPr txBox="1"/>
            <p:nvPr/>
          </p:nvSpPr>
          <p:spPr>
            <a:xfrm>
              <a:off x="8599439" y="2040330"/>
              <a:ext cx="437540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Heavy</a:t>
              </a:r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EE092C5-4FA7-3C00-8223-5410F4539585}"/>
                </a:ext>
              </a:extLst>
            </p:cNvPr>
            <p:cNvSpPr txBox="1"/>
            <p:nvPr/>
          </p:nvSpPr>
          <p:spPr>
            <a:xfrm>
              <a:off x="8087171" y="1777795"/>
              <a:ext cx="1084279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Implementation Type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7275D56-C278-2151-E45C-50809DE455A6}"/>
              </a:ext>
            </a:extLst>
          </p:cNvPr>
          <p:cNvGrpSpPr/>
          <p:nvPr/>
        </p:nvGrpSpPr>
        <p:grpSpPr>
          <a:xfrm>
            <a:off x="7126668" y="1732970"/>
            <a:ext cx="1385236" cy="774926"/>
            <a:chOff x="6908954" y="1732970"/>
            <a:chExt cx="1385236" cy="77492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3EFCC06-EC2E-12F0-7AB9-5FD64BC9A3DE}"/>
                </a:ext>
              </a:extLst>
            </p:cNvPr>
            <p:cNvSpPr/>
            <p:nvPr/>
          </p:nvSpPr>
          <p:spPr>
            <a:xfrm>
              <a:off x="7109796" y="1993447"/>
              <a:ext cx="969611" cy="5144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9" name="Picture 258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FA78F0DC-DBD7-449E-4FBA-4F5C7CE94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42335" y="2246526"/>
              <a:ext cx="226979" cy="22611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25232D-1770-AD20-93EF-7024CD0911AF}"/>
                </a:ext>
              </a:extLst>
            </p:cNvPr>
            <p:cNvSpPr txBox="1"/>
            <p:nvPr/>
          </p:nvSpPr>
          <p:spPr>
            <a:xfrm>
              <a:off x="6908954" y="1989107"/>
              <a:ext cx="81533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Service</a:t>
              </a:r>
              <a:endParaRPr lang="en-US">
                <a:ea typeface="Calibri"/>
                <a:cs typeface="Calibri"/>
              </a:endParaRPr>
            </a:p>
            <a:p>
              <a:pPr algn="ctr"/>
              <a:r>
                <a:rPr lang="en-US" sz="700">
                  <a:ea typeface="Calibri"/>
                  <a:cs typeface="Calibri"/>
                </a:rPr>
                <a:t>Library</a:t>
              </a:r>
              <a:endParaRPr lang="en-US">
                <a:ea typeface="Calibri"/>
                <a:cs typeface="Calibri"/>
              </a:endParaRPr>
            </a:p>
          </p:txBody>
        </p:sp>
        <p:pic>
          <p:nvPicPr>
            <p:cNvPr id="26" name="Picture 25" descr="A white line drawing of a stack of coins with lightning bolt&#10;&#10;AI-generated content may be incorrect.">
              <a:extLst>
                <a:ext uri="{FF2B5EF4-FFF2-40B4-BE49-F238E27FC236}">
                  <a16:creationId xmlns:a16="http://schemas.microsoft.com/office/drawing/2014/main" id="{FB928238-3486-8202-19AB-16A87FA8E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94171" y="2271272"/>
              <a:ext cx="183137" cy="18672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C5F8FE-AA0F-B1E5-23F8-B7EAF4F6DC05}"/>
                </a:ext>
              </a:extLst>
            </p:cNvPr>
            <p:cNvSpPr txBox="1"/>
            <p:nvPr/>
          </p:nvSpPr>
          <p:spPr>
            <a:xfrm>
              <a:off x="7478852" y="1989106"/>
              <a:ext cx="81533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Service</a:t>
              </a:r>
              <a:endParaRPr lang="en-US">
                <a:ea typeface="Calibri"/>
                <a:cs typeface="Calibri"/>
              </a:endParaRPr>
            </a:p>
            <a:p>
              <a:pPr algn="ctr"/>
              <a:r>
                <a:rPr lang="en-US" sz="700">
                  <a:ea typeface="Calibri"/>
                  <a:cs typeface="Calibri"/>
                </a:rPr>
                <a:t>Registry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AAD5B4-1478-2280-D3B1-486CE8558D89}"/>
                </a:ext>
              </a:extLst>
            </p:cNvPr>
            <p:cNvSpPr txBox="1"/>
            <p:nvPr/>
          </p:nvSpPr>
          <p:spPr>
            <a:xfrm>
              <a:off x="7049825" y="1732970"/>
              <a:ext cx="1084279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Common / Custom Services</a:t>
              </a:r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04AF925-3EF3-716D-268B-E657BA11C12E}"/>
              </a:ext>
            </a:extLst>
          </p:cNvPr>
          <p:cNvGrpSpPr/>
          <p:nvPr/>
        </p:nvGrpSpPr>
        <p:grpSpPr>
          <a:xfrm>
            <a:off x="9284598" y="1790601"/>
            <a:ext cx="1084279" cy="717295"/>
            <a:chOff x="9066884" y="1790601"/>
            <a:chExt cx="1084279" cy="7172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EAEF4A-583F-7CBD-8DC9-EC18A8E50BB8}"/>
                </a:ext>
              </a:extLst>
            </p:cNvPr>
            <p:cNvSpPr/>
            <p:nvPr/>
          </p:nvSpPr>
          <p:spPr>
            <a:xfrm>
              <a:off x="9197290" y="1999850"/>
              <a:ext cx="815932" cy="5080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4" name="Picture 243" descr="A logo of a bucket and a magnifying glass&#10;&#10;AI-generated content may be incorrect.">
              <a:extLst>
                <a:ext uri="{FF2B5EF4-FFF2-40B4-BE49-F238E27FC236}">
                  <a16:creationId xmlns:a16="http://schemas.microsoft.com/office/drawing/2014/main" id="{2C8BC8AE-5F46-9CC3-0146-B5B5C7731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696196" y="2163434"/>
              <a:ext cx="209037" cy="209925"/>
            </a:xfrm>
            <a:prstGeom prst="rect">
              <a:avLst/>
            </a:prstGeom>
          </p:spPr>
        </p:pic>
        <p:pic>
          <p:nvPicPr>
            <p:cNvPr id="245" name="Picture 244" descr="A white line on a green background&#10;&#10;AI-generated content may be incorrect.">
              <a:extLst>
                <a:ext uri="{FF2B5EF4-FFF2-40B4-BE49-F238E27FC236}">
                  <a16:creationId xmlns:a16="http://schemas.microsoft.com/office/drawing/2014/main" id="{9AD3698B-770E-5797-9992-1A9C74503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313176" y="2163867"/>
              <a:ext cx="229141" cy="22287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E2B77A-76D5-10F5-0FAC-E74659E4FF13}"/>
                </a:ext>
              </a:extLst>
            </p:cNvPr>
            <p:cNvSpPr txBox="1"/>
            <p:nvPr/>
          </p:nvSpPr>
          <p:spPr>
            <a:xfrm>
              <a:off x="9066884" y="1790601"/>
              <a:ext cx="1084279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Data Reading / Writing</a:t>
              </a:r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54048A-44A7-185B-E8AE-231E5D99D941}"/>
                </a:ext>
              </a:extLst>
            </p:cNvPr>
            <p:cNvSpPr txBox="1"/>
            <p:nvPr/>
          </p:nvSpPr>
          <p:spPr>
            <a:xfrm>
              <a:off x="9194952" y="1995508"/>
              <a:ext cx="463153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S3 Data</a:t>
              </a:r>
              <a:endParaRPr lang="en-US" err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8AECF9B-4918-FA2A-834A-26C5C5148165}"/>
                </a:ext>
              </a:extLst>
            </p:cNvPr>
            <p:cNvSpPr txBox="1"/>
            <p:nvPr/>
          </p:nvSpPr>
          <p:spPr>
            <a:xfrm>
              <a:off x="9553539" y="1995505"/>
              <a:ext cx="437540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SQL</a:t>
              </a:r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BB83293-EE68-8C8F-1523-40EBD6F43490}"/>
              </a:ext>
            </a:extLst>
          </p:cNvPr>
          <p:cNvGrpSpPr/>
          <p:nvPr/>
        </p:nvGrpSpPr>
        <p:grpSpPr>
          <a:xfrm>
            <a:off x="5999672" y="1841827"/>
            <a:ext cx="1084279" cy="672472"/>
            <a:chOff x="5781958" y="2520583"/>
            <a:chExt cx="1084279" cy="67247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182DEB-C6AB-CBF2-CA3B-0E4F7AC05FF3}"/>
                </a:ext>
              </a:extLst>
            </p:cNvPr>
            <p:cNvSpPr/>
            <p:nvPr/>
          </p:nvSpPr>
          <p:spPr>
            <a:xfrm>
              <a:off x="5841929" y="2678606"/>
              <a:ext cx="969611" cy="5144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 descr="A white line drawing of a stack of coins with lightning bolt&#10;&#10;AI-generated content may be incorrect.">
              <a:extLst>
                <a:ext uri="{FF2B5EF4-FFF2-40B4-BE49-F238E27FC236}">
                  <a16:creationId xmlns:a16="http://schemas.microsoft.com/office/drawing/2014/main" id="{6881C250-343C-F33E-61F2-3511E671E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91834" y="2816282"/>
              <a:ext cx="215153" cy="217664"/>
            </a:xfrm>
            <a:prstGeom prst="rect">
              <a:avLst/>
            </a:prstGeom>
          </p:spPr>
        </p:pic>
        <p:pic>
          <p:nvPicPr>
            <p:cNvPr id="45" name="Picture 44" descr="A white line on a green background&#10;&#10;AI-generated content may be incorrect.">
              <a:extLst>
                <a:ext uri="{FF2B5EF4-FFF2-40B4-BE49-F238E27FC236}">
                  <a16:creationId xmlns:a16="http://schemas.microsoft.com/office/drawing/2014/main" id="{226181E2-3DAC-8D4A-8973-838F3F16B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009041" y="2813081"/>
              <a:ext cx="229141" cy="222872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DFCA74-7743-B3A6-A7E9-7BF25C5201D3}"/>
                </a:ext>
              </a:extLst>
            </p:cNvPr>
            <p:cNvSpPr txBox="1"/>
            <p:nvPr/>
          </p:nvSpPr>
          <p:spPr>
            <a:xfrm>
              <a:off x="5781958" y="2520583"/>
              <a:ext cx="1084279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 Services DAG</a:t>
              </a:r>
              <a:endParaRPr lang="en-US"/>
            </a:p>
          </p:txBody>
        </p:sp>
      </p:grpSp>
      <p:pic>
        <p:nvPicPr>
          <p:cNvPr id="48" name="Picture 47" descr="A white outline of a cloud with a magnifying glass&#10;&#10;AI-generated content may be incorrect.">
            <a:extLst>
              <a:ext uri="{FF2B5EF4-FFF2-40B4-BE49-F238E27FC236}">
                <a16:creationId xmlns:a16="http://schemas.microsoft.com/office/drawing/2014/main" id="{8E7ECB74-B063-4BC8-E710-0FF2F6C85D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7028" y="2879592"/>
            <a:ext cx="215153" cy="22048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B943642-9279-2304-265E-BA885D36A41E}"/>
              </a:ext>
            </a:extLst>
          </p:cNvPr>
          <p:cNvSpPr txBox="1"/>
          <p:nvPr/>
        </p:nvSpPr>
        <p:spPr>
          <a:xfrm>
            <a:off x="9143725" y="2725492"/>
            <a:ext cx="815340" cy="200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Technical Logs</a:t>
            </a:r>
            <a:endParaRPr lang="en-US"/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3268B66-4C1D-9E53-7FBC-708B5BA70E46}"/>
              </a:ext>
            </a:extLst>
          </p:cNvPr>
          <p:cNvCxnSpPr/>
          <p:nvPr/>
        </p:nvCxnSpPr>
        <p:spPr>
          <a:xfrm>
            <a:off x="5169620" y="3569970"/>
            <a:ext cx="247003" cy="4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7A27BCD8-D995-305D-E6BA-573A674D404E}"/>
              </a:ext>
            </a:extLst>
          </p:cNvPr>
          <p:cNvCxnSpPr>
            <a:cxnSpLocks/>
          </p:cNvCxnSpPr>
          <p:nvPr/>
        </p:nvCxnSpPr>
        <p:spPr>
          <a:xfrm>
            <a:off x="5707501" y="3569969"/>
            <a:ext cx="247003" cy="4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FAB941E-0718-5580-E5B4-46B31C2D4F8F}"/>
              </a:ext>
            </a:extLst>
          </p:cNvPr>
          <p:cNvCxnSpPr>
            <a:cxnSpLocks/>
          </p:cNvCxnSpPr>
          <p:nvPr/>
        </p:nvCxnSpPr>
        <p:spPr>
          <a:xfrm>
            <a:off x="6219771" y="3569969"/>
            <a:ext cx="247003" cy="4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5582745A-E107-9DA9-32E8-CB815D9144CA}"/>
              </a:ext>
            </a:extLst>
          </p:cNvPr>
          <p:cNvCxnSpPr>
            <a:cxnSpLocks/>
          </p:cNvCxnSpPr>
          <p:nvPr/>
        </p:nvCxnSpPr>
        <p:spPr>
          <a:xfrm>
            <a:off x="6738443" y="3569969"/>
            <a:ext cx="247003" cy="4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E67CFBC-90EB-3F59-5938-97BA3EC10C5E}"/>
              </a:ext>
            </a:extLst>
          </p:cNvPr>
          <p:cNvCxnSpPr>
            <a:cxnSpLocks/>
          </p:cNvCxnSpPr>
          <p:nvPr/>
        </p:nvCxnSpPr>
        <p:spPr>
          <a:xfrm flipH="1" flipV="1">
            <a:off x="6588438" y="2540853"/>
            <a:ext cx="9131" cy="869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D825B8F-B03F-7964-4573-04152CDDACD6}"/>
              </a:ext>
            </a:extLst>
          </p:cNvPr>
          <p:cNvCxnSpPr>
            <a:cxnSpLocks/>
          </p:cNvCxnSpPr>
          <p:nvPr/>
        </p:nvCxnSpPr>
        <p:spPr>
          <a:xfrm flipH="1" flipV="1">
            <a:off x="7837091" y="2508835"/>
            <a:ext cx="867182" cy="484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5F2C4EDC-09DD-4E7F-0509-135D56C15A82}"/>
              </a:ext>
            </a:extLst>
          </p:cNvPr>
          <p:cNvCxnSpPr>
            <a:cxnSpLocks/>
          </p:cNvCxnSpPr>
          <p:nvPr/>
        </p:nvCxnSpPr>
        <p:spPr>
          <a:xfrm>
            <a:off x="8829465" y="2511939"/>
            <a:ext cx="3676" cy="136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DA8E415-828F-6A73-6494-6AA32CBD9156}"/>
              </a:ext>
            </a:extLst>
          </p:cNvPr>
          <p:cNvCxnSpPr>
            <a:cxnSpLocks/>
          </p:cNvCxnSpPr>
          <p:nvPr/>
        </p:nvCxnSpPr>
        <p:spPr>
          <a:xfrm>
            <a:off x="8947602" y="2987262"/>
            <a:ext cx="454214" cy="41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76B644EB-60D4-493C-A7B9-13995545E1A8}"/>
              </a:ext>
            </a:extLst>
          </p:cNvPr>
          <p:cNvCxnSpPr/>
          <p:nvPr/>
        </p:nvCxnSpPr>
        <p:spPr>
          <a:xfrm flipV="1">
            <a:off x="8957746" y="2505319"/>
            <a:ext cx="434879" cy="35728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21B016E-1856-A20D-A147-ED658EE8D93C}"/>
              </a:ext>
            </a:extLst>
          </p:cNvPr>
          <p:cNvCxnSpPr>
            <a:cxnSpLocks/>
          </p:cNvCxnSpPr>
          <p:nvPr/>
        </p:nvCxnSpPr>
        <p:spPr>
          <a:xfrm flipV="1">
            <a:off x="8829678" y="3095707"/>
            <a:ext cx="1754" cy="27276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7D7A9E5-4E3C-880D-AF00-025AEE78E41A}"/>
              </a:ext>
            </a:extLst>
          </p:cNvPr>
          <p:cNvGrpSpPr/>
          <p:nvPr/>
        </p:nvGrpSpPr>
        <p:grpSpPr>
          <a:xfrm>
            <a:off x="7030618" y="4761480"/>
            <a:ext cx="924196" cy="671915"/>
            <a:chOff x="6812904" y="4223598"/>
            <a:chExt cx="924196" cy="671915"/>
          </a:xfrm>
        </p:grpSpPr>
        <p:pic>
          <p:nvPicPr>
            <p:cNvPr id="278" name="Picture 277" descr="A white line on an orange background&#10;&#10;AI-generated content may be incorrect.">
              <a:extLst>
                <a:ext uri="{FF2B5EF4-FFF2-40B4-BE49-F238E27FC236}">
                  <a16:creationId xmlns:a16="http://schemas.microsoft.com/office/drawing/2014/main" id="{F12B8615-9436-ED37-E1CB-69627C529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84461" y="4223598"/>
              <a:ext cx="208182" cy="20978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274B7F-D2E7-33FD-C5FA-18F6E84B0276}"/>
                </a:ext>
              </a:extLst>
            </p:cNvPr>
            <p:cNvSpPr txBox="1"/>
            <p:nvPr/>
          </p:nvSpPr>
          <p:spPr>
            <a:xfrm>
              <a:off x="6812904" y="4480015"/>
              <a:ext cx="924196" cy="4154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Consumption Response</a:t>
              </a:r>
            </a:p>
            <a:p>
              <a:pPr algn="ctr"/>
              <a:r>
                <a:rPr lang="en-US" sz="700">
                  <a:ea typeface="Calibri"/>
                  <a:cs typeface="Calibri"/>
                </a:rPr>
                <a:t>Service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2BDE15F-C725-7CC1-0556-0AA38E119883}"/>
              </a:ext>
            </a:extLst>
          </p:cNvPr>
          <p:cNvGrpSpPr/>
          <p:nvPr/>
        </p:nvGrpSpPr>
        <p:grpSpPr>
          <a:xfrm>
            <a:off x="9583277" y="4216290"/>
            <a:ext cx="921796" cy="1144730"/>
            <a:chOff x="8238571" y="4216290"/>
            <a:chExt cx="921796" cy="1144730"/>
          </a:xfrm>
        </p:grpSpPr>
        <p:pic>
          <p:nvPicPr>
            <p:cNvPr id="253" name="Picture 252" descr="A white line on an orange background&#10;&#10;AI-generated content may be incorrect.">
              <a:extLst>
                <a:ext uri="{FF2B5EF4-FFF2-40B4-BE49-F238E27FC236}">
                  <a16:creationId xmlns:a16="http://schemas.microsoft.com/office/drawing/2014/main" id="{6F2CE1B9-5828-67EA-39C0-457A38BE0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97907" y="4216290"/>
              <a:ext cx="228023" cy="224387"/>
            </a:xfrm>
            <a:prstGeom prst="rect">
              <a:avLst/>
            </a:prstGeom>
          </p:spPr>
        </p:pic>
        <p:pic>
          <p:nvPicPr>
            <p:cNvPr id="261" name="Picture 260" descr="Data Quality &amp; Observability | Collibra">
              <a:extLst>
                <a:ext uri="{FF2B5EF4-FFF2-40B4-BE49-F238E27FC236}">
                  <a16:creationId xmlns:a16="http://schemas.microsoft.com/office/drawing/2014/main" id="{B9E82AD0-BEDB-B024-D498-2DFC68D2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497907" y="5005024"/>
              <a:ext cx="228276" cy="223737"/>
            </a:xfrm>
            <a:prstGeom prst="rect">
              <a:avLst/>
            </a:prstGeom>
          </p:spPr>
        </p:pic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724950E9-73D6-AA47-D17E-8F85CA00DCBD}"/>
                </a:ext>
              </a:extLst>
            </p:cNvPr>
            <p:cNvSpPr txBox="1"/>
            <p:nvPr/>
          </p:nvSpPr>
          <p:spPr>
            <a:xfrm>
              <a:off x="8238571" y="5160965"/>
              <a:ext cx="744578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Collibra DQ&amp;O</a:t>
              </a:r>
            </a:p>
          </p:txBody>
        </p: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68661242-6E82-C542-F7BE-E922750FBDA6}"/>
                </a:ext>
              </a:extLst>
            </p:cNvPr>
            <p:cNvCxnSpPr>
              <a:cxnSpLocks/>
            </p:cNvCxnSpPr>
            <p:nvPr/>
          </p:nvCxnSpPr>
          <p:spPr>
            <a:xfrm>
              <a:off x="8606764" y="4665204"/>
              <a:ext cx="11930" cy="336561"/>
            </a:xfrm>
            <a:prstGeom prst="straightConnector1">
              <a:avLst/>
            </a:prstGeom>
            <a:ln>
              <a:solidFill>
                <a:schemeClr val="accent6">
                  <a:lumMod val="1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E2F5D9EC-FCB4-C861-FB4E-7286067CB820}"/>
                </a:ext>
              </a:extLst>
            </p:cNvPr>
            <p:cNvSpPr txBox="1"/>
            <p:nvPr/>
          </p:nvSpPr>
          <p:spPr>
            <a:xfrm>
              <a:off x="8415789" y="4735943"/>
              <a:ext cx="744578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Rest API</a:t>
              </a:r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B27662A-8EA7-E758-57BD-FA849A98466B}"/>
                </a:ext>
              </a:extLst>
            </p:cNvPr>
            <p:cNvSpPr txBox="1"/>
            <p:nvPr/>
          </p:nvSpPr>
          <p:spPr>
            <a:xfrm>
              <a:off x="8270587" y="4441595"/>
              <a:ext cx="687272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Collibra DQ</a:t>
              </a:r>
              <a:endParaRPr lang="en-US">
                <a:ea typeface="Calibri"/>
                <a:cs typeface="Calibri"/>
              </a:endParaRPr>
            </a:p>
            <a:p>
              <a:pPr algn="ctr"/>
              <a:r>
                <a:rPr lang="en-US" sz="700">
                  <a:ea typeface="Calibri"/>
                  <a:cs typeface="Calibri"/>
                </a:rPr>
                <a:t>Service</a:t>
              </a:r>
            </a:p>
          </p:txBody>
        </p:sp>
      </p:grp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BFFD8C6E-69EC-9EE3-7D67-9DEFD800D89C}"/>
              </a:ext>
            </a:extLst>
          </p:cNvPr>
          <p:cNvCxnSpPr>
            <a:cxnSpLocks/>
          </p:cNvCxnSpPr>
          <p:nvPr/>
        </p:nvCxnSpPr>
        <p:spPr>
          <a:xfrm flipV="1">
            <a:off x="9954672" y="4044171"/>
            <a:ext cx="1754" cy="1823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7" name="Picture 256" descr="A white line on an orange background&#10;&#10;AI-generated content may be incorrect.">
            <a:extLst>
              <a:ext uri="{FF2B5EF4-FFF2-40B4-BE49-F238E27FC236}">
                <a16:creationId xmlns:a16="http://schemas.microsoft.com/office/drawing/2014/main" id="{220A8F09-68F6-0AC5-F39B-925A98962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9474" y="4223357"/>
            <a:ext cx="208182" cy="20978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436CEBC-B440-7E98-8917-E401D920632E}"/>
              </a:ext>
            </a:extLst>
          </p:cNvPr>
          <p:cNvSpPr txBox="1"/>
          <p:nvPr/>
        </p:nvSpPr>
        <p:spPr>
          <a:xfrm>
            <a:off x="10712550" y="4428787"/>
            <a:ext cx="68727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Route Optimization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Service</a:t>
            </a:r>
          </a:p>
        </p:txBody>
      </p:sp>
      <p:pic>
        <p:nvPicPr>
          <p:cNvPr id="42" name="Picture 41" descr="A white outline of a rocket with a cube on it&#10;&#10;AI-generated content may be incorrect.">
            <a:extLst>
              <a:ext uri="{FF2B5EF4-FFF2-40B4-BE49-F238E27FC236}">
                <a16:creationId xmlns:a16="http://schemas.microsoft.com/office/drawing/2014/main" id="{8BE7A963-6E16-10AA-52C6-E898501367F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6273" y="4986298"/>
            <a:ext cx="215153" cy="21766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E987575-FA55-6C95-BB89-416B60A2FB1D}"/>
              </a:ext>
            </a:extLst>
          </p:cNvPr>
          <p:cNvSpPr txBox="1"/>
          <p:nvPr/>
        </p:nvSpPr>
        <p:spPr>
          <a:xfrm>
            <a:off x="10712550" y="5145963"/>
            <a:ext cx="68727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00">
                <a:ea typeface="Calibri"/>
                <a:cs typeface="Calibri"/>
              </a:rPr>
              <a:t>DAG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Optimization</a:t>
            </a:r>
          </a:p>
          <a:p>
            <a:pPr algn="ctr"/>
            <a:r>
              <a:rPr lang="en-US" sz="700">
                <a:ea typeface="Calibri"/>
                <a:cs typeface="Calibri"/>
              </a:rPr>
              <a:t>Model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62D7F7E-64A6-865D-032B-72D21EF26FEF}"/>
              </a:ext>
            </a:extLst>
          </p:cNvPr>
          <p:cNvCxnSpPr>
            <a:cxnSpLocks/>
          </p:cNvCxnSpPr>
          <p:nvPr/>
        </p:nvCxnSpPr>
        <p:spPr>
          <a:xfrm flipV="1">
            <a:off x="11055130" y="4044171"/>
            <a:ext cx="1754" cy="1823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2AAF350-BDAA-48EC-9A5C-ED9C2912B68B}"/>
              </a:ext>
            </a:extLst>
          </p:cNvPr>
          <p:cNvCxnSpPr>
            <a:cxnSpLocks/>
          </p:cNvCxnSpPr>
          <p:nvPr/>
        </p:nvCxnSpPr>
        <p:spPr>
          <a:xfrm flipV="1">
            <a:off x="11055130" y="4793364"/>
            <a:ext cx="1754" cy="1823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C25545CA-2590-FE51-637F-717065BFB271}"/>
              </a:ext>
            </a:extLst>
          </p:cNvPr>
          <p:cNvCxnSpPr>
            <a:cxnSpLocks/>
          </p:cNvCxnSpPr>
          <p:nvPr/>
        </p:nvCxnSpPr>
        <p:spPr>
          <a:xfrm flipH="1" flipV="1">
            <a:off x="5192503" y="4020028"/>
            <a:ext cx="2019786" cy="933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215">
            <a:extLst>
              <a:ext uri="{FF2B5EF4-FFF2-40B4-BE49-F238E27FC236}">
                <a16:creationId xmlns:a16="http://schemas.microsoft.com/office/drawing/2014/main" id="{1807A10F-06A0-BC39-3683-51F0AB52E247}"/>
              </a:ext>
            </a:extLst>
          </p:cNvPr>
          <p:cNvSpPr/>
          <p:nvPr/>
        </p:nvSpPr>
        <p:spPr>
          <a:xfrm>
            <a:off x="8945342" y="3037496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12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9B793E79-E5E1-9ACA-7575-2296870F0880}"/>
              </a:ext>
            </a:extLst>
          </p:cNvPr>
          <p:cNvSpPr/>
          <p:nvPr/>
        </p:nvSpPr>
        <p:spPr>
          <a:xfrm>
            <a:off x="6761676" y="4318168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13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C93C5CB4-DB8A-5996-550A-6EF9CB38436C}"/>
              </a:ext>
            </a:extLst>
          </p:cNvPr>
          <p:cNvCxnSpPr>
            <a:cxnSpLocks/>
          </p:cNvCxnSpPr>
          <p:nvPr/>
        </p:nvCxnSpPr>
        <p:spPr>
          <a:xfrm flipH="1">
            <a:off x="7494861" y="4031010"/>
            <a:ext cx="2727" cy="735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93ED07A-56FF-39E4-DFCC-89D37C681346}"/>
              </a:ext>
            </a:extLst>
          </p:cNvPr>
          <p:cNvCxnSpPr>
            <a:cxnSpLocks/>
          </p:cNvCxnSpPr>
          <p:nvPr/>
        </p:nvCxnSpPr>
        <p:spPr>
          <a:xfrm flipH="1">
            <a:off x="8432954" y="4037415"/>
            <a:ext cx="2727" cy="186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98AB8B3-9038-26A7-BE80-C3D4F090806B}"/>
              </a:ext>
            </a:extLst>
          </p:cNvPr>
          <p:cNvGrpSpPr/>
          <p:nvPr/>
        </p:nvGrpSpPr>
        <p:grpSpPr>
          <a:xfrm>
            <a:off x="8893995" y="4031010"/>
            <a:ext cx="687272" cy="1340621"/>
            <a:chOff x="8893995" y="4031010"/>
            <a:chExt cx="687272" cy="134062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E3213A8-AF17-0DEB-8CA5-28AD9CDE050D}"/>
                </a:ext>
              </a:extLst>
            </p:cNvPr>
            <p:cNvGrpSpPr/>
            <p:nvPr/>
          </p:nvGrpSpPr>
          <p:grpSpPr>
            <a:xfrm>
              <a:off x="8893995" y="4985522"/>
              <a:ext cx="687272" cy="386109"/>
              <a:chOff x="7555692" y="4985522"/>
              <a:chExt cx="687272" cy="386109"/>
            </a:xfrm>
          </p:grpSpPr>
          <p:pic>
            <p:nvPicPr>
              <p:cNvPr id="50" name="Picture 49" descr="A white line on a green background&#10;&#10;AI-generated content may be incorrect.">
                <a:extLst>
                  <a:ext uri="{FF2B5EF4-FFF2-40B4-BE49-F238E27FC236}">
                    <a16:creationId xmlns:a16="http://schemas.microsoft.com/office/drawing/2014/main" id="{9A8640DF-9D8A-7877-CC77-A498FE5DB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99438" y="4985522"/>
                <a:ext cx="229141" cy="222872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E3CECE5-39B9-C280-10D7-011214DABEBD}"/>
                  </a:ext>
                </a:extLst>
              </p:cNvPr>
              <p:cNvSpPr txBox="1"/>
              <p:nvPr/>
            </p:nvSpPr>
            <p:spPr>
              <a:xfrm>
                <a:off x="7555692" y="5171576"/>
                <a:ext cx="687272" cy="20005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700">
                    <a:ea typeface="Calibri"/>
                    <a:cs typeface="Calibri"/>
                  </a:rPr>
                  <a:t>Audit Log</a:t>
                </a:r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8AC4B8A-4CE5-5EE8-3AC4-23CEFE51E7A8}"/>
                </a:ext>
              </a:extLst>
            </p:cNvPr>
            <p:cNvGrpSpPr/>
            <p:nvPr/>
          </p:nvGrpSpPr>
          <p:grpSpPr>
            <a:xfrm>
              <a:off x="8893995" y="4222692"/>
              <a:ext cx="687272" cy="533082"/>
              <a:chOff x="7542886" y="4222692"/>
              <a:chExt cx="687272" cy="533082"/>
            </a:xfrm>
          </p:grpSpPr>
          <p:pic>
            <p:nvPicPr>
              <p:cNvPr id="52" name="Picture 51" descr="A white line on an orange background&#10;&#10;AI-generated content may be incorrect.">
                <a:extLst>
                  <a:ext uri="{FF2B5EF4-FFF2-40B4-BE49-F238E27FC236}">
                    <a16:creationId xmlns:a16="http://schemas.microsoft.com/office/drawing/2014/main" id="{B84DBC51-B3FF-549E-0887-84F7C6FF75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62533" y="4222692"/>
                <a:ext cx="228023" cy="224387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8FA5E8C-D076-2A8C-25F0-418B922DCA86}"/>
                  </a:ext>
                </a:extLst>
              </p:cNvPr>
              <p:cNvSpPr txBox="1"/>
              <p:nvPr/>
            </p:nvSpPr>
            <p:spPr>
              <a:xfrm>
                <a:off x="7542886" y="4447997"/>
                <a:ext cx="687272" cy="30777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700">
                    <a:ea typeface="Calibri"/>
                    <a:cs typeface="Calibri"/>
                  </a:rPr>
                  <a:t>Audit</a:t>
                </a:r>
                <a:endParaRPr lang="en-US">
                  <a:ea typeface="Calibri"/>
                  <a:cs typeface="Calibri"/>
                </a:endParaRPr>
              </a:p>
              <a:p>
                <a:pPr algn="ctr"/>
                <a:r>
                  <a:rPr lang="en-US" sz="700">
                    <a:ea typeface="Calibri"/>
                    <a:cs typeface="Calibri"/>
                  </a:rPr>
                  <a:t>Service</a:t>
                </a:r>
                <a:endParaRPr lang="en-US">
                  <a:ea typeface="Calibri"/>
                  <a:cs typeface="Calibri"/>
                </a:endParaRPr>
              </a:p>
            </p:txBody>
          </p:sp>
        </p:grp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217114CB-562C-2353-2F59-EC3C0F8D4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6575" y="4031010"/>
              <a:ext cx="2727" cy="186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183C0EAF-D595-81F2-7F65-FDB2910AD2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6575" y="4696960"/>
              <a:ext cx="2727" cy="2743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8B687B30-690F-C852-2A92-400CBE4A0F3C}"/>
              </a:ext>
            </a:extLst>
          </p:cNvPr>
          <p:cNvCxnSpPr>
            <a:cxnSpLocks/>
          </p:cNvCxnSpPr>
          <p:nvPr/>
        </p:nvCxnSpPr>
        <p:spPr>
          <a:xfrm flipH="1" flipV="1">
            <a:off x="5627931" y="3891960"/>
            <a:ext cx="2544859" cy="651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F1DE6CB8-9A33-19B8-069D-7012DA6175D4}"/>
              </a:ext>
            </a:extLst>
          </p:cNvPr>
          <p:cNvSpPr/>
          <p:nvPr/>
        </p:nvSpPr>
        <p:spPr>
          <a:xfrm>
            <a:off x="11256835" y="4792016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5b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85CC8CB3-BFFD-3101-C66F-D708D1112E9B}"/>
              </a:ext>
            </a:extLst>
          </p:cNvPr>
          <p:cNvSpPr/>
          <p:nvPr/>
        </p:nvSpPr>
        <p:spPr>
          <a:xfrm>
            <a:off x="9303810" y="4702369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14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F6D66CD8-5FC1-2CDC-6677-1EFC1D467FDF}"/>
              </a:ext>
            </a:extLst>
          </p:cNvPr>
          <p:cNvSpPr/>
          <p:nvPr/>
        </p:nvSpPr>
        <p:spPr>
          <a:xfrm>
            <a:off x="5865205" y="4587108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15</a:t>
            </a:r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B6E95D37-3252-21BF-F6B7-FF20E49FB08A}"/>
              </a:ext>
            </a:extLst>
          </p:cNvPr>
          <p:cNvSpPr/>
          <p:nvPr/>
        </p:nvSpPr>
        <p:spPr>
          <a:xfrm>
            <a:off x="9399980" y="2544436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11</a:t>
            </a: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2C53132-0B2E-C2DF-E4EA-20D40F1CE207}"/>
              </a:ext>
            </a:extLst>
          </p:cNvPr>
          <p:cNvGrpSpPr/>
          <p:nvPr/>
        </p:nvGrpSpPr>
        <p:grpSpPr>
          <a:xfrm>
            <a:off x="4968730" y="1835423"/>
            <a:ext cx="1084279" cy="672472"/>
            <a:chOff x="5781958" y="2520583"/>
            <a:chExt cx="1084279" cy="672472"/>
          </a:xfrm>
        </p:grpSpPr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727CF04-3DB4-7F20-8C4E-AFCF98890009}"/>
                </a:ext>
              </a:extLst>
            </p:cNvPr>
            <p:cNvSpPr/>
            <p:nvPr/>
          </p:nvSpPr>
          <p:spPr>
            <a:xfrm>
              <a:off x="5841929" y="2678606"/>
              <a:ext cx="969611" cy="51444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9" name="Picture 238" descr="A white line drawing of a stack of coins with lightning bolt&#10;&#10;AI-generated content may be incorrect.">
              <a:extLst>
                <a:ext uri="{FF2B5EF4-FFF2-40B4-BE49-F238E27FC236}">
                  <a16:creationId xmlns:a16="http://schemas.microsoft.com/office/drawing/2014/main" id="{F9194337-6917-6267-A39E-F1AE1B14C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91834" y="2816282"/>
              <a:ext cx="215153" cy="217664"/>
            </a:xfrm>
            <a:prstGeom prst="rect">
              <a:avLst/>
            </a:prstGeom>
          </p:spPr>
        </p:pic>
        <p:pic>
          <p:nvPicPr>
            <p:cNvPr id="240" name="Picture 239" descr="A white line on a green background&#10;&#10;AI-generated content may be incorrect.">
              <a:extLst>
                <a:ext uri="{FF2B5EF4-FFF2-40B4-BE49-F238E27FC236}">
                  <a16:creationId xmlns:a16="http://schemas.microsoft.com/office/drawing/2014/main" id="{9E9F29AA-5433-3226-F263-4DABEB4B5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009041" y="2813081"/>
              <a:ext cx="229141" cy="222872"/>
            </a:xfrm>
            <a:prstGeom prst="rect">
              <a:avLst/>
            </a:prstGeom>
          </p:spPr>
        </p:pic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7CE82BB6-59B9-503F-5080-E3F98A28A496}"/>
                </a:ext>
              </a:extLst>
            </p:cNvPr>
            <p:cNvSpPr txBox="1"/>
            <p:nvPr/>
          </p:nvSpPr>
          <p:spPr>
            <a:xfrm>
              <a:off x="5781958" y="2520583"/>
              <a:ext cx="1084279" cy="2000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700">
                  <a:ea typeface="Calibri"/>
                  <a:cs typeface="Calibri"/>
                </a:rPr>
                <a:t>Event State</a:t>
              </a:r>
              <a:endParaRPr lang="en-US"/>
            </a:p>
          </p:txBody>
        </p:sp>
      </p:grp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D831E724-AC52-B30C-E880-0F2CFA1AB922}"/>
              </a:ext>
            </a:extLst>
          </p:cNvPr>
          <p:cNvCxnSpPr>
            <a:cxnSpLocks/>
          </p:cNvCxnSpPr>
          <p:nvPr/>
        </p:nvCxnSpPr>
        <p:spPr>
          <a:xfrm flipH="1" flipV="1">
            <a:off x="5557496" y="2534449"/>
            <a:ext cx="9131" cy="869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210D54EB-96C9-CE8C-B2F6-72A9BF515027}"/>
              </a:ext>
            </a:extLst>
          </p:cNvPr>
          <p:cNvSpPr/>
          <p:nvPr/>
        </p:nvSpPr>
        <p:spPr>
          <a:xfrm>
            <a:off x="5634683" y="2723730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13</a:t>
            </a:r>
          </a:p>
        </p:txBody>
      </p: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69D59D0D-6CDF-FA1D-B8DE-5832799B89D7}"/>
              </a:ext>
            </a:extLst>
          </p:cNvPr>
          <p:cNvCxnSpPr>
            <a:cxnSpLocks/>
          </p:cNvCxnSpPr>
          <p:nvPr/>
        </p:nvCxnSpPr>
        <p:spPr>
          <a:xfrm>
            <a:off x="6866509" y="2571044"/>
            <a:ext cx="1847842" cy="437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C2C816BE-1153-9CFA-1942-C9D54C088DB0}"/>
              </a:ext>
            </a:extLst>
          </p:cNvPr>
          <p:cNvSpPr/>
          <p:nvPr/>
        </p:nvSpPr>
        <p:spPr>
          <a:xfrm>
            <a:off x="7893137" y="2638498"/>
            <a:ext cx="196877" cy="16958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8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8B59BC67-E810-7E7A-2759-B138A155BA26}"/>
              </a:ext>
            </a:extLst>
          </p:cNvPr>
          <p:cNvCxnSpPr>
            <a:cxnSpLocks/>
          </p:cNvCxnSpPr>
          <p:nvPr/>
        </p:nvCxnSpPr>
        <p:spPr>
          <a:xfrm flipH="1" flipV="1">
            <a:off x="6716501" y="3815119"/>
            <a:ext cx="367721" cy="171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55DFD326-7FB5-6F6A-F062-A1ACB855BAEF}"/>
              </a:ext>
            </a:extLst>
          </p:cNvPr>
          <p:cNvSpPr/>
          <p:nvPr/>
        </p:nvSpPr>
        <p:spPr>
          <a:xfrm>
            <a:off x="6492733" y="3889141"/>
            <a:ext cx="456704" cy="212818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accent6">
                    <a:lumMod val="10000"/>
                  </a:schemeClr>
                </a:solidFill>
                <a:ea typeface="Calibri"/>
                <a:cs typeface="Calibri"/>
              </a:rPr>
              <a:t>5b</a:t>
            </a:r>
          </a:p>
        </p:txBody>
      </p:sp>
    </p:spTree>
    <p:extLst>
      <p:ext uri="{BB962C8B-B14F-4D97-AF65-F5344CB8AC3E}">
        <p14:creationId xmlns:p14="http://schemas.microsoft.com/office/powerpoint/2010/main" val="2699181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A15C-EC49-1886-0765-7F545324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9D621F9F-61FE-CFE8-528F-DD3E02E62AE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115" y="685311"/>
            <a:ext cx="1481933" cy="1081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8F70C2-8CAE-4A4E-A117-A28788AF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FE6EB8-09BE-0C2B-6C8B-24A95CFF42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42088"/>
            <a:ext cx="474663" cy="15557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386E00-FEB9-4948-8786-D40D5ED0BD9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Tenorite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Tenorite" pitchFamily="2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8283ED-F43B-0B21-7B99-96209F84C724}"/>
              </a:ext>
            </a:extLst>
          </p:cNvPr>
          <p:cNvSpPr/>
          <p:nvPr/>
        </p:nvSpPr>
        <p:spPr>
          <a:xfrm>
            <a:off x="14516083" y="-149024"/>
            <a:ext cx="34342" cy="383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188E64-63C1-0B8B-B4E7-3CD14B167F7C}"/>
              </a:ext>
            </a:extLst>
          </p:cNvPr>
          <p:cNvSpPr/>
          <p:nvPr/>
        </p:nvSpPr>
        <p:spPr>
          <a:xfrm>
            <a:off x="14516083" y="203981"/>
            <a:ext cx="34342" cy="383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4E3F76-EB26-02A1-F0FD-1495E843C6BD}"/>
              </a:ext>
            </a:extLst>
          </p:cNvPr>
          <p:cNvSpPr/>
          <p:nvPr/>
        </p:nvSpPr>
        <p:spPr>
          <a:xfrm>
            <a:off x="7248324" y="730731"/>
            <a:ext cx="2334733" cy="5804291"/>
          </a:xfrm>
          <a:prstGeom prst="roundRect">
            <a:avLst>
              <a:gd name="adj" fmla="val 11663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DLH Data Platform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7F00A6-EF6B-D268-0FA9-2DACC60B4E6F}"/>
              </a:ext>
            </a:extLst>
          </p:cNvPr>
          <p:cNvSpPr/>
          <p:nvPr/>
        </p:nvSpPr>
        <p:spPr>
          <a:xfrm>
            <a:off x="7480409" y="1118353"/>
            <a:ext cx="409647" cy="271998"/>
          </a:xfrm>
          <a:prstGeom prst="roundRect">
            <a:avLst>
              <a:gd name="adj" fmla="val 701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Ingest</a:t>
            </a:r>
          </a:p>
        </p:txBody>
      </p:sp>
      <p:cxnSp>
        <p:nvCxnSpPr>
          <p:cNvPr id="17" name="Connector: Elbow 168">
            <a:extLst>
              <a:ext uri="{FF2B5EF4-FFF2-40B4-BE49-F238E27FC236}">
                <a16:creationId xmlns:a16="http://schemas.microsoft.com/office/drawing/2014/main" id="{D9997B76-6FB5-E383-3A10-EAFCD0C42415}"/>
              </a:ext>
            </a:extLst>
          </p:cNvPr>
          <p:cNvCxnSpPr>
            <a:cxnSpLocks/>
            <a:stCxn id="34" idx="2"/>
            <a:endCxn id="15" idx="3"/>
          </p:cNvCxnSpPr>
          <p:nvPr/>
        </p:nvCxnSpPr>
        <p:spPr>
          <a:xfrm flipH="1">
            <a:off x="7890056" y="1253508"/>
            <a:ext cx="215143" cy="84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410">
            <a:extLst>
              <a:ext uri="{FF2B5EF4-FFF2-40B4-BE49-F238E27FC236}">
                <a16:creationId xmlns:a16="http://schemas.microsoft.com/office/drawing/2014/main" id="{20136B4B-D1B9-3198-68CC-5B0BB6C55DED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8349682" y="3897948"/>
            <a:ext cx="1" cy="14681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94C9784-6998-EA63-98AA-D42C0C138820}"/>
              </a:ext>
            </a:extLst>
          </p:cNvPr>
          <p:cNvSpPr/>
          <p:nvPr/>
        </p:nvSpPr>
        <p:spPr>
          <a:xfrm>
            <a:off x="9756219" y="4496769"/>
            <a:ext cx="80746" cy="894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C72F50E5-77D4-4A8C-A783-2991BD68247D}"/>
              </a:ext>
            </a:extLst>
          </p:cNvPr>
          <p:cNvSpPr/>
          <p:nvPr/>
        </p:nvSpPr>
        <p:spPr>
          <a:xfrm>
            <a:off x="8105199" y="1117509"/>
            <a:ext cx="488590" cy="271998"/>
          </a:xfrm>
          <a:prstGeom prst="can">
            <a:avLst/>
          </a:prstGeom>
          <a:solidFill>
            <a:schemeClr val="bg1">
              <a:lumMod val="95000"/>
            </a:schemeClr>
          </a:solidFill>
          <a:ln w="6350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</a:t>
            </a:r>
          </a:p>
        </p:txBody>
      </p:sp>
      <p:cxnSp>
        <p:nvCxnSpPr>
          <p:cNvPr id="36" name="Connector: Elbow 168">
            <a:extLst>
              <a:ext uri="{FF2B5EF4-FFF2-40B4-BE49-F238E27FC236}">
                <a16:creationId xmlns:a16="http://schemas.microsoft.com/office/drawing/2014/main" id="{E4F0223F-4C34-5EEB-43EC-94D51E8545E3}"/>
              </a:ext>
            </a:extLst>
          </p:cNvPr>
          <p:cNvCxnSpPr>
            <a:cxnSpLocks/>
            <a:endCxn id="34" idx="3"/>
          </p:cNvCxnSpPr>
          <p:nvPr/>
        </p:nvCxnSpPr>
        <p:spPr>
          <a:xfrm flipH="1" flipV="1">
            <a:off x="8349494" y="1389507"/>
            <a:ext cx="189" cy="1624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ylinder 41">
            <a:extLst>
              <a:ext uri="{FF2B5EF4-FFF2-40B4-BE49-F238E27FC236}">
                <a16:creationId xmlns:a16="http://schemas.microsoft.com/office/drawing/2014/main" id="{926EFB6E-487C-FC4E-D6C7-F5911979853D}"/>
              </a:ext>
            </a:extLst>
          </p:cNvPr>
          <p:cNvSpPr/>
          <p:nvPr/>
        </p:nvSpPr>
        <p:spPr>
          <a:xfrm>
            <a:off x="7475305" y="2277801"/>
            <a:ext cx="1748755" cy="317167"/>
          </a:xfrm>
          <a:prstGeom prst="can">
            <a:avLst/>
          </a:prstGeom>
          <a:solidFill>
            <a:schemeClr val="tx2"/>
          </a:solidFill>
          <a:ln w="6350" cap="flat">
            <a:solidFill>
              <a:schemeClr val="bg1">
                <a:lumMod val="95000"/>
              </a:schemeClr>
            </a:solidFill>
            <a:prstDash val="solid"/>
            <a:miter/>
          </a:ln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CDMs</a:t>
            </a:r>
          </a:p>
        </p:txBody>
      </p:sp>
      <p:cxnSp>
        <p:nvCxnSpPr>
          <p:cNvPr id="43" name="Connector: Elbow 168">
            <a:extLst>
              <a:ext uri="{FF2B5EF4-FFF2-40B4-BE49-F238E27FC236}">
                <a16:creationId xmlns:a16="http://schemas.microsoft.com/office/drawing/2014/main" id="{470A58BA-B982-D2B9-B2E2-C8A95329F69A}"/>
              </a:ext>
            </a:extLst>
          </p:cNvPr>
          <p:cNvCxnSpPr>
            <a:cxnSpLocks/>
            <a:stCxn id="45" idx="0"/>
            <a:endCxn id="42" idx="3"/>
          </p:cNvCxnSpPr>
          <p:nvPr/>
        </p:nvCxnSpPr>
        <p:spPr>
          <a:xfrm flipH="1" flipV="1">
            <a:off x="8349683" y="2594968"/>
            <a:ext cx="1" cy="14629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168">
            <a:extLst>
              <a:ext uri="{FF2B5EF4-FFF2-40B4-BE49-F238E27FC236}">
                <a16:creationId xmlns:a16="http://schemas.microsoft.com/office/drawing/2014/main" id="{7E5BD481-FE37-4F7E-C721-B4818AE0F829}"/>
              </a:ext>
            </a:extLst>
          </p:cNvPr>
          <p:cNvCxnSpPr>
            <a:cxnSpLocks/>
            <a:stCxn id="42" idx="1"/>
          </p:cNvCxnSpPr>
          <p:nvPr/>
        </p:nvCxnSpPr>
        <p:spPr>
          <a:xfrm flipV="1">
            <a:off x="8349683" y="2141930"/>
            <a:ext cx="0" cy="1358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E10B6DD-EFFD-1F53-61A3-9F419157BA3B}"/>
              </a:ext>
            </a:extLst>
          </p:cNvPr>
          <p:cNvSpPr/>
          <p:nvPr/>
        </p:nvSpPr>
        <p:spPr>
          <a:xfrm>
            <a:off x="7475307" y="2741258"/>
            <a:ext cx="1748754" cy="483040"/>
          </a:xfrm>
          <a:prstGeom prst="roundRect">
            <a:avLst>
              <a:gd name="adj" fmla="val 952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 Data Product Services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B4825FD-70AC-2191-CA57-8789CF469CF1}"/>
              </a:ext>
            </a:extLst>
          </p:cNvPr>
          <p:cNvSpPr/>
          <p:nvPr/>
        </p:nvSpPr>
        <p:spPr>
          <a:xfrm>
            <a:off x="8381410" y="2914433"/>
            <a:ext cx="333095" cy="249822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Invoice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D4B42CC-7B1F-079E-E554-CD7F3ADBD198}"/>
              </a:ext>
            </a:extLst>
          </p:cNvPr>
          <p:cNvSpPr/>
          <p:nvPr/>
        </p:nvSpPr>
        <p:spPr>
          <a:xfrm>
            <a:off x="7579534" y="2914433"/>
            <a:ext cx="333095" cy="249822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FB1C93E-AE0E-0336-C29E-D62B1E2C1076}"/>
              </a:ext>
            </a:extLst>
          </p:cNvPr>
          <p:cNvSpPr/>
          <p:nvPr/>
        </p:nvSpPr>
        <p:spPr>
          <a:xfrm>
            <a:off x="7980472" y="2914433"/>
            <a:ext cx="333095" cy="249822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Shipment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A9168BF-DFC4-5ACC-4D77-78145F9F4827}"/>
              </a:ext>
            </a:extLst>
          </p:cNvPr>
          <p:cNvSpPr/>
          <p:nvPr/>
        </p:nvSpPr>
        <p:spPr>
          <a:xfrm>
            <a:off x="8782348" y="2914433"/>
            <a:ext cx="333095" cy="249822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C06D797-F233-352D-F152-16685276A346}"/>
              </a:ext>
            </a:extLst>
          </p:cNvPr>
          <p:cNvSpPr/>
          <p:nvPr/>
        </p:nvSpPr>
        <p:spPr>
          <a:xfrm>
            <a:off x="7475303" y="3425627"/>
            <a:ext cx="1748757" cy="472321"/>
          </a:xfrm>
          <a:prstGeom prst="roundRect">
            <a:avLst>
              <a:gd name="adj" fmla="val 952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Case Data Product Services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8D3A19B-2379-B0CF-98F3-0CBA4D1D0AE1}"/>
              </a:ext>
            </a:extLst>
          </p:cNvPr>
          <p:cNvSpPr/>
          <p:nvPr/>
        </p:nvSpPr>
        <p:spPr>
          <a:xfrm>
            <a:off x="7549432" y="3615496"/>
            <a:ext cx="795219" cy="19185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History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A739FF2-1601-0A3A-F675-C44E270DB6E0}"/>
              </a:ext>
            </a:extLst>
          </p:cNvPr>
          <p:cNvSpPr/>
          <p:nvPr/>
        </p:nvSpPr>
        <p:spPr>
          <a:xfrm>
            <a:off x="8403665" y="3610596"/>
            <a:ext cx="768456" cy="191850"/>
          </a:xfrm>
          <a:prstGeom prst="roundRect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  Product Dim</a:t>
            </a:r>
          </a:p>
        </p:txBody>
      </p:sp>
      <p:cxnSp>
        <p:nvCxnSpPr>
          <p:cNvPr id="53" name="Connector: Elbow 168">
            <a:extLst>
              <a:ext uri="{FF2B5EF4-FFF2-40B4-BE49-F238E27FC236}">
                <a16:creationId xmlns:a16="http://schemas.microsoft.com/office/drawing/2014/main" id="{9E29DC53-F1CB-3888-8B4B-21D09EE2773B}"/>
              </a:ext>
            </a:extLst>
          </p:cNvPr>
          <p:cNvCxnSpPr>
            <a:cxnSpLocks/>
            <a:stCxn id="50" idx="0"/>
            <a:endCxn id="45" idx="2"/>
          </p:cNvCxnSpPr>
          <p:nvPr/>
        </p:nvCxnSpPr>
        <p:spPr>
          <a:xfrm flipV="1">
            <a:off x="8349682" y="3224298"/>
            <a:ext cx="2" cy="20132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390A92A-7094-F075-7F30-3E6D2B31EC28}"/>
              </a:ext>
            </a:extLst>
          </p:cNvPr>
          <p:cNvSpPr/>
          <p:nvPr/>
        </p:nvSpPr>
        <p:spPr>
          <a:xfrm>
            <a:off x="2771525" y="4719359"/>
            <a:ext cx="1906641" cy="1082277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2349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Multi-Agent Framework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33363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bg1"/>
                </a:solidFill>
                <a:latin typeface="Calibri" panose="020F0502020204030204"/>
              </a:rPr>
              <a:t>Allows For CDM 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80858FE-4D9F-E8C8-7E2D-3D75E33CF59B}"/>
              </a:ext>
            </a:extLst>
          </p:cNvPr>
          <p:cNvSpPr/>
          <p:nvPr/>
        </p:nvSpPr>
        <p:spPr>
          <a:xfrm>
            <a:off x="3419492" y="5196189"/>
            <a:ext cx="661608" cy="20996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Commander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35B3492B-F9B7-BBAA-24C2-875DF2075183}"/>
              </a:ext>
            </a:extLst>
          </p:cNvPr>
          <p:cNvSpPr/>
          <p:nvPr/>
        </p:nvSpPr>
        <p:spPr>
          <a:xfrm>
            <a:off x="2928620" y="5476236"/>
            <a:ext cx="633449" cy="2127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 1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8C5F7CC-A01B-3300-2471-709C021C99B4}"/>
              </a:ext>
            </a:extLst>
          </p:cNvPr>
          <p:cNvSpPr/>
          <p:nvPr/>
        </p:nvSpPr>
        <p:spPr>
          <a:xfrm>
            <a:off x="3924429" y="5486060"/>
            <a:ext cx="633449" cy="2127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 2..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</a:p>
        </p:txBody>
      </p:sp>
      <p:cxnSp>
        <p:nvCxnSpPr>
          <p:cNvPr id="79" name="Straight Arrow Connector 34">
            <a:extLst>
              <a:ext uri="{FF2B5EF4-FFF2-40B4-BE49-F238E27FC236}">
                <a16:creationId xmlns:a16="http://schemas.microsoft.com/office/drawing/2014/main" id="{137DF667-815F-99D8-E0CE-26EE5A7CB6A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68418" y="5312927"/>
            <a:ext cx="186008" cy="161880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B82E408D-4B3D-B831-53F6-E4ACF87B3EA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2832237" y="4800214"/>
            <a:ext cx="222926" cy="181497"/>
          </a:xfrm>
          <a:prstGeom prst="rect">
            <a:avLst/>
          </a:prstGeom>
          <a:noFill/>
        </p:spPr>
      </p:pic>
      <p:cxnSp>
        <p:nvCxnSpPr>
          <p:cNvPr id="81" name="Straight Arrow Connector 34">
            <a:extLst>
              <a:ext uri="{FF2B5EF4-FFF2-40B4-BE49-F238E27FC236}">
                <a16:creationId xmlns:a16="http://schemas.microsoft.com/office/drawing/2014/main" id="{DF53768C-B068-D6E7-1959-6281FE45CD32}"/>
              </a:ext>
            </a:extLst>
          </p:cNvPr>
          <p:cNvCxnSpPr>
            <a:cxnSpLocks/>
          </p:cNvCxnSpPr>
          <p:nvPr/>
        </p:nvCxnSpPr>
        <p:spPr>
          <a:xfrm>
            <a:off x="3245881" y="5300902"/>
            <a:ext cx="176131" cy="67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EA5B6B80-854B-3DD1-54C0-4203D9A14A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71135" y="2806859"/>
            <a:ext cx="586147" cy="530861"/>
          </a:xfrm>
          <a:prstGeom prst="rect">
            <a:avLst/>
          </a:prstGeom>
          <a:ln>
            <a:noFill/>
          </a:ln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92BED4DB-A285-56BB-957D-66E563D28272}"/>
              </a:ext>
            </a:extLst>
          </p:cNvPr>
          <p:cNvSpPr txBox="1"/>
          <p:nvPr/>
        </p:nvSpPr>
        <p:spPr>
          <a:xfrm>
            <a:off x="1242394" y="3353733"/>
            <a:ext cx="1025980" cy="3089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9FD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Product Owner</a:t>
            </a:r>
          </a:p>
        </p:txBody>
      </p:sp>
      <p:cxnSp>
        <p:nvCxnSpPr>
          <p:cNvPr id="85" name="Straight Arrow Connector 13">
            <a:extLst>
              <a:ext uri="{FF2B5EF4-FFF2-40B4-BE49-F238E27FC236}">
                <a16:creationId xmlns:a16="http://schemas.microsoft.com/office/drawing/2014/main" id="{2B1F4C24-50E2-5872-40A5-99D5E1026931}"/>
              </a:ext>
            </a:extLst>
          </p:cNvPr>
          <p:cNvCxnSpPr>
            <a:cxnSpLocks/>
            <a:stCxn id="82" idx="0"/>
            <a:endCxn id="160" idx="2"/>
          </p:cNvCxnSpPr>
          <p:nvPr/>
        </p:nvCxnSpPr>
        <p:spPr>
          <a:xfrm rot="5400000" flipH="1" flipV="1">
            <a:off x="1843055" y="1878435"/>
            <a:ext cx="849578" cy="1007271"/>
          </a:xfrm>
          <a:prstGeom prst="curvedConnector2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C468C52-3503-A97D-C3AE-8B5E54427234}"/>
              </a:ext>
            </a:extLst>
          </p:cNvPr>
          <p:cNvSpPr txBox="1"/>
          <p:nvPr/>
        </p:nvSpPr>
        <p:spPr>
          <a:xfrm>
            <a:off x="5895525" y="2992791"/>
            <a:ext cx="712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 Code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B08C7F-DCD5-D744-A392-7E2741ECAEF8}"/>
              </a:ext>
            </a:extLst>
          </p:cNvPr>
          <p:cNvSpPr txBox="1"/>
          <p:nvPr/>
        </p:nvSpPr>
        <p:spPr>
          <a:xfrm>
            <a:off x="4956127" y="4353418"/>
            <a:ext cx="1207152" cy="710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9FD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Product Failure feedback loop for AI Resolution</a:t>
            </a:r>
          </a:p>
        </p:txBody>
      </p:sp>
      <p:cxnSp>
        <p:nvCxnSpPr>
          <p:cNvPr id="90" name="Straight Arrow Connector 34">
            <a:extLst>
              <a:ext uri="{FF2B5EF4-FFF2-40B4-BE49-F238E27FC236}">
                <a16:creationId xmlns:a16="http://schemas.microsoft.com/office/drawing/2014/main" id="{C498879E-A708-A84C-7D42-4921E34A0012}"/>
              </a:ext>
            </a:extLst>
          </p:cNvPr>
          <p:cNvCxnSpPr>
            <a:cxnSpLocks/>
            <a:stCxn id="151" idx="2"/>
            <a:endCxn id="83" idx="2"/>
          </p:cNvCxnSpPr>
          <p:nvPr/>
        </p:nvCxnSpPr>
        <p:spPr>
          <a:xfrm rot="10800000">
            <a:off x="1755384" y="3662688"/>
            <a:ext cx="999374" cy="1372332"/>
          </a:xfrm>
          <a:prstGeom prst="curvedConnector2">
            <a:avLst/>
          </a:prstGeom>
          <a:ln w="12700">
            <a:solidFill>
              <a:srgbClr val="00B0F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25E4C4D-177C-9637-8935-6BC56D5242F3}"/>
              </a:ext>
            </a:extLst>
          </p:cNvPr>
          <p:cNvSpPr txBox="1"/>
          <p:nvPr/>
        </p:nvSpPr>
        <p:spPr>
          <a:xfrm>
            <a:off x="1757174" y="3654059"/>
            <a:ext cx="1021138" cy="55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Feedback to Data Product Owner and AI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9ABFA70-C8D8-8B21-5904-348DDE9AFC0A}"/>
              </a:ext>
            </a:extLst>
          </p:cNvPr>
          <p:cNvGrpSpPr/>
          <p:nvPr/>
        </p:nvGrpSpPr>
        <p:grpSpPr>
          <a:xfrm>
            <a:off x="2771480" y="2204835"/>
            <a:ext cx="1918746" cy="703233"/>
            <a:chOff x="2183123" y="3109862"/>
            <a:chExt cx="2346158" cy="772193"/>
          </a:xfrm>
          <a:solidFill>
            <a:schemeClr val="tx2"/>
          </a:solidFill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25139454-3B6C-E646-B574-1AE7C17F3D30}"/>
                </a:ext>
              </a:extLst>
            </p:cNvPr>
            <p:cNvSpPr/>
            <p:nvPr/>
          </p:nvSpPr>
          <p:spPr>
            <a:xfrm>
              <a:off x="2183123" y="3109862"/>
              <a:ext cx="2346158" cy="772193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Developer AI</a:t>
              </a:r>
              <a:b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Technology AI = Data Engineer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Generates python code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5" name="Graphic 184" descr="Internet Of Things outline">
              <a:extLst>
                <a:ext uri="{FF2B5EF4-FFF2-40B4-BE49-F238E27FC236}">
                  <a16:creationId xmlns:a16="http://schemas.microsoft.com/office/drawing/2014/main" id="{350A869C-C629-6723-2121-ABBAD8D9C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79545" y="3146287"/>
              <a:ext cx="338152" cy="307981"/>
            </a:xfrm>
            <a:prstGeom prst="roundRect">
              <a:avLst/>
            </a:prstGeom>
          </p:spPr>
        </p:pic>
      </p:grp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02B662C-E10C-D09A-35EA-5657445562D3}"/>
              </a:ext>
            </a:extLst>
          </p:cNvPr>
          <p:cNvSpPr/>
          <p:nvPr/>
        </p:nvSpPr>
        <p:spPr>
          <a:xfrm>
            <a:off x="2774761" y="3747130"/>
            <a:ext cx="1908850" cy="793652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17145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Stewardship AI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</a:t>
            </a:r>
          </a:p>
          <a:p>
            <a:pPr marL="4572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Stewardship AI =  Data Steward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Ensures business consistency of 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4" name="Graphic 93" descr="Internet Of Things outline">
            <a:extLst>
              <a:ext uri="{FF2B5EF4-FFF2-40B4-BE49-F238E27FC236}">
                <a16:creationId xmlns:a16="http://schemas.microsoft.com/office/drawing/2014/main" id="{940C6123-71B4-BB8F-3A04-0704836967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1889" y="3817813"/>
            <a:ext cx="183820" cy="18068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0AFE44F-D82D-F305-DA95-8558D63A2A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493" y="2934268"/>
            <a:ext cx="486100" cy="324427"/>
          </a:xfrm>
          <a:prstGeom prst="rect">
            <a:avLst/>
          </a:prstGeom>
        </p:spPr>
      </p:pic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3F222EE-C056-D12A-86EB-0AA1E53ED25D}"/>
              </a:ext>
            </a:extLst>
          </p:cNvPr>
          <p:cNvCxnSpPr>
            <a:cxnSpLocks/>
            <a:stCxn id="110" idx="2"/>
            <a:endCxn id="104" idx="0"/>
          </p:cNvCxnSpPr>
          <p:nvPr/>
        </p:nvCxnSpPr>
        <p:spPr>
          <a:xfrm>
            <a:off x="836061" y="2674325"/>
            <a:ext cx="4482" cy="259943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80DB922-1E8F-C9D7-E39F-22F0EC671C06}"/>
              </a:ext>
            </a:extLst>
          </p:cNvPr>
          <p:cNvCxnSpPr>
            <a:cxnSpLocks/>
            <a:stCxn id="107" idx="6"/>
          </p:cNvCxnSpPr>
          <p:nvPr/>
        </p:nvCxnSpPr>
        <p:spPr>
          <a:xfrm>
            <a:off x="1030435" y="3112331"/>
            <a:ext cx="368850" cy="307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DF4379D8-75A2-FA3B-0FB8-660D53B04463}"/>
              </a:ext>
            </a:extLst>
          </p:cNvPr>
          <p:cNvSpPr/>
          <p:nvPr/>
        </p:nvSpPr>
        <p:spPr>
          <a:xfrm>
            <a:off x="821426" y="3031815"/>
            <a:ext cx="209009" cy="16103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5E140AF-E1C0-D823-26EA-1709CD79884C}"/>
              </a:ext>
            </a:extLst>
          </p:cNvPr>
          <p:cNvSpPr txBox="1"/>
          <p:nvPr/>
        </p:nvSpPr>
        <p:spPr>
          <a:xfrm>
            <a:off x="500934" y="3266874"/>
            <a:ext cx="647872" cy="463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9FD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Governance Board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F5D4D21-4471-057D-9031-F6981BDABCB1}"/>
              </a:ext>
            </a:extLst>
          </p:cNvPr>
          <p:cNvSpPr txBox="1"/>
          <p:nvPr/>
        </p:nvSpPr>
        <p:spPr>
          <a:xfrm>
            <a:off x="712214" y="2672526"/>
            <a:ext cx="786938" cy="25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5E02D38-1560-D14D-0665-B99DADB612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125" y="2188116"/>
            <a:ext cx="647871" cy="486209"/>
          </a:xfrm>
          <a:prstGeom prst="rect">
            <a:avLst/>
          </a:prstGeom>
        </p:spPr>
      </p:pic>
      <p:pic>
        <p:nvPicPr>
          <p:cNvPr id="111" name="Picture 110" descr="A black and white logo&#10;&#10;Description automatically generated">
            <a:extLst>
              <a:ext uri="{FF2B5EF4-FFF2-40B4-BE49-F238E27FC236}">
                <a16:creationId xmlns:a16="http://schemas.microsoft.com/office/drawing/2014/main" id="{4A90A454-D6B7-66AF-E990-531F62AF00A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6684" y="1932278"/>
            <a:ext cx="232822" cy="204310"/>
          </a:xfrm>
          <a:prstGeom prst="rect">
            <a:avLst/>
          </a:prstGeom>
          <a:ln>
            <a:noFill/>
          </a:ln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82AF59DD-9685-CE58-1D47-185D9DC3C5A1}"/>
              </a:ext>
            </a:extLst>
          </p:cNvPr>
          <p:cNvSpPr txBox="1"/>
          <p:nvPr/>
        </p:nvSpPr>
        <p:spPr>
          <a:xfrm>
            <a:off x="5004990" y="2150622"/>
            <a:ext cx="1109797" cy="35125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Open Sans" panose="020B0606030504020204" pitchFamily="34" charset="0"/>
              </a:rPr>
              <a:t>Code Module Change Control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B44F2A7-AFC2-9A7F-A010-6EA128C8F6B7}"/>
              </a:ext>
            </a:extLst>
          </p:cNvPr>
          <p:cNvSpPr/>
          <p:nvPr/>
        </p:nvSpPr>
        <p:spPr>
          <a:xfrm>
            <a:off x="4636044" y="5289966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D910F8-098D-0549-2932-E335D693D7EE}"/>
              </a:ext>
            </a:extLst>
          </p:cNvPr>
          <p:cNvGrpSpPr/>
          <p:nvPr/>
        </p:nvGrpSpPr>
        <p:grpSpPr>
          <a:xfrm>
            <a:off x="2771480" y="1755919"/>
            <a:ext cx="1918624" cy="273048"/>
            <a:chOff x="8582248" y="4946689"/>
            <a:chExt cx="1855017" cy="299823"/>
          </a:xfrm>
          <a:solidFill>
            <a:schemeClr val="tx2"/>
          </a:solidFill>
        </p:grpSpPr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96936337-7158-310B-E1FE-F8BDB84F6627}"/>
                </a:ext>
              </a:extLst>
            </p:cNvPr>
            <p:cNvSpPr/>
            <p:nvPr/>
          </p:nvSpPr>
          <p:spPr>
            <a:xfrm>
              <a:off x="8582248" y="4946689"/>
              <a:ext cx="1855017" cy="299823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22701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Code LLM Framework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78E0CA14-2679-55BB-2642-FCFAB96ED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70000" contrast="-70000"/>
            </a:blip>
            <a:stretch>
              <a:fillRect/>
            </a:stretch>
          </p:blipFill>
          <p:spPr>
            <a:xfrm>
              <a:off x="10128811" y="4987111"/>
              <a:ext cx="229784" cy="238089"/>
            </a:xfrm>
            <a:prstGeom prst="roundRect">
              <a:avLst/>
            </a:prstGeom>
            <a:grpFill/>
            <a:ln w="12700">
              <a:noFill/>
            </a:ln>
          </p:spPr>
        </p:pic>
      </p:grpSp>
      <p:sp>
        <p:nvSpPr>
          <p:cNvPr id="122" name="Oval 121">
            <a:extLst>
              <a:ext uri="{FF2B5EF4-FFF2-40B4-BE49-F238E27FC236}">
                <a16:creationId xmlns:a16="http://schemas.microsoft.com/office/drawing/2014/main" id="{9E30D071-1A57-7BE9-E263-B5463B12F56B}"/>
              </a:ext>
            </a:extLst>
          </p:cNvPr>
          <p:cNvSpPr/>
          <p:nvPr/>
        </p:nvSpPr>
        <p:spPr>
          <a:xfrm>
            <a:off x="4636044" y="5423292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785B1EE3-8030-BA01-69D6-E36871709C9E}"/>
              </a:ext>
            </a:extLst>
          </p:cNvPr>
          <p:cNvSpPr/>
          <p:nvPr/>
        </p:nvSpPr>
        <p:spPr>
          <a:xfrm>
            <a:off x="4404917" y="6034753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77CC81F4-68CC-013D-F9EE-774E66414592}"/>
              </a:ext>
            </a:extLst>
          </p:cNvPr>
          <p:cNvSpPr/>
          <p:nvPr/>
        </p:nvSpPr>
        <p:spPr>
          <a:xfrm>
            <a:off x="4634977" y="2697597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F4204E6-6037-F648-185A-CA5400911E23}"/>
              </a:ext>
            </a:extLst>
          </p:cNvPr>
          <p:cNvCxnSpPr>
            <a:cxnSpLocks/>
            <a:stCxn id="182" idx="2"/>
            <a:endCxn id="184" idx="0"/>
          </p:cNvCxnSpPr>
          <p:nvPr/>
        </p:nvCxnSpPr>
        <p:spPr>
          <a:xfrm>
            <a:off x="3730792" y="2028967"/>
            <a:ext cx="61" cy="175868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1884324D-2070-C4DE-98CC-47D4E6A1D21B}"/>
              </a:ext>
            </a:extLst>
          </p:cNvPr>
          <p:cNvSpPr/>
          <p:nvPr/>
        </p:nvSpPr>
        <p:spPr>
          <a:xfrm>
            <a:off x="4636044" y="4889992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480E3B0-08DF-B45C-C3AD-09CD838F3408}"/>
              </a:ext>
            </a:extLst>
          </p:cNvPr>
          <p:cNvCxnSpPr>
            <a:cxnSpLocks/>
          </p:cNvCxnSpPr>
          <p:nvPr/>
        </p:nvCxnSpPr>
        <p:spPr>
          <a:xfrm>
            <a:off x="3728464" y="4540082"/>
            <a:ext cx="4361" cy="699"/>
          </a:xfrm>
          <a:prstGeom prst="straightConnector1">
            <a:avLst/>
          </a:prstGeom>
          <a:ln w="9525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3FF6BED6-2FA8-A65E-504B-B3215F1F3775}"/>
              </a:ext>
            </a:extLst>
          </p:cNvPr>
          <p:cNvSpPr/>
          <p:nvPr/>
        </p:nvSpPr>
        <p:spPr>
          <a:xfrm>
            <a:off x="4636044" y="5156641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64FB2824-65EC-921E-E1B0-482CA8217682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1957" y="4690967"/>
            <a:ext cx="404575" cy="321800"/>
          </a:xfrm>
          <a:prstGeom prst="rect">
            <a:avLst/>
          </a:prstGeom>
        </p:spPr>
      </p:pic>
      <p:sp>
        <p:nvSpPr>
          <p:cNvPr id="134" name="Arrow: Bent 133">
            <a:extLst>
              <a:ext uri="{FF2B5EF4-FFF2-40B4-BE49-F238E27FC236}">
                <a16:creationId xmlns:a16="http://schemas.microsoft.com/office/drawing/2014/main" id="{EF55B912-C7E5-F860-15F8-FC10A27BBAB2}"/>
              </a:ext>
            </a:extLst>
          </p:cNvPr>
          <p:cNvSpPr/>
          <p:nvPr/>
        </p:nvSpPr>
        <p:spPr>
          <a:xfrm rot="5400000">
            <a:off x="1609703" y="4760546"/>
            <a:ext cx="61543" cy="45719"/>
          </a:xfrm>
          <a:prstGeom prst="bentArrow">
            <a:avLst>
              <a:gd name="adj1" fmla="val 25000"/>
              <a:gd name="adj2" fmla="val 27517"/>
              <a:gd name="adj3" fmla="val 2802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Arrow: Bent 134">
            <a:extLst>
              <a:ext uri="{FF2B5EF4-FFF2-40B4-BE49-F238E27FC236}">
                <a16:creationId xmlns:a16="http://schemas.microsoft.com/office/drawing/2014/main" id="{0E3599D0-DF9B-8492-8D7D-497AB6FC2395}"/>
              </a:ext>
            </a:extLst>
          </p:cNvPr>
          <p:cNvSpPr/>
          <p:nvPr/>
        </p:nvSpPr>
        <p:spPr>
          <a:xfrm rot="5400000" flipV="1">
            <a:off x="1405574" y="4760546"/>
            <a:ext cx="61543" cy="45719"/>
          </a:xfrm>
          <a:prstGeom prst="bentArrow">
            <a:avLst>
              <a:gd name="adj1" fmla="val 25000"/>
              <a:gd name="adj2" fmla="val 27014"/>
              <a:gd name="adj3" fmla="val 25000"/>
              <a:gd name="adj4" fmla="val 4375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F5C3DCC-046F-D6E0-EF8A-8844F2D3B909}"/>
              </a:ext>
            </a:extLst>
          </p:cNvPr>
          <p:cNvSpPr txBox="1"/>
          <p:nvPr/>
        </p:nvSpPr>
        <p:spPr>
          <a:xfrm>
            <a:off x="1055400" y="5016360"/>
            <a:ext cx="1004243" cy="2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Conflict Resolution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E2D0F3C2-AD96-2F2D-6145-0944A8F205FF}"/>
              </a:ext>
            </a:extLst>
          </p:cNvPr>
          <p:cNvSpPr/>
          <p:nvPr/>
        </p:nvSpPr>
        <p:spPr>
          <a:xfrm>
            <a:off x="2778567" y="1960256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72075CF9-6557-860B-389D-7DB6E36A3E95}"/>
              </a:ext>
            </a:extLst>
          </p:cNvPr>
          <p:cNvSpPr/>
          <p:nvPr/>
        </p:nvSpPr>
        <p:spPr>
          <a:xfrm>
            <a:off x="4636044" y="5023317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F728B060-DCC6-34C8-9D18-98931BC86656}"/>
              </a:ext>
            </a:extLst>
          </p:cNvPr>
          <p:cNvSpPr/>
          <p:nvPr/>
        </p:nvSpPr>
        <p:spPr>
          <a:xfrm>
            <a:off x="823133" y="5386858"/>
            <a:ext cx="1723550" cy="906943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706B8A49-AFD2-C1AB-644C-E83E0D3BC865}"/>
              </a:ext>
            </a:extLst>
          </p:cNvPr>
          <p:cNvSpPr/>
          <p:nvPr/>
        </p:nvSpPr>
        <p:spPr>
          <a:xfrm>
            <a:off x="901725" y="5632461"/>
            <a:ext cx="653362" cy="277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Immutable Facts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C7F15F8-4577-E548-73DA-81A5E232330A}"/>
              </a:ext>
            </a:extLst>
          </p:cNvPr>
          <p:cNvCxnSpPr>
            <a:cxnSpLocks/>
            <a:endCxn id="144" idx="1"/>
          </p:cNvCxnSpPr>
          <p:nvPr/>
        </p:nvCxnSpPr>
        <p:spPr>
          <a:xfrm flipV="1">
            <a:off x="1555086" y="5768526"/>
            <a:ext cx="149037" cy="3074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128">
            <a:extLst>
              <a:ext uri="{FF2B5EF4-FFF2-40B4-BE49-F238E27FC236}">
                <a16:creationId xmlns:a16="http://schemas.microsoft.com/office/drawing/2014/main" id="{6E9FC88E-1E47-1881-8DB8-B5C8F8672FFD}"/>
              </a:ext>
            </a:extLst>
          </p:cNvPr>
          <p:cNvCxnSpPr>
            <a:cxnSpLocks/>
          </p:cNvCxnSpPr>
          <p:nvPr/>
        </p:nvCxnSpPr>
        <p:spPr>
          <a:xfrm>
            <a:off x="1673901" y="5905002"/>
            <a:ext cx="594952" cy="556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triangle" w="med" len="sm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Picture 143">
            <a:extLst>
              <a:ext uri="{FF2B5EF4-FFF2-40B4-BE49-F238E27FC236}">
                <a16:creationId xmlns:a16="http://schemas.microsoft.com/office/drawing/2014/main" id="{F077B6BE-3781-1624-25EA-731DCBF8F3B6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rcRect l="12126"/>
          <a:stretch/>
        </p:blipFill>
        <p:spPr>
          <a:xfrm>
            <a:off x="1704123" y="5658384"/>
            <a:ext cx="237851" cy="220284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41584A18-11AC-381A-54B6-18EEA9261234}"/>
              </a:ext>
            </a:extLst>
          </p:cNvPr>
          <p:cNvSpPr txBox="1"/>
          <p:nvPr/>
        </p:nvSpPr>
        <p:spPr>
          <a:xfrm>
            <a:off x="813849" y="5400636"/>
            <a:ext cx="1732835" cy="219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Open Sans" panose="020B0606030504020204" pitchFamily="34" charset="0"/>
              </a:rPr>
              <a:t>Data Product Baselines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FC4244F5-CC76-2832-429D-95A80E139393}"/>
              </a:ext>
            </a:extLst>
          </p:cNvPr>
          <p:cNvSpPr/>
          <p:nvPr/>
        </p:nvSpPr>
        <p:spPr>
          <a:xfrm>
            <a:off x="2088211" y="5628339"/>
            <a:ext cx="359913" cy="277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B1BE3FE-0A24-E1D2-AD91-F1940402BDA8}"/>
              </a:ext>
            </a:extLst>
          </p:cNvPr>
          <p:cNvCxnSpPr>
            <a:cxnSpLocks/>
            <a:stCxn id="144" idx="3"/>
          </p:cNvCxnSpPr>
          <p:nvPr/>
        </p:nvCxnSpPr>
        <p:spPr>
          <a:xfrm flipV="1">
            <a:off x="1941974" y="5767477"/>
            <a:ext cx="147609" cy="1049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8D9B6F0-C9B2-6770-C7CA-47FB8EB04236}"/>
              </a:ext>
            </a:extLst>
          </p:cNvPr>
          <p:cNvSpPr/>
          <p:nvPr/>
        </p:nvSpPr>
        <p:spPr>
          <a:xfrm>
            <a:off x="1166450" y="6050097"/>
            <a:ext cx="939581" cy="18393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020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Baseline Agent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F024DF7-05B0-C3D2-ECF1-91BDE38B587B}"/>
              </a:ext>
            </a:extLst>
          </p:cNvPr>
          <p:cNvSpPr/>
          <p:nvPr/>
        </p:nvSpPr>
        <p:spPr>
          <a:xfrm>
            <a:off x="2754758" y="4844625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87837C7B-74E5-2189-EC45-C9EFD46806F0}"/>
              </a:ext>
            </a:extLst>
          </p:cNvPr>
          <p:cNvSpPr/>
          <p:nvPr/>
        </p:nvSpPr>
        <p:spPr>
          <a:xfrm>
            <a:off x="2767004" y="5166538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673B0DF-1839-7CE5-A8B7-96DE45A46830}"/>
              </a:ext>
            </a:extLst>
          </p:cNvPr>
          <p:cNvSpPr/>
          <p:nvPr/>
        </p:nvSpPr>
        <p:spPr>
          <a:xfrm>
            <a:off x="2754758" y="5005582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2" name="Straight Arrow Connector 34">
            <a:extLst>
              <a:ext uri="{FF2B5EF4-FFF2-40B4-BE49-F238E27FC236}">
                <a16:creationId xmlns:a16="http://schemas.microsoft.com/office/drawing/2014/main" id="{02563193-46E0-B56D-230F-CB0D136402F1}"/>
              </a:ext>
            </a:extLst>
          </p:cNvPr>
          <p:cNvCxnSpPr>
            <a:cxnSpLocks/>
            <a:stCxn id="150" idx="2"/>
            <a:endCxn id="131" idx="3"/>
          </p:cNvCxnSpPr>
          <p:nvPr/>
        </p:nvCxnSpPr>
        <p:spPr>
          <a:xfrm rot="10800000">
            <a:off x="1736532" y="4851868"/>
            <a:ext cx="1030472" cy="344109"/>
          </a:xfrm>
          <a:prstGeom prst="curvedConnector3">
            <a:avLst>
              <a:gd name="adj1" fmla="val 50000"/>
            </a:avLst>
          </a:prstGeom>
          <a:ln w="9525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34">
            <a:extLst>
              <a:ext uri="{FF2B5EF4-FFF2-40B4-BE49-F238E27FC236}">
                <a16:creationId xmlns:a16="http://schemas.microsoft.com/office/drawing/2014/main" id="{11E87E92-6862-EA27-B7E6-535B361BF00C}"/>
              </a:ext>
            </a:extLst>
          </p:cNvPr>
          <p:cNvCxnSpPr>
            <a:cxnSpLocks/>
            <a:stCxn id="154" idx="2"/>
          </p:cNvCxnSpPr>
          <p:nvPr/>
        </p:nvCxnSpPr>
        <p:spPr>
          <a:xfrm rot="10800000" flipV="1">
            <a:off x="2546686" y="5334184"/>
            <a:ext cx="220169" cy="507873"/>
          </a:xfrm>
          <a:prstGeom prst="curvedConnector2">
            <a:avLst/>
          </a:prstGeom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23F6A219-A7DD-27B2-FEB9-5BC27B47BB0A}"/>
              </a:ext>
            </a:extLst>
          </p:cNvPr>
          <p:cNvSpPr/>
          <p:nvPr/>
        </p:nvSpPr>
        <p:spPr>
          <a:xfrm>
            <a:off x="2766854" y="5304747"/>
            <a:ext cx="59681" cy="588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8A87A1A-69B4-D3F8-DB82-DB417CC20988}"/>
              </a:ext>
            </a:extLst>
          </p:cNvPr>
          <p:cNvGrpSpPr/>
          <p:nvPr/>
        </p:nvGrpSpPr>
        <p:grpSpPr>
          <a:xfrm>
            <a:off x="3109640" y="6190825"/>
            <a:ext cx="3112488" cy="636626"/>
            <a:chOff x="6795863" y="1011581"/>
            <a:chExt cx="1696500" cy="699056"/>
          </a:xfrm>
        </p:grpSpPr>
        <p:sp>
          <p:nvSpPr>
            <p:cNvPr id="174" name="Rectangle: Rounded Corners 173">
              <a:extLst>
                <a:ext uri="{FF2B5EF4-FFF2-40B4-BE49-F238E27FC236}">
                  <a16:creationId xmlns:a16="http://schemas.microsoft.com/office/drawing/2014/main" id="{4AE6B5C8-C1B4-33CE-DDA6-75AC2F02E21A}"/>
                </a:ext>
              </a:extLst>
            </p:cNvPr>
            <p:cNvSpPr/>
            <p:nvPr/>
          </p:nvSpPr>
          <p:spPr>
            <a:xfrm>
              <a:off x="6845021" y="1058089"/>
              <a:ext cx="157191" cy="138459"/>
            </a:xfrm>
            <a:prstGeom prst="roundRect">
              <a:avLst>
                <a:gd name="adj" fmla="val 9207"/>
              </a:avLst>
            </a:prstGeom>
            <a:solidFill>
              <a:schemeClr val="tx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4572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67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: Rounded Corners 174">
              <a:extLst>
                <a:ext uri="{FF2B5EF4-FFF2-40B4-BE49-F238E27FC236}">
                  <a16:creationId xmlns:a16="http://schemas.microsoft.com/office/drawing/2014/main" id="{D9F8E487-B577-F688-1151-F627EF9D7FE9}"/>
                </a:ext>
              </a:extLst>
            </p:cNvPr>
            <p:cNvSpPr/>
            <p:nvPr/>
          </p:nvSpPr>
          <p:spPr>
            <a:xfrm>
              <a:off x="6845021" y="1271041"/>
              <a:ext cx="157191" cy="138459"/>
            </a:xfrm>
            <a:prstGeom prst="roundRect">
              <a:avLst>
                <a:gd name="adj" fmla="val 9207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4572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875A93B-FB38-9BCF-CE1C-BE1D31904519}"/>
                </a:ext>
              </a:extLst>
            </p:cNvPr>
            <p:cNvSpPr txBox="1"/>
            <p:nvPr/>
          </p:nvSpPr>
          <p:spPr>
            <a:xfrm>
              <a:off x="7002212" y="1011581"/>
              <a:ext cx="1002517" cy="270366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Developers  &amp; Code GenAI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0B9FEA3-38A3-A9EA-5F1A-F802A06E29C9}"/>
                </a:ext>
              </a:extLst>
            </p:cNvPr>
            <p:cNvSpPr txBox="1"/>
            <p:nvPr/>
          </p:nvSpPr>
          <p:spPr>
            <a:xfrm>
              <a:off x="7002425" y="1235585"/>
              <a:ext cx="1489938" cy="270366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Steward &amp; Stewardship LLM AI</a:t>
              </a:r>
            </a:p>
          </p:txBody>
        </p:sp>
        <p:cxnSp>
          <p:nvCxnSpPr>
            <p:cNvPr id="180" name="Straight Arrow Connector 34">
              <a:extLst>
                <a:ext uri="{FF2B5EF4-FFF2-40B4-BE49-F238E27FC236}">
                  <a16:creationId xmlns:a16="http://schemas.microsoft.com/office/drawing/2014/main" id="{F45A9C25-CAF3-4BFC-2B4F-9CCC0E1CF3B2}"/>
                </a:ext>
              </a:extLst>
            </p:cNvPr>
            <p:cNvCxnSpPr>
              <a:cxnSpLocks/>
            </p:cNvCxnSpPr>
            <p:nvPr/>
          </p:nvCxnSpPr>
          <p:spPr>
            <a:xfrm>
              <a:off x="6795863" y="1590651"/>
              <a:ext cx="260589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DD236C9-5BB0-E852-33DF-00ED58C9DD89}"/>
                </a:ext>
              </a:extLst>
            </p:cNvPr>
            <p:cNvSpPr txBox="1"/>
            <p:nvPr/>
          </p:nvSpPr>
          <p:spPr>
            <a:xfrm>
              <a:off x="7007179" y="1473160"/>
              <a:ext cx="1032855" cy="23747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Feedback Loop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D044C2C0-BDEE-D08F-F478-746FF16F0791}"/>
              </a:ext>
            </a:extLst>
          </p:cNvPr>
          <p:cNvSpPr txBox="1"/>
          <p:nvPr/>
        </p:nvSpPr>
        <p:spPr>
          <a:xfrm>
            <a:off x="5984716" y="5473877"/>
            <a:ext cx="948399" cy="55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9FD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Automated Testing and Validation</a:t>
            </a:r>
          </a:p>
        </p:txBody>
      </p: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83D320BF-FB4B-AFFD-0CED-E1036E7DA12A}"/>
              </a:ext>
            </a:extLst>
          </p:cNvPr>
          <p:cNvCxnSpPr>
            <a:cxnSpLocks/>
            <a:stCxn id="111" idx="3"/>
          </p:cNvCxnSpPr>
          <p:nvPr/>
        </p:nvCxnSpPr>
        <p:spPr>
          <a:xfrm flipV="1">
            <a:off x="5669506" y="1879948"/>
            <a:ext cx="1812465" cy="154485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C3854754-5537-32F3-D51B-851CDD3E2A22}"/>
              </a:ext>
            </a:extLst>
          </p:cNvPr>
          <p:cNvCxnSpPr>
            <a:cxnSpLocks/>
            <a:stCxn id="111" idx="3"/>
            <a:endCxn id="50" idx="1"/>
          </p:cNvCxnSpPr>
          <p:nvPr/>
        </p:nvCxnSpPr>
        <p:spPr>
          <a:xfrm>
            <a:off x="5669506" y="2034433"/>
            <a:ext cx="1805797" cy="1627355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EB6DEA6C-6AF5-85B4-7699-60C5C2415E3B}"/>
              </a:ext>
            </a:extLst>
          </p:cNvPr>
          <p:cNvCxnSpPr>
            <a:cxnSpLocks/>
            <a:stCxn id="111" idx="3"/>
            <a:endCxn id="45" idx="1"/>
          </p:cNvCxnSpPr>
          <p:nvPr/>
        </p:nvCxnSpPr>
        <p:spPr>
          <a:xfrm>
            <a:off x="5669506" y="2034433"/>
            <a:ext cx="1805801" cy="948345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D5883B2B-AC8A-7C14-98CF-F857DF12FF36}"/>
              </a:ext>
            </a:extLst>
          </p:cNvPr>
          <p:cNvCxnSpPr>
            <a:cxnSpLocks/>
            <a:stCxn id="182" idx="3"/>
            <a:endCxn id="113" idx="1"/>
          </p:cNvCxnSpPr>
          <p:nvPr/>
        </p:nvCxnSpPr>
        <p:spPr>
          <a:xfrm flipV="1">
            <a:off x="4690104" y="1124807"/>
            <a:ext cx="215643" cy="767636"/>
          </a:xfrm>
          <a:prstGeom prst="bentConnector3">
            <a:avLst/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BF36663-137C-A61C-2C48-DAA750271FEB}"/>
              </a:ext>
            </a:extLst>
          </p:cNvPr>
          <p:cNvCxnSpPr>
            <a:cxnSpLocks/>
          </p:cNvCxnSpPr>
          <p:nvPr/>
        </p:nvCxnSpPr>
        <p:spPr>
          <a:xfrm rot="10800000">
            <a:off x="4683621" y="5679288"/>
            <a:ext cx="2791682" cy="352181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E3376F94-381F-BA83-918A-DBFB401D3670}"/>
              </a:ext>
            </a:extLst>
          </p:cNvPr>
          <p:cNvCxnSpPr>
            <a:cxnSpLocks/>
            <a:endCxn id="139" idx="6"/>
          </p:cNvCxnSpPr>
          <p:nvPr/>
        </p:nvCxnSpPr>
        <p:spPr>
          <a:xfrm rot="10800000" flipV="1">
            <a:off x="4695725" y="4815235"/>
            <a:ext cx="2544364" cy="237520"/>
          </a:xfrm>
          <a:prstGeom prst="bentConnector3">
            <a:avLst>
              <a:gd name="adj1" fmla="val 50000"/>
            </a:avLst>
          </a:prstGeom>
          <a:ln w="12700">
            <a:prstDash val="dash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27D596A-35DC-0ABD-032A-86DE943FACC8}"/>
              </a:ext>
            </a:extLst>
          </p:cNvPr>
          <p:cNvSpPr/>
          <p:nvPr/>
        </p:nvSpPr>
        <p:spPr>
          <a:xfrm>
            <a:off x="1356593" y="4800124"/>
            <a:ext cx="188838" cy="205264"/>
          </a:xfrm>
          <a:custGeom>
            <a:avLst/>
            <a:gdLst>
              <a:gd name="connsiteX0" fmla="*/ 0 w 183357"/>
              <a:gd name="connsiteY0" fmla="*/ 0 h 190153"/>
              <a:gd name="connsiteX1" fmla="*/ 183357 w 183357"/>
              <a:gd name="connsiteY1" fmla="*/ 0 h 190153"/>
              <a:gd name="connsiteX2" fmla="*/ 183357 w 183357"/>
              <a:gd name="connsiteY2" fmla="*/ 190153 h 190153"/>
              <a:gd name="connsiteX3" fmla="*/ 0 w 183357"/>
              <a:gd name="connsiteY3" fmla="*/ 190153 h 190153"/>
              <a:gd name="connsiteX4" fmla="*/ 0 w 183357"/>
              <a:gd name="connsiteY4" fmla="*/ 0 h 190153"/>
              <a:gd name="connsiteX0" fmla="*/ 0 w 183357"/>
              <a:gd name="connsiteY0" fmla="*/ 0 h 190153"/>
              <a:gd name="connsiteX1" fmla="*/ 135732 w 183357"/>
              <a:gd name="connsiteY1" fmla="*/ 42863 h 190153"/>
              <a:gd name="connsiteX2" fmla="*/ 183357 w 183357"/>
              <a:gd name="connsiteY2" fmla="*/ 190153 h 190153"/>
              <a:gd name="connsiteX3" fmla="*/ 0 w 183357"/>
              <a:gd name="connsiteY3" fmla="*/ 190153 h 190153"/>
              <a:gd name="connsiteX4" fmla="*/ 0 w 183357"/>
              <a:gd name="connsiteY4" fmla="*/ 0 h 190153"/>
              <a:gd name="connsiteX0" fmla="*/ 0 w 183357"/>
              <a:gd name="connsiteY0" fmla="*/ 0 h 190153"/>
              <a:gd name="connsiteX1" fmla="*/ 150020 w 183357"/>
              <a:gd name="connsiteY1" fmla="*/ 26194 h 190153"/>
              <a:gd name="connsiteX2" fmla="*/ 183357 w 183357"/>
              <a:gd name="connsiteY2" fmla="*/ 190153 h 190153"/>
              <a:gd name="connsiteX3" fmla="*/ 0 w 183357"/>
              <a:gd name="connsiteY3" fmla="*/ 190153 h 190153"/>
              <a:gd name="connsiteX4" fmla="*/ 0 w 183357"/>
              <a:gd name="connsiteY4" fmla="*/ 0 h 19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357" h="190153">
                <a:moveTo>
                  <a:pt x="0" y="0"/>
                </a:moveTo>
                <a:lnTo>
                  <a:pt x="150020" y="26194"/>
                </a:lnTo>
                <a:lnTo>
                  <a:pt x="183357" y="190153"/>
                </a:lnTo>
                <a:lnTo>
                  <a:pt x="0" y="19015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020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3" name="Graphic 132" descr="Internet Of Things outline">
            <a:extLst>
              <a:ext uri="{FF2B5EF4-FFF2-40B4-BE49-F238E27FC236}">
                <a16:creationId xmlns:a16="http://schemas.microsoft.com/office/drawing/2014/main" id="{0F421227-C194-75CA-D511-4B716BAA95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71406" y="4824467"/>
            <a:ext cx="158908" cy="167772"/>
          </a:xfrm>
          <a:prstGeom prst="rect">
            <a:avLst/>
          </a:prstGeom>
        </p:spPr>
      </p:pic>
      <p:cxnSp>
        <p:nvCxnSpPr>
          <p:cNvPr id="39" name="Straight Arrow Connector 34">
            <a:extLst>
              <a:ext uri="{FF2B5EF4-FFF2-40B4-BE49-F238E27FC236}">
                <a16:creationId xmlns:a16="http://schemas.microsoft.com/office/drawing/2014/main" id="{6D694042-C572-706C-46E9-B0ED3AFD81EB}"/>
              </a:ext>
            </a:extLst>
          </p:cNvPr>
          <p:cNvCxnSpPr>
            <a:cxnSpLocks/>
            <a:endCxn id="131" idx="0"/>
          </p:cNvCxnSpPr>
          <p:nvPr/>
        </p:nvCxnSpPr>
        <p:spPr>
          <a:xfrm rot="5400000">
            <a:off x="1057100" y="4133326"/>
            <a:ext cx="1034787" cy="80495"/>
          </a:xfrm>
          <a:prstGeom prst="curvedConnector3">
            <a:avLst>
              <a:gd name="adj1" fmla="val 50000"/>
            </a:avLst>
          </a:prstGeom>
          <a:ln w="127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D6C18A19-B77C-A8E7-4AEF-D4963E0672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5747" y="859376"/>
            <a:ext cx="586147" cy="530861"/>
          </a:xfrm>
          <a:prstGeom prst="rect">
            <a:avLst/>
          </a:prstGeom>
          <a:ln>
            <a:noFill/>
          </a:ln>
        </p:spPr>
      </p:pic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56FE1C6B-4569-530A-09F0-A405C54BA13C}"/>
              </a:ext>
            </a:extLst>
          </p:cNvPr>
          <p:cNvCxnSpPr>
            <a:cxnSpLocks/>
            <a:stCxn id="111" idx="1"/>
            <a:endCxn id="113" idx="2"/>
          </p:cNvCxnSpPr>
          <p:nvPr/>
        </p:nvCxnSpPr>
        <p:spPr>
          <a:xfrm rot="10800000">
            <a:off x="5198822" y="1390237"/>
            <a:ext cx="237863" cy="644196"/>
          </a:xfrm>
          <a:prstGeom prst="bentConnector2">
            <a:avLst/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29C47B17-5F9D-D007-E417-E901D12941AF}"/>
              </a:ext>
            </a:extLst>
          </p:cNvPr>
          <p:cNvSpPr txBox="1"/>
          <p:nvPr/>
        </p:nvSpPr>
        <p:spPr>
          <a:xfrm>
            <a:off x="5421498" y="582703"/>
            <a:ext cx="613150" cy="40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 Review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9053B2-D484-7161-E2CD-7F3E89FDECF0}"/>
              </a:ext>
            </a:extLst>
          </p:cNvPr>
          <p:cNvSpPr/>
          <p:nvPr/>
        </p:nvSpPr>
        <p:spPr>
          <a:xfrm>
            <a:off x="9724360" y="714496"/>
            <a:ext cx="1364669" cy="5804290"/>
          </a:xfrm>
          <a:prstGeom prst="roundRect">
            <a:avLst>
              <a:gd name="adj" fmla="val 19591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Consumables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0EFD8725-C7CB-3BE3-0CE8-92CB5EBF471A}"/>
              </a:ext>
            </a:extLst>
          </p:cNvPr>
          <p:cNvCxnSpPr>
            <a:cxnSpLocks/>
            <a:stCxn id="111" idx="3"/>
          </p:cNvCxnSpPr>
          <p:nvPr/>
        </p:nvCxnSpPr>
        <p:spPr>
          <a:xfrm>
            <a:off x="5669506" y="2034433"/>
            <a:ext cx="1975281" cy="2451450"/>
          </a:xfrm>
          <a:prstGeom prst="bentConnector3">
            <a:avLst>
              <a:gd name="adj1" fmla="val 45875"/>
            </a:avLst>
          </a:prstGeom>
          <a:ln w="12700">
            <a:solidFill>
              <a:schemeClr val="tx2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318">
            <a:extLst>
              <a:ext uri="{FF2B5EF4-FFF2-40B4-BE49-F238E27FC236}">
                <a16:creationId xmlns:a16="http://schemas.microsoft.com/office/drawing/2014/main" id="{9AC1CEDD-AB7F-5112-87AD-43B13310AABB}"/>
              </a:ext>
            </a:extLst>
          </p:cNvPr>
          <p:cNvCxnSpPr>
            <a:cxnSpLocks/>
            <a:stCxn id="129" idx="3"/>
            <a:endCxn id="159" idx="2"/>
          </p:cNvCxnSpPr>
          <p:nvPr/>
        </p:nvCxnSpPr>
        <p:spPr>
          <a:xfrm>
            <a:off x="1823048" y="1226245"/>
            <a:ext cx="948432" cy="594660"/>
          </a:xfrm>
          <a:prstGeom prst="curvedConnector3">
            <a:avLst>
              <a:gd name="adj1" fmla="val 50000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55B8D9B0-275A-0364-2665-5396BE556057}"/>
              </a:ext>
            </a:extLst>
          </p:cNvPr>
          <p:cNvSpPr/>
          <p:nvPr/>
        </p:nvSpPr>
        <p:spPr>
          <a:xfrm>
            <a:off x="2771480" y="1795902"/>
            <a:ext cx="45719" cy="5000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966F1009-7443-CD9C-3C26-4DBE8914A398}"/>
              </a:ext>
            </a:extLst>
          </p:cNvPr>
          <p:cNvSpPr/>
          <p:nvPr/>
        </p:nvSpPr>
        <p:spPr>
          <a:xfrm>
            <a:off x="2771480" y="1932278"/>
            <a:ext cx="45719" cy="5000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EBF765-0666-2948-AAF7-35C8383DE1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5304" y="1583085"/>
            <a:ext cx="1694216" cy="567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342EB8-EA16-6FC3-8D51-7FFCE0CBAC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9135" y="2697597"/>
            <a:ext cx="1829529" cy="138031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36DBF-75F8-222A-CDB1-ED0A7E366C9D}"/>
              </a:ext>
            </a:extLst>
          </p:cNvPr>
          <p:cNvSpPr/>
          <p:nvPr/>
        </p:nvSpPr>
        <p:spPr>
          <a:xfrm>
            <a:off x="9912352" y="2496966"/>
            <a:ext cx="1009522" cy="7081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 &amp; Analytics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451464C-612A-5292-3168-A25DC245BA28}"/>
              </a:ext>
            </a:extLst>
          </p:cNvPr>
          <p:cNvSpPr/>
          <p:nvPr/>
        </p:nvSpPr>
        <p:spPr>
          <a:xfrm>
            <a:off x="10005752" y="2786102"/>
            <a:ext cx="825503" cy="270567"/>
          </a:xfrm>
          <a:prstGeom prst="roundRect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800">
                <a:solidFill>
                  <a:prstClr val="white"/>
                </a:solidFill>
                <a:latin typeface="Calibri" panose="020F0502020204030204"/>
              </a:rPr>
              <a:t>Datamarts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404E3F5-FA88-61BF-623D-1AB256C09EFC}"/>
              </a:ext>
            </a:extLst>
          </p:cNvPr>
          <p:cNvSpPr/>
          <p:nvPr/>
        </p:nvSpPr>
        <p:spPr>
          <a:xfrm>
            <a:off x="9912351" y="5112577"/>
            <a:ext cx="1018238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Transactional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Gateway 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D4374E0-CB98-5B62-D8DE-2636E7927AB8}"/>
              </a:ext>
            </a:extLst>
          </p:cNvPr>
          <p:cNvSpPr/>
          <p:nvPr/>
        </p:nvSpPr>
        <p:spPr>
          <a:xfrm>
            <a:off x="9900698" y="3381588"/>
            <a:ext cx="1021176" cy="689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Curated Data Sets </a:t>
            </a:r>
          </a:p>
        </p:txBody>
      </p:sp>
      <p:sp>
        <p:nvSpPr>
          <p:cNvPr id="74" name="Cylinder 73">
            <a:extLst>
              <a:ext uri="{FF2B5EF4-FFF2-40B4-BE49-F238E27FC236}">
                <a16:creationId xmlns:a16="http://schemas.microsoft.com/office/drawing/2014/main" id="{F75F0F68-A346-3548-0208-A2ADCD3ED23B}"/>
              </a:ext>
            </a:extLst>
          </p:cNvPr>
          <p:cNvSpPr/>
          <p:nvPr/>
        </p:nvSpPr>
        <p:spPr>
          <a:xfrm>
            <a:off x="9991940" y="3675712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84" name="Cylinder 83">
            <a:extLst>
              <a:ext uri="{FF2B5EF4-FFF2-40B4-BE49-F238E27FC236}">
                <a16:creationId xmlns:a16="http://schemas.microsoft.com/office/drawing/2014/main" id="{EEA0C67A-2E7A-F9A0-3A47-454FC9F2DCD9}"/>
              </a:ext>
            </a:extLst>
          </p:cNvPr>
          <p:cNvSpPr/>
          <p:nvPr/>
        </p:nvSpPr>
        <p:spPr>
          <a:xfrm>
            <a:off x="10570753" y="3675712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86" name="Cylinder 85">
            <a:extLst>
              <a:ext uri="{FF2B5EF4-FFF2-40B4-BE49-F238E27FC236}">
                <a16:creationId xmlns:a16="http://schemas.microsoft.com/office/drawing/2014/main" id="{FDA7FF02-B693-F034-4419-EBC14EAE82B6}"/>
              </a:ext>
            </a:extLst>
          </p:cNvPr>
          <p:cNvSpPr/>
          <p:nvPr/>
        </p:nvSpPr>
        <p:spPr>
          <a:xfrm>
            <a:off x="10288171" y="3824179"/>
            <a:ext cx="222476" cy="193168"/>
          </a:xfrm>
          <a:prstGeom prst="can">
            <a:avLst/>
          </a:prstGeom>
          <a:solidFill>
            <a:srgbClr val="00B0F0"/>
          </a:solidFill>
          <a:ln w="63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9BCA911-5766-7E01-86E1-764D6A07BBD6}"/>
              </a:ext>
            </a:extLst>
          </p:cNvPr>
          <p:cNvSpPr/>
          <p:nvPr/>
        </p:nvSpPr>
        <p:spPr>
          <a:xfrm>
            <a:off x="9912352" y="1631474"/>
            <a:ext cx="1018237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Native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A90EBCE-978D-FBB0-2238-BC4E2F917AFD}"/>
              </a:ext>
            </a:extLst>
          </p:cNvPr>
          <p:cNvSpPr/>
          <p:nvPr/>
        </p:nvSpPr>
        <p:spPr>
          <a:xfrm>
            <a:off x="10038612" y="1910703"/>
            <a:ext cx="745350" cy="278216"/>
          </a:xfrm>
          <a:prstGeom prst="roundRect">
            <a:avLst/>
          </a:prstGeom>
          <a:solidFill>
            <a:srgbClr val="00B0F0"/>
          </a:solidFill>
          <a:ln w="6350" cap="flat">
            <a:solidFill>
              <a:schemeClr val="accent5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ODS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DC3B06D-5955-63A6-571F-04713C1329FD}"/>
              </a:ext>
            </a:extLst>
          </p:cNvPr>
          <p:cNvSpPr/>
          <p:nvPr/>
        </p:nvSpPr>
        <p:spPr>
          <a:xfrm>
            <a:off x="9903634" y="4247083"/>
            <a:ext cx="1018239" cy="68905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9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8F961050-3592-C585-4249-32BAE0DD5CEE}"/>
              </a:ext>
            </a:extLst>
          </p:cNvPr>
          <p:cNvSpPr/>
          <p:nvPr/>
        </p:nvSpPr>
        <p:spPr>
          <a:xfrm>
            <a:off x="10040079" y="4572556"/>
            <a:ext cx="745350" cy="285794"/>
          </a:xfrm>
          <a:prstGeom prst="roundRect">
            <a:avLst/>
          </a:prstGeom>
          <a:solidFill>
            <a:srgbClr val="00B0F0"/>
          </a:solidFill>
          <a:ln w="6350" cap="flat">
            <a:solidFill>
              <a:schemeClr val="accent5"/>
            </a:solidFill>
            <a:prstDash val="solid"/>
            <a:miter/>
          </a:ln>
        </p:spPr>
        <p:txBody>
          <a:bodyPr lIns="0" tIns="45720" rIns="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RAG/Vector DB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BA276CEB-BA11-A463-C634-DF59723FE3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62677" y="4153676"/>
            <a:ext cx="1897084" cy="21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82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B0AAE-C810-F1A9-E36B-F7205FDA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B3321B-7FD1-CA9F-6BE3-D2E4CF81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" y="147522"/>
            <a:ext cx="9761220" cy="461765"/>
          </a:xfrm>
        </p:spPr>
        <p:txBody>
          <a:bodyPr>
            <a:normAutofit fontScale="90000"/>
          </a:bodyPr>
          <a:lstStyle/>
          <a:p>
            <a:r>
              <a:rPr lang="en-US"/>
              <a:t>How Do We Do This in a Modern Data Architecture?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24D6BE-8CA4-50EA-36FE-DD5E0A01CF49}"/>
              </a:ext>
            </a:extLst>
          </p:cNvPr>
          <p:cNvSpPr txBox="1"/>
          <p:nvPr/>
        </p:nvSpPr>
        <p:spPr>
          <a:xfrm>
            <a:off x="2841679" y="6571978"/>
            <a:ext cx="5912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Product thinking transforms data consumption from an activity into an enterprise capability.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23AC36-1437-ABB0-54B1-E4F2BEFF9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243024"/>
              </p:ext>
            </p:extLst>
          </p:nvPr>
        </p:nvGraphicFramePr>
        <p:xfrm>
          <a:off x="4535868" y="3201626"/>
          <a:ext cx="6701852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0926">
                  <a:extLst>
                    <a:ext uri="{9D8B030D-6E8A-4147-A177-3AD203B41FA5}">
                      <a16:colId xmlns:a16="http://schemas.microsoft.com/office/drawing/2014/main" val="1518340921"/>
                    </a:ext>
                  </a:extLst>
                </a:gridCol>
                <a:gridCol w="3350926">
                  <a:extLst>
                    <a:ext uri="{9D8B030D-6E8A-4147-A177-3AD203B41FA5}">
                      <a16:colId xmlns:a16="http://schemas.microsoft.com/office/drawing/2014/main" val="394296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Why the Business Thinks in Products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What the Architecture Must Deliver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662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Defined purpose and 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Authoritative CDM-aligned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24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Clear ownership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Named Data Product owner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5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Stable 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Versioned schema &amp; contract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68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Quality expectations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Embedded DQ &amp; SLA enforcement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57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Predictable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Governed orchestration &amp;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27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Controlled evolution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Schema stability with versioning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68185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AFC857-3132-E610-F5DC-21418711B869}"/>
              </a:ext>
            </a:extLst>
          </p:cNvPr>
          <p:cNvSpPr txBox="1"/>
          <p:nvPr/>
        </p:nvSpPr>
        <p:spPr>
          <a:xfrm>
            <a:off x="90152" y="845993"/>
            <a:ext cx="1057927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/>
              <a:t>Modern enterprises do not scale by moving data faster.  They scale by standardizing how data is delivered and consumed.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endParaRPr lang="en-US" sz="1200"/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/>
              <a:t>The shift is simple: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Stop delivering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/>
              <a:t>Start delivering Data Products.</a:t>
            </a:r>
          </a:p>
          <a:p>
            <a:pPr>
              <a:buNone/>
            </a:pPr>
            <a:endParaRPr lang="en-US" sz="500"/>
          </a:p>
          <a:p>
            <a:pPr>
              <a:buNone/>
            </a:pPr>
            <a:endParaRPr lang="en-US" sz="1200"/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/>
              <a:t>A Data Product is not a file, extract, or pipeline — It is a governed, versioned, accountable interface to trusted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4A9F6-7D65-1EA7-AEAE-4B18C8140AB6}"/>
              </a:ext>
            </a:extLst>
          </p:cNvPr>
          <p:cNvSpPr txBox="1"/>
          <p:nvPr/>
        </p:nvSpPr>
        <p:spPr>
          <a:xfrm>
            <a:off x="90154" y="3105930"/>
            <a:ext cx="375545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chemeClr val="tx2"/>
                </a:solidFill>
              </a:rPr>
              <a:t>Architectural Interpretation </a:t>
            </a:r>
          </a:p>
          <a:p>
            <a:pPr>
              <a:buNone/>
            </a:pPr>
            <a:r>
              <a:rPr lang="en-US" sz="1400"/>
              <a:t>Treating data as a product requires: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Config-driven composition instead of custom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Reusable transformation and governance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Engine-agnostic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Embedded lineage, observability, and policy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Event-driven extensibility</a:t>
            </a:r>
          </a:p>
          <a:p>
            <a:pPr>
              <a:buNone/>
            </a:pPr>
            <a:r>
              <a:rPr lang="en-US" sz="1400"/>
              <a:t>This moves us:</a:t>
            </a:r>
          </a:p>
          <a:p>
            <a:pPr lvl="1"/>
            <a:r>
              <a:rPr lang="en-US" sz="1200"/>
              <a:t>From → Ad-hoc consumption</a:t>
            </a:r>
            <a:br>
              <a:rPr lang="en-US" sz="1200"/>
            </a:br>
            <a:r>
              <a:rPr lang="en-US" sz="1200"/>
              <a:t>To → Standardized, governed product delivery</a:t>
            </a:r>
          </a:p>
        </p:txBody>
      </p:sp>
    </p:spTree>
    <p:extLst>
      <p:ext uri="{BB962C8B-B14F-4D97-AF65-F5344CB8AC3E}">
        <p14:creationId xmlns:p14="http://schemas.microsoft.com/office/powerpoint/2010/main" val="26961867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Navitus 2023">
      <a:dk1>
        <a:srgbClr val="5F6062"/>
      </a:dk1>
      <a:lt1>
        <a:srgbClr val="FFFFFF"/>
      </a:lt1>
      <a:dk2>
        <a:srgbClr val="3B6E8F"/>
      </a:dk2>
      <a:lt2>
        <a:srgbClr val="FFFFFF"/>
      </a:lt2>
      <a:accent1>
        <a:srgbClr val="E36F1E"/>
      </a:accent1>
      <a:accent2>
        <a:srgbClr val="3B6E8F"/>
      </a:accent2>
      <a:accent3>
        <a:srgbClr val="FBB040"/>
      </a:accent3>
      <a:accent4>
        <a:srgbClr val="3590BD"/>
      </a:accent4>
      <a:accent5>
        <a:srgbClr val="0B3B60"/>
      </a:accent5>
      <a:accent6>
        <a:srgbClr val="F2F2F2"/>
      </a:accent6>
      <a:hlink>
        <a:srgbClr val="E36F1E"/>
      </a:hlink>
      <a:folHlink>
        <a:srgbClr val="3B6E8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56387F949D58409892AC29B927B729" ma:contentTypeVersion="15" ma:contentTypeDescription="Create a new document." ma:contentTypeScope="" ma:versionID="7fa1fe6d03fdcbabb07e8b1760548f69">
  <xsd:schema xmlns:xsd="http://www.w3.org/2001/XMLSchema" xmlns:xs="http://www.w3.org/2001/XMLSchema" xmlns:p="http://schemas.microsoft.com/office/2006/metadata/properties" xmlns:ns2="1e9b4178-f03f-4fdb-a214-c44d3de67e21" xmlns:ns3="a6271fb0-75d9-4e2b-81ab-8a97cd59c487" targetNamespace="http://schemas.microsoft.com/office/2006/metadata/properties" ma:root="true" ma:fieldsID="913a27080bb0885e13cbc5c6c74a7ad8" ns2:_="" ns3:_="">
    <xsd:import namespace="1e9b4178-f03f-4fdb-a214-c44d3de67e21"/>
    <xsd:import namespace="a6271fb0-75d9-4e2b-81ab-8a97cd59c4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Watch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b4178-f03f-4fdb-a214-c44d3de67e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6ba3718-5506-416b-8e31-497ebdc09e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Watched" ma:index="22" nillable="true" ma:displayName="Watched" ma:default="0" ma:format="Dropdown" ma:internalName="Watche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71fb0-75d9-4e2b-81ab-8a97cd59c48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d73ad6-57e1-4a77-b97e-36add493e0f5}" ma:internalName="TaxCatchAll" ma:showField="CatchAllData" ma:web="a6271fb0-75d9-4e2b-81ab-8a97cd59c4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atched xmlns="1e9b4178-f03f-4fdb-a214-c44d3de67e21">false</Watched>
    <lcf76f155ced4ddcb4097134ff3c332f xmlns="1e9b4178-f03f-4fdb-a214-c44d3de67e21">
      <Terms xmlns="http://schemas.microsoft.com/office/infopath/2007/PartnerControls"/>
    </lcf76f155ced4ddcb4097134ff3c332f>
    <TaxCatchAll xmlns="a6271fb0-75d9-4e2b-81ab-8a97cd59c487" xsi:nil="true"/>
  </documentManagement>
</p:properties>
</file>

<file path=customXml/itemProps1.xml><?xml version="1.0" encoding="utf-8"?>
<ds:datastoreItem xmlns:ds="http://schemas.openxmlformats.org/officeDocument/2006/customXml" ds:itemID="{A9AEEE4C-5004-4948-B478-AD4835F34C2D}">
  <ds:schemaRefs>
    <ds:schemaRef ds:uri="1e9b4178-f03f-4fdb-a214-c44d3de67e21"/>
    <ds:schemaRef ds:uri="a6271fb0-75d9-4e2b-81ab-8a97cd59c4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99EAD-BDD2-42E0-9FE7-A4EBA2FA0F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4CD3BE-90FE-426C-8CD8-C4D96F54E554}">
  <ds:schemaRefs>
    <ds:schemaRef ds:uri="1e9b4178-f03f-4fdb-a214-c44d3de67e21"/>
    <ds:schemaRef ds:uri="a6271fb0-75d9-4e2b-81ab-8a97cd59c48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bdf33a9-c54e-4e05-811a-b38ce5879c7c}" enabled="1" method="Standard" siteId="{00dbd1fb-c5ea-4664-b048-6e809757474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1_Office Theme</vt:lpstr>
      <vt:lpstr>DLH Consumption Architecture</vt:lpstr>
      <vt:lpstr>Overview</vt:lpstr>
      <vt:lpstr>Why a Consumption Architecture</vt:lpstr>
      <vt:lpstr>What is a Consumption Architecture</vt:lpstr>
      <vt:lpstr>How to Implement a Consumption Architecture</vt:lpstr>
      <vt:lpstr>Target-State Lakehouse Consumption Architecture: </vt:lpstr>
      <vt:lpstr>AI Components</vt:lpstr>
      <vt:lpstr>DLH Platform – AI Augmentation</vt:lpstr>
      <vt:lpstr>AI Integration</vt:lpstr>
      <vt:lpstr>Technical Architecture</vt:lpstr>
      <vt:lpstr>DLH Platform Logical Architecture Overview</vt:lpstr>
      <vt:lpstr>The Technology That Makes It Works</vt:lpstr>
      <vt:lpstr>AI Ready, Lakehouse Conceptual Architecture Benefits and Features</vt:lpstr>
      <vt:lpstr>Lakehouse Function Execution Model</vt:lpstr>
      <vt:lpstr>Organizational Support</vt:lpstr>
      <vt:lpstr>How to Organizationally Support – What We Do</vt:lpstr>
      <vt:lpstr>How to Organizationally Support – Who We Are</vt:lpstr>
      <vt:lpstr>Lakehouse Consumption Architecture Summary</vt:lpstr>
      <vt:lpstr>Appendix 1 Data Products</vt:lpstr>
      <vt:lpstr>Data Products Technical</vt:lpstr>
      <vt:lpstr>Data Products: Core vs Use Case specific </vt:lpstr>
      <vt:lpstr>Data Products: Core vs Use Case specific </vt:lpstr>
      <vt:lpstr>Appendix 2  DLH Platform – Architectural Influences</vt:lpstr>
      <vt:lpstr>Why a Consumption Architecture</vt:lpstr>
      <vt:lpstr>From Ingestion-Driven to Outcome-Driven Architecture Right-to-Left Thinking: Designing from the Product Back</vt:lpstr>
      <vt:lpstr>Target-State Lakehouse Consumption Architecture:  CDM + Pattern Modules  Data Products  Consumables </vt:lpstr>
      <vt:lpstr>Appendix 3  DLH Platform – Technical Architecture Overview</vt:lpstr>
      <vt:lpstr>Data Lakehouse “Big Block” Diagram</vt:lpstr>
      <vt:lpstr>AI Ready, Lakehouse Conceptual Architecture Benefits and Features</vt:lpstr>
      <vt:lpstr>AI Ready, Lakehouse Conceptual Architecture  Ingress to CDM and Egress from CDM</vt:lpstr>
      <vt:lpstr>Lakehouse Functional Execution Model</vt:lpstr>
      <vt:lpstr>Appendix 4  DLH Platform – Data Product Definition </vt:lpstr>
      <vt:lpstr>Data Product Definition: Configured, Not Coded  SME-Driven. Governed by Design. Platform-Generated.</vt:lpstr>
      <vt:lpstr>Appendix 5 DLH Platform – Event Bus</vt:lpstr>
      <vt:lpstr>The Event Bus as the Platform Backbone  From Execution Engine to Intelligent Platform</vt:lpstr>
      <vt:lpstr>Appendix 6 DLH Platform – Execution</vt:lpstr>
      <vt:lpstr>Lakehouse Conceptual Architecture Overview Architectural Benefits</vt:lpstr>
      <vt:lpstr>Lakehouse Execution Model From Request to Data Product</vt:lpstr>
      <vt:lpstr>Engine-Agnostic Execution: One Pattern, Any Runtime</vt:lpstr>
      <vt:lpstr>Engine-Agnostic Execution:  Service + Transformer Pattern</vt:lpstr>
      <vt:lpstr>Lakehouse Conceptual Architecture Overview Detailed Consumption Flow</vt:lpstr>
      <vt:lpstr>PowerPoint Presentation</vt:lpstr>
      <vt:lpstr>How Do We Do This in a Modern Data Architecture?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 J. D'Onofrio</dc:creator>
  <cp:revision>2</cp:revision>
  <dcterms:created xsi:type="dcterms:W3CDTF">2025-10-28T22:47:00Z</dcterms:created>
  <dcterms:modified xsi:type="dcterms:W3CDTF">2026-02-26T16:44:02Z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0x0101007756387F949D58409892AC29B927B729</vt:lpwstr>
  </property>
  <property fmtid="{D5CDD505-2E9C-101B-9397-08002B2CF9AE}" pid="3" name="MediaServiceImageTags">
    <vt:lpwstr/>
  </property>
</Properties>
</file>